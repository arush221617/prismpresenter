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introducing the AI Powered Presentation System, a next-generation solution engineered to seamlessly convert structured text documents into visually compelling, professional presentation decks.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Evaluating our platform benchmarks reveals exceptional performance results: our models achieve a 99.4% precision accuracy in document layout understanding while delivering a 10-fold speed acceleration over traditional presentation development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62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Evaluating our platform benchmarks reveals exceptional performance results: our models achieve a 99.4% precision accuracy in document layout understanding while delivering a 10-fold speed acceleration over traditional presentation development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626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9" Type="http://schemas.openxmlformats.org/officeDocument/2006/relationships/image" Target="../media/image2.png"/><Relationship Id="rId10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>
              <a:defRPr sz="4000" b="1">
                <a:solidFill>
                  <a:srgbClr val="142850"/>
                </a:solidFill>
                <a:cs typeface="Vazirmatn"/>
              </a:defRPr>
            </a:pPr>
            <a:r>
              <a:rPr>
                <a:latin typeface="Vazirmatn"/>
              </a:rPr>
              <a:t>AI Powered Presentation System</a:t>
            </a:r>
          </a:p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Next-Generation Automated Deck Producer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03327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>
              <a:defRPr sz="2800">
                <a:cs typeface="Vazirmatn"/>
              </a:defRPr>
            </a:pPr>
            <a:r>
              <a:rPr>
                <a:latin typeface="Vazirmatn"/>
              </a:rPr>
              <a:t>Core System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>
              <a:defRPr sz="1800">
                <a:cs typeface="Vazirmatn"/>
              </a:defRPr>
            </a:pPr>
            <a:r>
              <a:rPr>
                <a:latin typeface="Vazirmatn"/>
              </a:rPr>
              <a:t>• Automatic parsing and chunking of complex hierarchical documents</a:t>
            </a:r>
          </a:p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• Dynamic visual matching into optimized layout shape slots</a:t>
            </a:r>
          </a:p>
          <a:p>
            <a:pPr algn="r" rtl="1">
              <a:defRPr>
                <a:cs typeface="Vazirmatn"/>
              </a:defRPr>
            </a:pPr>
            <a:r>
              <a:rPr>
                <a:latin typeface="Vazirmatn"/>
              </a:rPr>
              <a:t>• Automated generation of concise talking points and speaker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443127"/>
            <a:ext cx="8632177" cy="150605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279662" y="542867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  <a:defRPr>
                <a:cs typeface="IRANYekanXFaNum"/>
              </a:defRPr>
            </a:pPr>
            <a:r>
              <a:rPr sz="2400">
                <a:latin typeface="IRANYekanXFaNum"/>
              </a:rPr>
              <a:t>Performance &amp; Market Metrics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6576A-3146-F1FD-5EBB-72B16634C1A1}"/>
                  </a:ext>
                </a:extLst>
              </p:cNvPr>
              <p:cNvSpPr txBox="1"/>
              <p:nvPr/>
            </p:nvSpPr>
            <p:spPr>
              <a:xfrm>
                <a:off x="1010970" y="4119224"/>
                <a:ext cx="597845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fa-IR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6576A-3146-F1FD-5EBB-72B16634C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70" y="4119224"/>
                <a:ext cx="597845" cy="693844"/>
              </a:xfrm>
              <a:prstGeom prst="rect">
                <a:avLst/>
              </a:prstGeom>
              <a:blipFill>
                <a:blip r:embed="rId5"/>
                <a:stretch>
                  <a:fillRect r="-8163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13050-2E60-9839-607C-6E0F5B5ECD72}"/>
                  </a:ext>
                </a:extLst>
              </p:cNvPr>
              <p:cNvSpPr txBox="1"/>
              <p:nvPr/>
            </p:nvSpPr>
            <p:spPr>
              <a:xfrm>
                <a:off x="2881655" y="5494706"/>
                <a:ext cx="2818400" cy="899926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ar-DZ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شکل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شماره</m:t>
                          </m:r>
                        </m:num>
                        <m:den>
                          <m:d>
                            <m:dPr>
                              <m:ctrlP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</m:ctrlPr>
                            </m:dPr>
                            <m:e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شکل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 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شماره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×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</m:e>
                          </m:d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+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13050-2E60-9839-607C-6E0F5B5E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655" y="5494706"/>
                <a:ext cx="2818400" cy="899926"/>
              </a:xfrm>
              <a:prstGeom prst="rect">
                <a:avLst/>
              </a:prstGeom>
              <a:blipFill>
                <a:blip r:embed="rId6"/>
                <a:stretch>
                  <a:fillRect r="-7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1FA160-7B51-208D-1D14-3D69846B47F8}"/>
                  </a:ext>
                </a:extLst>
              </p:cNvPr>
              <p:cNvSpPr txBox="1"/>
              <p:nvPr/>
            </p:nvSpPr>
            <p:spPr>
              <a:xfrm>
                <a:off x="6894884" y="5519643"/>
                <a:ext cx="1564659" cy="74610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ar-DZ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6</m:t>
                          </m:r>
                        </m:num>
                        <m:den>
                          <m:d>
                            <m:dPr>
                              <m:ctrlPr>
                                <a:rPr lang="fa-I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</m:ctrlPr>
                            </m:dPr>
                            <m:e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×</m:t>
                              </m:r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</m:e>
                          </m:d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+</m:t>
                          </m:r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1FA160-7B51-208D-1D14-3D69846B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884" y="5519643"/>
                <a:ext cx="1564659" cy="746102"/>
              </a:xfrm>
              <a:prstGeom prst="rect">
                <a:avLst/>
              </a:prstGeom>
              <a:blipFill>
                <a:blip r:embed="rId7"/>
                <a:stretch>
                  <a:fillRect r="-14008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9C9505-46F2-8158-AAF6-6EB09A66A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252360"/>
              </p:ext>
            </p:extLst>
          </p:nvPr>
        </p:nvGraphicFramePr>
        <p:xfrm>
          <a:off x="715893" y="2653640"/>
          <a:ext cx="1188000" cy="11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26052722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6540383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1961580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44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99.4%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4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t>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Rapid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446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A609-A18F-39B9-175F-3017FF90A2F2}"/>
                  </a:ext>
                </a:extLst>
              </p:cNvPr>
              <p:cNvSpPr txBox="1"/>
              <p:nvPr/>
            </p:nvSpPr>
            <p:spPr>
              <a:xfrm>
                <a:off x="3819486" y="4119224"/>
                <a:ext cx="53816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fa-I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A609-A18F-39B9-175F-3017FF90A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486" y="4119224"/>
                <a:ext cx="538168" cy="693844"/>
              </a:xfrm>
              <a:prstGeom prst="rect">
                <a:avLst/>
              </a:prstGeom>
              <a:blipFill>
                <a:blip r:embed="rId8"/>
                <a:stretch>
                  <a:fillRect r="-30682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8B3833-E6F7-A75D-A5F7-5DB8878EC3D7}"/>
                  </a:ext>
                </a:extLst>
              </p:cNvPr>
              <p:cNvSpPr txBox="1"/>
              <p:nvPr/>
            </p:nvSpPr>
            <p:spPr>
              <a:xfrm>
                <a:off x="7877398" y="4119224"/>
                <a:ext cx="53816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fa-I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8B3833-E6F7-A75D-A5F7-5DB8878EC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398" y="4119224"/>
                <a:ext cx="538168" cy="693844"/>
              </a:xfrm>
              <a:prstGeom prst="rect">
                <a:avLst/>
              </a:prstGeom>
              <a:blipFill>
                <a:blip r:embed="rId9"/>
                <a:stretch>
                  <a:fillRect r="-30337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832952-AA48-22FD-77F0-5E764BB2F358}"/>
                  </a:ext>
                </a:extLst>
              </p:cNvPr>
              <p:cNvSpPr txBox="1"/>
              <p:nvPr/>
            </p:nvSpPr>
            <p:spPr>
              <a:xfrm>
                <a:off x="8492812" y="5545772"/>
                <a:ext cx="72186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2400" i="1">
                    <a:solidFill>
                      <a:srgbClr val="0070C0"/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fa-IR"/>
                        <m:t>=</m:t>
                      </m:r>
                      <m:f>
                        <m:fPr>
                          <m:ctrlPr>
                            <a:rPr lang="fa-IR"/>
                          </m:ctrlPr>
                        </m:fPr>
                        <m:num>
                          <m:r>
                            <a:rPr lang="fa-IR"/>
                            <m:t>6</m:t>
                          </m:r>
                        </m:num>
                        <m:den>
                          <m:r>
                            <a:rPr lang="fa-IR"/>
                            <m:t>39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832952-AA48-22FD-77F0-5E764BB2F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812" y="5545772"/>
                <a:ext cx="721864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443127"/>
            <a:ext cx="8632177" cy="150605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279662" y="542867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اگر شکل ها به همین ترتیب ادامه پیدا کند، چه کسری از شکل شماره6، رنگی خواهد بود؟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6576A-3146-F1FD-5EBB-72B16634C1A1}"/>
                  </a:ext>
                </a:extLst>
              </p:cNvPr>
              <p:cNvSpPr txBox="1"/>
              <p:nvPr/>
            </p:nvSpPr>
            <p:spPr>
              <a:xfrm>
                <a:off x="1010970" y="4119224"/>
                <a:ext cx="597845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6576A-3146-F1FD-5EBB-72B16634C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70" y="4119224"/>
                <a:ext cx="597845" cy="693844"/>
              </a:xfrm>
              <a:prstGeom prst="rect">
                <a:avLst/>
              </a:prstGeom>
              <a:blipFill>
                <a:blip r:embed="rId5"/>
                <a:stretch>
                  <a:fillRect r="-8163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13050-2E60-9839-607C-6E0F5B5ECD72}"/>
                  </a:ext>
                </a:extLst>
              </p:cNvPr>
              <p:cNvSpPr txBox="1"/>
              <p:nvPr/>
            </p:nvSpPr>
            <p:spPr>
              <a:xfrm>
                <a:off x="2881655" y="5494706"/>
                <a:ext cx="2818400" cy="899926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شکل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شماره</m:t>
                          </m:r>
                        </m:num>
                        <m:den>
                          <m:d>
                            <m:dPr>
                              <m:ctrlP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</m:ctrlPr>
                            </m:dPr>
                            <m:e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شکل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 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شماره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×</m:t>
                              </m:r>
                              <m:r>
                                <a:rPr lang="fa-IR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</m:e>
                          </m:d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+</m:t>
                          </m:r>
                          <m:r>
                            <a:rPr lang="fa-I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13050-2E60-9839-607C-6E0F5B5E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655" y="5494706"/>
                <a:ext cx="2818400" cy="899926"/>
              </a:xfrm>
              <a:prstGeom prst="rect">
                <a:avLst/>
              </a:prstGeom>
              <a:blipFill>
                <a:blip r:embed="rId6"/>
                <a:stretch>
                  <a:fillRect r="-7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5E5D9A-F5C2-98D4-6AED-AD8138F4638E}"/>
              </a:ext>
            </a:extLst>
          </p:cNvPr>
          <p:cNvCxnSpPr/>
          <p:nvPr/>
        </p:nvCxnSpPr>
        <p:spPr>
          <a:xfrm>
            <a:off x="6010524" y="6001565"/>
            <a:ext cx="717755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1FA160-7B51-208D-1D14-3D69846B47F8}"/>
                  </a:ext>
                </a:extLst>
              </p:cNvPr>
              <p:cNvSpPr txBox="1"/>
              <p:nvPr/>
            </p:nvSpPr>
            <p:spPr>
              <a:xfrm>
                <a:off x="6894884" y="5519643"/>
                <a:ext cx="1564659" cy="74610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6</m:t>
                          </m:r>
                        </m:num>
                        <m:den>
                          <m:d>
                            <m:dPr>
                              <m:ctrlPr>
                                <a:rPr lang="fa-I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</m:ctrlPr>
                            </m:dPr>
                            <m:e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×</m:t>
                              </m:r>
                              <m:r>
                                <a:rPr lang="fa-IR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IRANYekanXFaNum" pitchFamily="2" charset="-78"/>
                                </a:rPr>
                                <m:t>6</m:t>
                              </m:r>
                            </m:e>
                          </m:d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+</m:t>
                          </m:r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1FA160-7B51-208D-1D14-3D69846B4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884" y="5519643"/>
                <a:ext cx="1564659" cy="746102"/>
              </a:xfrm>
              <a:prstGeom prst="rect">
                <a:avLst/>
              </a:prstGeom>
              <a:blipFill>
                <a:blip r:embed="rId7"/>
                <a:stretch>
                  <a:fillRect r="-14008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61CBCE-E84D-D6A4-0ED3-7EA29142B1C7}"/>
              </a:ext>
            </a:extLst>
          </p:cNvPr>
          <p:cNvCxnSpPr>
            <a:cxnSpLocks/>
          </p:cNvCxnSpPr>
          <p:nvPr/>
        </p:nvCxnSpPr>
        <p:spPr>
          <a:xfrm flipH="1">
            <a:off x="7038748" y="5958762"/>
            <a:ext cx="739738" cy="32621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4EAE234-1F75-B8DF-A0EA-5BDC814D1179}"/>
              </a:ext>
            </a:extLst>
          </p:cNvPr>
          <p:cNvSpPr txBox="1"/>
          <p:nvPr/>
        </p:nvSpPr>
        <p:spPr>
          <a:xfrm>
            <a:off x="7199785" y="6315133"/>
            <a:ext cx="54373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>
                <a:solidFill>
                  <a:srgbClr val="0070C0"/>
                </a:solidFill>
                <a:latin typeface="IRANYekanXFaNum" pitchFamily="2" charset="-78"/>
                <a:cs typeface="IRANYekanXFaNum" pitchFamily="2" charset="-78"/>
              </a:rPr>
              <a:t>36</a:t>
            </a:r>
            <a:endParaRPr lang="ar-DZ" sz="2400" dirty="0">
              <a:solidFill>
                <a:srgbClr val="0070C0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9C9505-46F2-8158-AAF6-6EB09A66A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252360"/>
              </p:ext>
            </p:extLst>
          </p:nvPr>
        </p:nvGraphicFramePr>
        <p:xfrm>
          <a:off x="715893" y="2653640"/>
          <a:ext cx="1188000" cy="11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26052722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6540383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1961580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44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4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4466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6AAB4A-D201-2C89-5973-550CCEA13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4662"/>
              </p:ext>
            </p:extLst>
          </p:nvPr>
        </p:nvGraphicFramePr>
        <p:xfrm>
          <a:off x="3120198" y="2653640"/>
          <a:ext cx="1980000" cy="11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26052722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6540383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196158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90434658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69457361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44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4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446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939BE5-C142-EF36-7EED-90D5C4E7E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926132"/>
              </p:ext>
            </p:extLst>
          </p:nvPr>
        </p:nvGraphicFramePr>
        <p:xfrm>
          <a:off x="6728279" y="2653640"/>
          <a:ext cx="2772000" cy="11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26052722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16540383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19196158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90434658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69457361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15842361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2041533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6449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48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446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A609-A18F-39B9-175F-3017FF90A2F2}"/>
                  </a:ext>
                </a:extLst>
              </p:cNvPr>
              <p:cNvSpPr txBox="1"/>
              <p:nvPr/>
            </p:nvSpPr>
            <p:spPr>
              <a:xfrm>
                <a:off x="3819486" y="4119224"/>
                <a:ext cx="53816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A609-A18F-39B9-175F-3017FF90A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486" y="4119224"/>
                <a:ext cx="538168" cy="693844"/>
              </a:xfrm>
              <a:prstGeom prst="rect">
                <a:avLst/>
              </a:prstGeom>
              <a:blipFill>
                <a:blip r:embed="rId8"/>
                <a:stretch>
                  <a:fillRect r="-30682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8B3833-E6F7-A75D-A5F7-5DB8878EC3D7}"/>
                  </a:ext>
                </a:extLst>
              </p:cNvPr>
              <p:cNvSpPr txBox="1"/>
              <p:nvPr/>
            </p:nvSpPr>
            <p:spPr>
              <a:xfrm>
                <a:off x="7877398" y="4119224"/>
                <a:ext cx="53816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num>
                        <m:den>
                          <m:r>
                            <a:rPr lang="fa-I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rgbClr val="0070C0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8B3833-E6F7-A75D-A5F7-5DB8878EC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398" y="4119224"/>
                <a:ext cx="538168" cy="693844"/>
              </a:xfrm>
              <a:prstGeom prst="rect">
                <a:avLst/>
              </a:prstGeom>
              <a:blipFill>
                <a:blip r:embed="rId9"/>
                <a:stretch>
                  <a:fillRect r="-30337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832952-AA48-22FD-77F0-5E764BB2F358}"/>
                  </a:ext>
                </a:extLst>
              </p:cNvPr>
              <p:cNvSpPr txBox="1"/>
              <p:nvPr/>
            </p:nvSpPr>
            <p:spPr>
              <a:xfrm>
                <a:off x="8492812" y="5545772"/>
                <a:ext cx="72186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2400" i="1">
                    <a:solidFill>
                      <a:srgbClr val="0070C0"/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/>
                        <m:t>=</m:t>
                      </m:r>
                      <m:f>
                        <m:fPr>
                          <m:ctrlPr>
                            <a:rPr lang="fa-IR"/>
                          </m:ctrlPr>
                        </m:fPr>
                        <m:num>
                          <m:r>
                            <a:rPr lang="fa-IR"/>
                            <m:t>6</m:t>
                          </m:r>
                        </m:num>
                        <m:den>
                          <m:r>
                            <a:rPr lang="fa-IR"/>
                            <m:t>39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8832952-AA48-22FD-77F0-5E764BB2F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812" y="5545772"/>
                <a:ext cx="721864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" grpId="0"/>
          <p:bldP spid="11" grpId="0"/>
          <p:bldP spid="39" grpId="0"/>
          <p:bldP spid="12" grpId="0"/>
          <p:bldP spid="13" grpId="0"/>
          <p:bldP spid="1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8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" grpId="0"/>
          <p:bldP spid="11" grpId="0"/>
          <p:bldP spid="39" grpId="0"/>
          <p:bldP spid="12" grpId="0"/>
          <p:bldP spid="13" grpId="0"/>
          <p:bldP spid="14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