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مجموعه دسته‌ای از اشیا یا اعداد مشخص و متمایز با ویژگی مشترک است که درون آکولاد قرار می‌گیرند. اگر عضوی درون مجموعه باشد از نماد ∈ و اگر نباشد از ∉ استفاده می‌کنیم. زیرمجموعه به این معناست که تمامی اعضای مجموعه کوچکتر، بدون استثنا درون مجموعه بزرگتر حضور داشته باشند (B ⊆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8286"/>
      </p:ext>
    </p:extLst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مجموعه دسته‌ای از اشیا یا اعداد مشخص و متمایز با ویژگی مشترک است که درون آکولاد قرار می‌گیرند. اگر عضوی درون مجموعه باشد از نماد ∈ و اگر نباشد از ∉ استفاده می‌کنیم. زیرمجموعه به این معناست که تمامی اعضای مجموعه کوچکتر، بدون استثنا درون مجموعه بزرگتر حضور داشته باشند (B ⊆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8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مجموعه‌های متناهی دارای تعداد اعضای محدود و قابل شمارش هستند؛ مانند اعداد طبیعی کوچکتر از ۱۰. مجموعه‌های نامتناهی پایانی ندارند. در اعمال مجموعه‌ها، اجتماع (∪) به معنای گردآوری تمام اعضای هر دو مجموعه و اشتراک (∩) فقط شامل اعضای مشترک میان دو مجموعه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4C4-D228-33F5-D096-A8849B3B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CC073-D213-61BC-AC4A-6457C215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D3DE7-429F-D12B-887B-D87812020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نقشه راه این آموزش شامل چهار سرفصل کلیدی است: ابتدا با تعریف مجموعه، نمادهای عضویت و زیرمجموعه آشنا می‌شویم؛ سپس دسته‌بندی مجموعه‌های متناهی و نامتناهی را بررسی می‌کنیم؛ در ادامه اعمال اجتماع و اشتراک و مجموعه‌های عددی مهم را مرور کرده و در پایان تمرین‌های تشریحی و راهکارهای موفقیت در ریاضی هفتم را ارائه خواهیم کرد.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4F5C-8CF3-2552-37CC-F24D005FA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2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ریاضی پایه هفتم با سه مجموعه عددی کلیدی سر و کار داریم: اعداد طبیعی (N) که از یک شروع شده و برای شمارش استفاده می‌شوند؛ اعداد صحیح (Z) که شامل اعداد منفی، صفر و اعداد مثبت هستند؛ و اعداد گویا (Q) که شامل کلیه اعدادی هستند که به شکل کسر a/b با صورت صحیح و مخرج طبیعی قابل نگارشند.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این اسلاید نمونه تمرین‌های کاربردی فصل اول را مرور می‌کنیم: در تمرین اول اشتراک و اجتماع دو مجموعه A و B محاسبه شده است؛ در تمرین دوم زیرمجموعه بودن بررسی و اثبات شده و در تمرین سوم نوع مجموعه بر اساس ویژگی اعداد صحیح (Z) تعیین گردیده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برای یادگیری عمیق ریاضی هفتم، تمرین و مطالعه مداوم روزانه، حل مسائل متنوع فراتر از کتاب درسی و بهره‌گیری از ویدیوهای کمک‌آموزشی بسیار حائز اهمیت است. موسسه آموزشی جهت ارائه‌دهنده منابع آموزشی، کتاب‌های کمک‌درسی و ویدیوهای رایگان برای تسلط کامل شما دانش‌آموزان عزیز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>
              <a:defRPr>
                <a:cs typeface="IRANYekanXFaNum Heavy"/>
              </a:defRPr>
            </a:pPr>
            <a:r>
              <a:rPr sz="6000">
                <a:solidFill>
                  <a:srgbClr val="99FFCC"/>
                </a:solidFill>
                <a:latin typeface="IRANYekanXFaNum Heavy"/>
              </a:rPr>
              <a:t>فصل اول ریاضی هفتم: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defRPr>
                <a:cs typeface="IRANYekanXFaNum Heavy"/>
              </a:defRPr>
            </a:pPr>
            <a:r>
              <a:rPr sz="8800">
                <a:latin typeface="IRANYekanXFaNum Heavy"/>
              </a:rPr>
              <a:t>آموزش جامع</a:t>
            </a:r>
          </a:p>
          <a:p>
            <a:pPr algn="r" rtl="1">
              <a:defRPr>
                <a:cs typeface="IRANYekanXFaNum Heavy"/>
              </a:defRPr>
            </a:pPr>
            <a:r>
              <a:rPr sz="8800">
                <a:latin typeface="IRANYekanXFaNum Heavy"/>
              </a:rPr>
              <a:t>مفهوم مجموعه‌ها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 sz="1800">
                <a:latin typeface="Vazirmatn"/>
              </a:rPr>
              <a:t>مفهوم پایه مجموعه، نماد عضویت و زیرمجموعه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شناخت مجموعه‌های متناهی، نامتناهی و روابط آنها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اعمال مهم ریاضی: اجتماع (∪)، اشتراک (∩) و مجموعه‌های عددی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حل تمرینات تشریحی و راهکارهای مطالعه مؤثر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404847"/>
            <a:ext cx="8632177" cy="1897376"/>
          </a:xfrm>
          <a:prstGeom prst="roundRect">
            <a:avLst>
              <a:gd name="adj" fmla="val 2646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307727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مفاهیم کلیدی: تعریف مجموعه، عضویت و زیرمجموعه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CCB0158-12FF-0990-5767-5482D37C2297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تعریف مجموعه: دسته‌ای از اعضای مشخص و نامکرر داخل آکولاد { }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52579-181C-BFA9-6902-0A5F0B7C5562}"/>
              </a:ext>
            </a:extLst>
          </p:cNvPr>
          <p:cNvSpPr/>
          <p:nvPr/>
        </p:nvSpPr>
        <p:spPr>
          <a:xfrm>
            <a:off x="351016" y="4555778"/>
            <a:ext cx="77860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نماد عضویت: نمایش حضور عضو در مجموعه با نماد ریاضی ∈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/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/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0558DE1-7343-FBF5-DB6C-CCA81679F23E}"/>
              </a:ext>
            </a:extLst>
          </p:cNvPr>
          <p:cNvSpPr/>
          <p:nvPr/>
        </p:nvSpPr>
        <p:spPr>
          <a:xfrm>
            <a:off x="4181552" y="5597768"/>
            <a:ext cx="108425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6699FF"/>
                </a:solidFill>
                <a:latin typeface="IRANYekanXFaNum"/>
              </a:rPr>
              <a:t>مفهوم زیرمجموعه (⊆): حضور کامل اعضای مجموعه B در مجموعه A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225440"/>
            <a:ext cx="8632177" cy="2584783"/>
          </a:xfrm>
          <a:prstGeom prst="roundRect">
            <a:avLst>
              <a:gd name="adj" fmla="val 19633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168806" y="234310"/>
            <a:ext cx="784547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دسته‌بندی مجموعه‌ها و اعمال جبری (اجتماع و اشتراک)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FC68F22-B450-8DD3-9266-68573219767E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مجموعه متناهی: دارای اعضای محدود و شمارش‌پذیر مثل {1,2,3}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/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E5EC8D4C-8EE8-B69B-7F86-A0F85736C8B4}"/>
              </a:ext>
            </a:extLst>
          </p:cNvPr>
          <p:cNvSpPr/>
          <p:nvPr/>
        </p:nvSpPr>
        <p:spPr>
          <a:xfrm>
            <a:off x="4522110" y="37223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FF6238"/>
                </a:solidFill>
                <a:latin typeface="IRANYekanXFaNum"/>
              </a:rPr>
              <a:t>مجموعه نامتناهی: دارای اعضای بی‌شمار و نامحدود مثل اعداد طبیعی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/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60115A2-F1E4-6D3F-C631-F4B943F2F597}"/>
              </a:ext>
            </a:extLst>
          </p:cNvPr>
          <p:cNvSpPr/>
          <p:nvPr/>
        </p:nvSpPr>
        <p:spPr>
          <a:xfrm>
            <a:off x="4522110" y="45416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اجتماع دو مجموعه (∪): گردآوری تمام اعضای موجود در دو مجموعه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/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89E04608-C540-BE30-B342-710F519A7929}"/>
              </a:ext>
            </a:extLst>
          </p:cNvPr>
          <p:cNvSpPr/>
          <p:nvPr/>
        </p:nvSpPr>
        <p:spPr>
          <a:xfrm>
            <a:off x="4522110" y="5247478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اشتراک دو مجموعه (∩): تنها اعضای مشترک و هم‌پوشان دو مجموعه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/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8FEE872-DB95-EF68-D297-545534458D7D}"/>
              </a:ext>
            </a:extLst>
          </p:cNvPr>
          <p:cNvSpPr/>
          <p:nvPr/>
        </p:nvSpPr>
        <p:spPr>
          <a:xfrm>
            <a:off x="4522110" y="5991616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نکات اعمال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/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225440"/>
            <a:ext cx="8632177" cy="2584783"/>
          </a:xfrm>
          <a:prstGeom prst="roundRect">
            <a:avLst>
              <a:gd name="adj" fmla="val 19633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168806" y="234310"/>
            <a:ext cx="784547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دسته‌بندی مجموعه‌ها و اعمال جبری (اجتماع و اشتراک)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FC68F22-B450-8DD3-9266-68573219767E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مجموعه متناهی: دارای اعضای محدود و شمارش‌پذیر مثل {1,2,3}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/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E5EC8D4C-8EE8-B69B-7F86-A0F85736C8B4}"/>
              </a:ext>
            </a:extLst>
          </p:cNvPr>
          <p:cNvSpPr/>
          <p:nvPr/>
        </p:nvSpPr>
        <p:spPr>
          <a:xfrm>
            <a:off x="4522110" y="37223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FF6238"/>
                </a:solidFill>
                <a:latin typeface="IRANYekanXFaNum"/>
              </a:rPr>
              <a:t>مجموعه نامتناهی: دارای اعضای بی‌شمار و نامحدود مثل اعداد طبیعی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/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60115A2-F1E4-6D3F-C631-F4B943F2F597}"/>
              </a:ext>
            </a:extLst>
          </p:cNvPr>
          <p:cNvSpPr/>
          <p:nvPr/>
        </p:nvSpPr>
        <p:spPr>
          <a:xfrm>
            <a:off x="4522110" y="45416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اجتماع دو مجموعه (∪): گردآوری تمام اعضای موجود در دو مجموعه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/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89E04608-C540-BE30-B342-710F519A7929}"/>
              </a:ext>
            </a:extLst>
          </p:cNvPr>
          <p:cNvSpPr/>
          <p:nvPr/>
        </p:nvSpPr>
        <p:spPr>
          <a:xfrm>
            <a:off x="4522110" y="5247478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اشتراک دو مجموعه (∩): تنها اعضای مشترک و هم‌پوشان دو مجموعه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/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8FEE872-DB95-EF68-D297-545534458D7D}"/>
              </a:ext>
            </a:extLst>
          </p:cNvPr>
          <p:cNvSpPr/>
          <p:nvPr/>
        </p:nvSpPr>
        <p:spPr>
          <a:xfrm>
            <a:off x="4522110" y="5991616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نکات اعمال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/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6D35BB3-8458-CCA7-737E-83A663F7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199966-30F3-9952-2DF2-9826D5E57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81A791D9-FDCC-65EE-D118-57262339BBA5}"/>
              </a:ext>
            </a:extLst>
          </p:cNvPr>
          <p:cNvGrpSpPr/>
          <p:nvPr/>
        </p:nvGrpSpPr>
        <p:grpSpPr>
          <a:xfrm>
            <a:off x="7048292" y="2553610"/>
            <a:ext cx="2052682" cy="1656000"/>
            <a:chOff x="7903547" y="773817"/>
            <a:chExt cx="1508091" cy="1392314"/>
          </a:xfrm>
        </p:grpSpPr>
        <p:sp>
          <p:nvSpPr>
            <p:cNvPr id="78" name="Freeform 83">
              <a:extLst>
                <a:ext uri="{FF2B5EF4-FFF2-40B4-BE49-F238E27FC236}">
                  <a16:creationId xmlns:a16="http://schemas.microsoft.com/office/drawing/2014/main" id="{3DC7CCD4-DE8B-DC6E-9FBB-FEF6A765C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3547" y="773817"/>
              <a:ext cx="1193478" cy="1392314"/>
            </a:xfrm>
            <a:prstGeom prst="roundRect">
              <a:avLst/>
            </a:prstGeom>
            <a:solidFill>
              <a:srgbClr val="F2B600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4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حذف حالت‌های نامطلوب</a:t>
              </a:r>
              <a:endParaRPr lang="ru-RU" sz="24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9" name="A">
              <a:extLst>
                <a:ext uri="{FF2B5EF4-FFF2-40B4-BE49-F238E27FC236}">
                  <a16:creationId xmlns:a16="http://schemas.microsoft.com/office/drawing/2014/main" id="{A463C854-5A2D-D29F-2447-480D275CCD62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D63D40-5827-AE19-54FC-6BC37B5BFDCB}"/>
              </a:ext>
            </a:extLst>
          </p:cNvPr>
          <p:cNvGrpSpPr/>
          <p:nvPr/>
        </p:nvGrpSpPr>
        <p:grpSpPr>
          <a:xfrm>
            <a:off x="5897550" y="2122389"/>
            <a:ext cx="987860" cy="810000"/>
            <a:chOff x="8141840" y="2433180"/>
            <a:chExt cx="987860" cy="810000"/>
          </a:xfrm>
        </p:grpSpPr>
        <p:sp>
          <p:nvSpPr>
            <p:cNvPr id="13" name="Line">
              <a:extLst>
                <a:ext uri="{FF2B5EF4-FFF2-40B4-BE49-F238E27FC236}">
                  <a16:creationId xmlns:a16="http://schemas.microsoft.com/office/drawing/2014/main" id="{4176EF39-76FA-D028-92A8-5AF419D4BD7C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4DADE51-06FF-2D60-C60E-387A8F057553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FDD7C72-4A16-4ECC-E54C-D2FD03A418D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4E3061-0158-AAB0-A695-A71CCFA0E47B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F47E2-C53C-76C5-9188-487E6B630DE2}"/>
              </a:ext>
            </a:extLst>
          </p:cNvPr>
          <p:cNvGrpSpPr/>
          <p:nvPr/>
        </p:nvGrpSpPr>
        <p:grpSpPr>
          <a:xfrm flipV="1">
            <a:off x="5935074" y="3963104"/>
            <a:ext cx="987860" cy="810000"/>
            <a:chOff x="8141840" y="2433180"/>
            <a:chExt cx="987860" cy="810000"/>
          </a:xfrm>
        </p:grpSpPr>
        <p:sp>
          <p:nvSpPr>
            <p:cNvPr id="19" name="Line">
              <a:extLst>
                <a:ext uri="{FF2B5EF4-FFF2-40B4-BE49-F238E27FC236}">
                  <a16:creationId xmlns:a16="http://schemas.microsoft.com/office/drawing/2014/main" id="{B4FFCE5A-329A-3180-CDB9-0EFE5822F306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266B093-B4AC-565F-66E0-C5B1641F448A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09BB151-A120-B2FD-CA39-2FBB44F402E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D0F6262-6A33-27F5-B506-969A739606BC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B00360F-719C-A3BB-BF3A-6DF4F9721FD2}"/>
              </a:ext>
            </a:extLst>
          </p:cNvPr>
          <p:cNvSpPr txBox="1"/>
          <p:nvPr/>
        </p:nvSpPr>
        <p:spPr>
          <a:xfrm>
            <a:off x="479787" y="1793674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 sz="1800">
                <a:latin typeface="Vazirmatn"/>
              </a:rPr>
              <a:t>اعداد طبیعی (N): مجموعه اعداد شمارش نامتناهی از ۱ تا بی‌نهایت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02FD6-1CA4-99E8-DB25-91D0DB0D6C2C}"/>
              </a:ext>
            </a:extLst>
          </p:cNvPr>
          <p:cNvSpPr txBox="1"/>
          <p:nvPr/>
        </p:nvSpPr>
        <p:spPr>
          <a:xfrm>
            <a:off x="479787" y="3029031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اعداد صحیح (Z): شامل صفر، اعداد مثبت و تمامی اعداد منفی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FF82B-73FF-1600-6805-760193407DAB}"/>
              </a:ext>
            </a:extLst>
          </p:cNvPr>
          <p:cNvSpPr txBox="1"/>
          <p:nvPr/>
        </p:nvSpPr>
        <p:spPr>
          <a:xfrm>
            <a:off x="328863" y="4264389"/>
            <a:ext cx="5590479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اعداد گویا (Q): تمام اعداد قابل نمایش به صورت کسری a/b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204CCD-2B9D-59C5-D010-6A585333B9E6}"/>
              </a:ext>
            </a:extLst>
          </p:cNvPr>
          <p:cNvGrpSpPr/>
          <p:nvPr/>
        </p:nvGrpSpPr>
        <p:grpSpPr>
          <a:xfrm>
            <a:off x="5925117" y="3393746"/>
            <a:ext cx="908074" cy="180000"/>
            <a:chOff x="5925117" y="3393746"/>
            <a:chExt cx="908074" cy="1800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A63DC1-6CFA-7B66-F7D1-3EF5A6EE89DD}"/>
                </a:ext>
              </a:extLst>
            </p:cNvPr>
            <p:cNvCxnSpPr>
              <a:cxnSpLocks/>
              <a:endCxn id="30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2B81936-57C3-ABBC-996C-C8AF58ACCEF3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6FFAF4B-227E-C59F-5CD3-2234B4265981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08F3127-DA05-DB49-B557-13E1CB0E0A0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hands making a peace sign&#10;&#10;AI-generated content may be incorrect." hidden="1">
            <a:extLst>
              <a:ext uri="{FF2B5EF4-FFF2-40B4-BE49-F238E27FC236}">
                <a16:creationId xmlns:a16="http://schemas.microsoft.com/office/drawing/2014/main" id="{DE5A014C-EDCA-295F-BBB8-7C6C069B49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486" y="2649610"/>
            <a:ext cx="5115847" cy="433000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387798"/>
            <a:ext cx="8632177" cy="2457377"/>
          </a:xfrm>
          <a:prstGeom prst="roundRect">
            <a:avLst>
              <a:gd name="adj" fmla="val 25945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368997" y="523371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بررسی و حل نمونه تمرین‌های استاندارد فصل اول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4010" y="5475848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A8EF802-64B8-7BA7-A3F4-8A2EB9558479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FF6238"/>
                </a:solidFill>
                <a:latin typeface="IRANYekanXFaNum"/>
              </a:rPr>
              <a:t>محاسبه اجتماع و اشتراک: {A∪B={2,4,6,8,12 و {A∩B={4,8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2D09433-309B-5DC3-5125-776E8399FB3C}"/>
                  </a:ext>
                </a:extLst>
              </p:cNvPr>
              <p:cNvSpPr/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36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2D09433-309B-5DC3-5125-776E8399FB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8111E42-EF2A-BC5E-F562-19A9B557621B}"/>
              </a:ext>
            </a:extLst>
          </p:cNvPr>
          <p:cNvSpPr/>
          <p:nvPr/>
        </p:nvSpPr>
        <p:spPr>
          <a:xfrm>
            <a:off x="4522110" y="37223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FF6238"/>
                </a:solidFill>
                <a:latin typeface="IRANYekanXFaNum"/>
              </a:rPr>
              <a:t>تشخیص زیرمجموعه: تمام اعضای {C={3,6 درون مجموعه D قرار دارند (C ⊆ D)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7E4A11-A66B-8F8D-AD16-823D9C45383B}"/>
                  </a:ext>
                </a:extLst>
              </p:cNvPr>
              <p:cNvSpPr/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÷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7E4A11-A66B-8F8D-AD16-823D9C453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AE4E2C0-88AB-3DA4-2E47-9BDEE5FE90F2}"/>
              </a:ext>
            </a:extLst>
          </p:cNvPr>
          <p:cNvSpPr/>
          <p:nvPr/>
        </p:nvSpPr>
        <p:spPr>
          <a:xfrm>
            <a:off x="4522110" y="45416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1800">
                <a:solidFill>
                  <a:srgbClr val="FF6238"/>
                </a:solidFill>
                <a:latin typeface="IRANYekanXFaNum"/>
              </a:rPr>
              <a:t>شناسایی مجموعه عددی: مجموعه {G={-2,-1,0,1,2 از نوع اعداد صحیح (Z) است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BBBCAC-802F-F309-2FCE-89575DAF49A9}"/>
                  </a:ext>
                </a:extLst>
              </p:cNvPr>
              <p:cNvSpPr/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81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BBBCAC-802F-F309-2FCE-89575DAF4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C5C08DBE-EA46-F532-0FF8-960E90F93958}"/>
              </a:ext>
            </a:extLst>
          </p:cNvPr>
          <p:cNvSpPr/>
          <p:nvPr/>
        </p:nvSpPr>
        <p:spPr>
          <a:xfrm>
            <a:off x="1804111" y="4519842"/>
            <a:ext cx="1795299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  <a:defRPr>
                <a:cs typeface="IRANYekanXFaNum"/>
              </a:defRPr>
            </a:pPr>
            <a:r>
              <a:rPr sz="2000">
                <a:solidFill>
                  <a:srgbClr val="6699FF"/>
                </a:solidFill>
                <a:latin typeface="IRANYekanXFaNum"/>
              </a:rPr>
              <a:t>حل تمرین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57C0FAC-E271-9908-96FB-865BBBA4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3117D2-538D-FACB-5FD3-FEFAA7C47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0AEA7657-C5B0-0953-6804-8B426D44D1C6}"/>
              </a:ext>
            </a:extLst>
          </p:cNvPr>
          <p:cNvGrpSpPr/>
          <p:nvPr/>
        </p:nvGrpSpPr>
        <p:grpSpPr>
          <a:xfrm>
            <a:off x="7044409" y="2699046"/>
            <a:ext cx="4504135" cy="1446550"/>
            <a:chOff x="7942893" y="807146"/>
            <a:chExt cx="1291543" cy="1216215"/>
          </a:xfrm>
        </p:grpSpPr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4FB1F4BF-786A-A66D-5311-0D873C35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893" y="1103332"/>
              <a:ext cx="1175822" cy="623844"/>
            </a:xfrm>
            <a:prstGeom prst="roundRect">
              <a:avLst/>
            </a:prstGeom>
            <a:solidFill>
              <a:srgbClr val="4D8FCB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راهبرد حل مسئله ساده‌تر</a:t>
              </a:r>
            </a:p>
          </p:txBody>
        </p:sp>
        <p:sp>
          <p:nvSpPr>
            <p:cNvPr id="82" name="A">
              <a:extLst>
                <a:ext uri="{FF2B5EF4-FFF2-40B4-BE49-F238E27FC236}">
                  <a16:creationId xmlns:a16="http://schemas.microsoft.com/office/drawing/2014/main" id="{A61A987D-B23F-9A4C-8814-762F220F1A25}"/>
                </a:ext>
              </a:extLst>
            </p:cNvPr>
            <p:cNvSpPr txBox="1"/>
            <p:nvPr/>
          </p:nvSpPr>
          <p:spPr>
            <a:xfrm>
              <a:off x="9038374" y="807146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37594-2651-0FAB-C2BC-9692C41B9250}"/>
              </a:ext>
            </a:extLst>
          </p:cNvPr>
          <p:cNvGrpSpPr/>
          <p:nvPr/>
        </p:nvGrpSpPr>
        <p:grpSpPr>
          <a:xfrm>
            <a:off x="5935074" y="2114769"/>
            <a:ext cx="987860" cy="1098000"/>
            <a:chOff x="8141840" y="2433180"/>
            <a:chExt cx="987860" cy="1098000"/>
          </a:xfrm>
        </p:grpSpPr>
        <p:sp>
          <p:nvSpPr>
            <p:cNvPr id="5" name="Line">
              <a:extLst>
                <a:ext uri="{FF2B5EF4-FFF2-40B4-BE49-F238E27FC236}">
                  <a16:creationId xmlns:a16="http://schemas.microsoft.com/office/drawing/2014/main" id="{D6449405-3287-D08D-8006-E9FA12AC37FB}"/>
                </a:ext>
              </a:extLst>
            </p:cNvPr>
            <p:cNvSpPr/>
            <p:nvPr/>
          </p:nvSpPr>
          <p:spPr>
            <a:xfrm>
              <a:off x="8337572" y="2523180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A56CA0-7CD6-06E2-128C-4C9A45BDB0D5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E23654-B376-E490-64E2-47F391B96EF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962145-1264-F0F7-78B2-C80020689AF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46F3A3-0D51-4F38-A25F-41CD114734B2}"/>
              </a:ext>
            </a:extLst>
          </p:cNvPr>
          <p:cNvGrpSpPr/>
          <p:nvPr/>
        </p:nvGrpSpPr>
        <p:grpSpPr>
          <a:xfrm flipV="1">
            <a:off x="5935074" y="3658707"/>
            <a:ext cx="987860" cy="1106777"/>
            <a:chOff x="8141840" y="2433180"/>
            <a:chExt cx="987860" cy="1106777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236B85DB-A9F2-951B-A1E0-90FA86531065}"/>
                </a:ext>
              </a:extLst>
            </p:cNvPr>
            <p:cNvSpPr/>
            <p:nvPr/>
          </p:nvSpPr>
          <p:spPr>
            <a:xfrm>
              <a:off x="8337572" y="2531957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8773ED-A9AB-F999-D61F-F0CBD47B91E7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2A6CBF9-3A66-F1A7-6805-3D38BD0320C3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E4F877-49BD-ACE5-6842-1EE612D59CA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AD4985-1939-E978-B1E2-8A500FD16A4F}"/>
              </a:ext>
            </a:extLst>
          </p:cNvPr>
          <p:cNvSpPr txBox="1"/>
          <p:nvPr/>
        </p:nvSpPr>
        <p:spPr>
          <a:xfrm>
            <a:off x="3626668" y="1987753"/>
            <a:ext cx="2292674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 sz="1800">
                <a:latin typeface="Vazirmatn"/>
              </a:rPr>
              <a:t>مطالعه منظم روزانه و تمرین مداوم مفاهیم</a:t>
            </a:r>
            <a:endParaRPr lang="ar-DZ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58F83-EDF5-8BDD-CC1C-5049EDA0CDFF}"/>
              </a:ext>
            </a:extLst>
          </p:cNvPr>
          <p:cNvSpPr txBox="1"/>
          <p:nvPr/>
        </p:nvSpPr>
        <p:spPr>
          <a:xfrm>
            <a:off x="4736814" y="3230836"/>
            <a:ext cx="1182528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حل مسائل متنوع و چالش‌برانگیز کتاب‌های تکمیلی</a:t>
            </a:r>
            <a:endParaRPr lang="ar-DZ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ABA40-F964-E1F2-25C7-FFEC9BE2E1AC}"/>
              </a:ext>
            </a:extLst>
          </p:cNvPr>
          <p:cNvSpPr txBox="1"/>
          <p:nvPr/>
        </p:nvSpPr>
        <p:spPr>
          <a:xfrm>
            <a:off x="2488557" y="4473918"/>
            <a:ext cx="3430785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استفاده از ویدیوها و آموزش‌های رایگان موسسه جهت</a:t>
            </a:r>
            <a:endParaRPr lang="ar-DZ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7644C1-1635-895B-CA33-30920BC61FCD}"/>
              </a:ext>
            </a:extLst>
          </p:cNvPr>
          <p:cNvGrpSpPr/>
          <p:nvPr/>
        </p:nvGrpSpPr>
        <p:grpSpPr>
          <a:xfrm>
            <a:off x="6014860" y="3345738"/>
            <a:ext cx="908074" cy="180000"/>
            <a:chOff x="5925117" y="3393746"/>
            <a:chExt cx="908074" cy="180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33C6FA-8CAF-CA38-2AB4-89F9FBD3DEBC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4537DE9-C1A4-0EE1-C007-2A4044611639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2FEE91C-DB55-2D89-EBB9-924E8D44CC6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A5CB845-8234-C3CE-07AB-542B85DD401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1800" dirty="0"/>
              <a:t>برای حل بعضی از مسئله ها باید همه حالت های ممکن را بنویسید.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برای اینکه هیچ حالتی از قلم نیفتد، لازم است آنها را با </a:t>
            </a:r>
            <a:r>
              <a:rPr lang="fa-IR" b="1" dirty="0">
                <a:highlight>
                  <a:srgbClr val="FFFF00"/>
                </a:highlight>
              </a:rPr>
              <a:t>نظم، الگو و ترتیبی </a:t>
            </a:r>
            <a:r>
              <a:rPr lang="fa-IR" dirty="0"/>
              <a:t>مشخص بنویسید.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fa-IR" dirty="0"/>
              <a:t>الگوسازی به شما کمک می کند تا مطمئن شوید همه حالتها را نوشته اید. بنابراین در مسئله هایی که لازم است  همه جواب ها و پاسخهای ممکن را بنویسید، می توانید از این راهبرد استفاده کنید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باتوجه به نظم و ترتیبی که می سازید، به این راهبرد، </a:t>
            </a:r>
            <a:r>
              <a:rPr lang="fa-IR" b="1" dirty="0">
                <a:highlight>
                  <a:srgbClr val="FFFF00"/>
                </a:highlight>
              </a:rPr>
              <a:t>تفکر نظامدار</a:t>
            </a:r>
            <a:r>
              <a:rPr lang="fa-IR" b="1" dirty="0"/>
              <a:t> </a:t>
            </a:r>
            <a:r>
              <a:rPr lang="fa-IR" dirty="0"/>
              <a:t>نیز میگویند. </a:t>
            </a:r>
            <a:br>
              <a:rPr lang="fa-I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8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