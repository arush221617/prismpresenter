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 عرض سلام و خوش‌آمدگویی به جلسه آموزش فصل اول ریاضی پایه هفتم. این فصل به یکی از بنیادین‌ترین مفاهیم ریاضیات یعنی «مجموعه‌ها» اختصاص دارد. تسلط بر مفاهیم مجموعه، زیرمجموعه و عملیات مربوط به آن‌ها، پایه‌ای اساسی برای یادگیری سایر فصول ریاضیات در دوره‌های تحصیلی بالاتر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در جمع‌بندی باید یادآور شد که فصل اول سنگ بنای تفکر ساختاریافته در ریاضیات است. برای تسلط بیشتر و دریافت تمرینات رایگان، ویدیوهای آموزشی و جزوات کمک‌درسی استاندارد، می‌توانید به پایگاه آموزشی موسسه آموزشی جهت مراجعه فرمایید و سوالات خود را با کارشناسان در میان بگذارید.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22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در جمع‌بندی باید یادآور شد که فصل اول سنگ بنای تفکر ساختاریافته در ریاضیات است. برای تسلط بیشتر و دریافت تمرینات رایگان، ویدیوهای آموزشی و جزوات کمک‌درسی استاندارد، می‌توانید به پایگاه آموزشی موسسه آموزشی جهت مراجعه فرمایید و سوالات خود را با کارشناسان در میان بگذارید.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22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مجموعه به دسته‌ای مشخص و متمایز از اشیا یا اعداد گفته می‌شود که شرط عضویت در آن دقیق و بدون ابهام باشد. اعضا درون علامت آکولاد {} قرار می‌گیرند و ترتیب نوشتن آن‌ها اهمیتی ندارد. اگر عنصری مانند عدد ۳ متعلق به مجموعه A باشد، با نماد ریاضی 3 ∈ A نشان داده می‌شود. همچنین زمانی که کلیه اعضای مجموعه B درون مجموعه A قرار داشته باشند، می‌گوییم B زیرمجموعه A است (B ⊆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مجموعه‌ها از نظر تعداد اعضا به دو دسته متناهی (قابل شمارش و محدود) و نامتناهی (بی‌نهایت عضو) تقسیم می‌شوند. در بخش عملیات روی مجموعه‌ها، «اجتماع» به معنی ترکیب تمام اعضای دو مجموعه بدون عضو تکراری بوده و با نماد ∪ نمایش داده می‌شود. «اشتراک» نیز شامل آن دسته از اعضایی است که هم‌زمان در هر دو مجموعه وجود دارند و با نماد ∩ مشخص می‌گردد.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در ریاضیات پایه هفتم سه مجموعه عددی کلیدی بررسی می‌شوند: ۱. اعداد طبیعی با نماد N شامل {..., ۱, ۲, ۳} برای شمارش ۲. اعداد صحیح با نماد Z که علاوه بر اعداد مثبت شامل صفر و اعداد منفی است ۳. اعداد گویا با نماد Q که شامل تمام اعدادی است که می‌توان آن‌ها را به شکل کسری از دو عدد صحیح با مخرج غیر صفر نوشت.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در این اسلاید چند تمرین کاربردی برای تثبیت مفاهیم حل شده است. تمرین اول محاسبه اجتماع و اشتراک دو مجموعه A و B است که اشتراک آن‌ها شامل {۴، ۸} و اجتماع آن‌ها پنج عضو دارد. در تمرین دوم بررسی زیرمجموعه بودن C در D انجام گرفته و در تمرینات بعدی، نوع مجموعه‌ها از حیث متناهی یا نامتناهی بودن و تعلق به اعداد صحیح مشخص شده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برای یادگیری اثربخش و موفقیت پایدار در درس ریاضی هفتم، دانش‌آموزان باید ۴ اصل اساسی را رعایت کنند: مطالعه و مرور روزانه، حل تمرین‌های فراتر از کتاب درسی برای ارتقای تفکر منطقی، مشاهده ویدیوهای آموزشی تحلیلی و همچنین مشارکت فعال در کلاس درس و رفع اشکال به موقع.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>
              <a:defRPr>
                <a:cs typeface="IRANYekanXFaNum Heavy"/>
              </a:defRPr>
            </a:pPr>
            <a:r>
              <a:rPr sz="6000">
                <a:solidFill>
                  <a:srgbClr val="99FFCC"/>
                </a:solidFill>
                <a:latin typeface="IRANYekanXFaNum Heavy"/>
              </a:rPr>
              <a:t>آموزش ریاضی هفتم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defRPr>
                <a:cs typeface="IRANYekanXFaNum Heavy"/>
              </a:defRPr>
            </a:pPr>
            <a:r>
              <a:rPr sz="8800">
                <a:latin typeface="IRANYekanXFaNum Heavy"/>
              </a:rPr>
              <a:t>فصل اول:</a:t>
            </a:r>
          </a:p>
          <a:p>
            <a:pPr algn="r" rtl="1">
              <a:defRPr>
                <a:cs typeface="IRANYekanXFaNum Heavy"/>
              </a:defRPr>
            </a:pPr>
            <a:r>
              <a:rPr sz="8800">
                <a:latin typeface="IRANYekanXFaNum Heavy"/>
              </a:rPr>
              <a:t>مفاهیم و کاربرد مجموعه‌ها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39BED6B-8DF0-D118-8351-E3FD282C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CCA0102-9C13-050C-7E33-61E2B4950167}"/>
              </a:ext>
            </a:extLst>
          </p:cNvPr>
          <p:cNvGrpSpPr/>
          <p:nvPr/>
        </p:nvGrpSpPr>
        <p:grpSpPr>
          <a:xfrm>
            <a:off x="7133751" y="2705725"/>
            <a:ext cx="2000331" cy="1446550"/>
            <a:chOff x="7803739" y="878197"/>
            <a:chExt cx="1469629" cy="1216215"/>
          </a:xfrm>
        </p:grpSpPr>
        <p:sp>
          <p:nvSpPr>
            <p:cNvPr id="19" name="Freeform 83">
              <a:extLst>
                <a:ext uri="{FF2B5EF4-FFF2-40B4-BE49-F238E27FC236}">
                  <a16:creationId xmlns:a16="http://schemas.microsoft.com/office/drawing/2014/main" id="{7A0B8355-42D8-DAA5-ADDC-73CBB1583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20" name="A">
              <a:extLst>
                <a:ext uri="{FF2B5EF4-FFF2-40B4-BE49-F238E27FC236}">
                  <a16:creationId xmlns:a16="http://schemas.microsoft.com/office/drawing/2014/main" id="{0E6FD42C-28CB-5861-7688-F8A243405248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84226F-A211-7BEC-B83A-0364DE0BFCBB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23" name="Line">
              <a:extLst>
                <a:ext uri="{FF2B5EF4-FFF2-40B4-BE49-F238E27FC236}">
                  <a16:creationId xmlns:a16="http://schemas.microsoft.com/office/drawing/2014/main" id="{AD42FAFE-2145-BBD4-108C-F455F145F2A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D733A9E-DC12-46D1-A918-5838F2AFA29A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1FAA002-08E6-088B-2F4C-F0270E372AE2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3B06570-2AF6-2B3E-FB28-A49547FBAAE7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972819-2B70-2CD0-868F-F21B6A4F91F4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29" name="Line">
              <a:extLst>
                <a:ext uri="{FF2B5EF4-FFF2-40B4-BE49-F238E27FC236}">
                  <a16:creationId xmlns:a16="http://schemas.microsoft.com/office/drawing/2014/main" id="{1699C1C1-6E97-0805-2533-1AEA66EFB6EE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181D2AD-AEB5-98C7-46FE-F2F6FB729B66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ED747A4-935F-C71A-FF9F-A26536F72C39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575CCC7-4E47-5520-351A-CF877702AA9C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9C59487-688C-652B-C52A-A68ED56C9068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49" name="Line">
              <a:extLst>
                <a:ext uri="{FF2B5EF4-FFF2-40B4-BE49-F238E27FC236}">
                  <a16:creationId xmlns:a16="http://schemas.microsoft.com/office/drawing/2014/main" id="{046933DE-B9E5-E832-528F-AA47EB70D070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7CF5E5D-2BB4-B254-820A-390C5B55A98E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42DF545-98E3-7AA8-923D-223E3442CF05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EC69293-5DA4-07DF-5079-21F6225CA434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A09808B-248D-187A-6B35-5A26B667B9A0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64" name="Line">
              <a:extLst>
                <a:ext uri="{FF2B5EF4-FFF2-40B4-BE49-F238E27FC236}">
                  <a16:creationId xmlns:a16="http://schemas.microsoft.com/office/drawing/2014/main" id="{E6265D94-28B6-6A3E-5912-3403CD3DBE03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B43AF96-4DAD-0300-7F54-C23C62BE7B51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1A1DC8B-4891-A232-D018-CB8CD82CFAC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5157A507-94D1-4BBF-ADD0-39012939B30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C4011626-EDFE-2CB3-7202-74CCCFE777CA}"/>
              </a:ext>
            </a:extLst>
          </p:cNvPr>
          <p:cNvSpPr txBox="1"/>
          <p:nvPr/>
        </p:nvSpPr>
        <p:spPr>
          <a:xfrm>
            <a:off x="4343884" y="1289015"/>
            <a:ext cx="120358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  <a:defRPr>
                <a:cs typeface="IRANYekanXFaNum"/>
              </a:defRPr>
            </a:pPr>
            <a:r>
              <a:rPr sz="2400">
                <a:latin typeface="IRANYekanXFaNum"/>
              </a:rPr>
              <a:t>مفهوم مجموعه و نماد عضویت (∈)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656C79-3DAE-7CEB-0170-63873A2F127B}"/>
              </a:ext>
            </a:extLst>
          </p:cNvPr>
          <p:cNvSpPr txBox="1"/>
          <p:nvPr/>
        </p:nvSpPr>
        <p:spPr>
          <a:xfrm>
            <a:off x="1378857" y="1289015"/>
            <a:ext cx="2389931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  <a:defRPr>
                <a:cs typeface="IRANYekanXFaNum"/>
              </a:defRPr>
            </a:pPr>
            <a:r>
              <a:rPr sz="2400">
                <a:latin typeface="IRANYekanXFaNum"/>
              </a:rPr>
              <a:t>مفهوم زیرمجموعه (⊆)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46EF87-EC8E-7DED-E961-120B83C6B4E6}"/>
              </a:ext>
            </a:extLst>
          </p:cNvPr>
          <p:cNvSpPr txBox="1"/>
          <p:nvPr/>
        </p:nvSpPr>
        <p:spPr>
          <a:xfrm>
            <a:off x="4343138" y="2339293"/>
            <a:ext cx="120358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  <a:defRPr>
                <a:cs typeface="IRANYekanXFaNum"/>
              </a:defRPr>
            </a:pPr>
            <a:r>
              <a:rPr sz="2400">
                <a:latin typeface="IRANYekanXFaNum"/>
              </a:rPr>
              <a:t>مجموعه‌های متناهی و نامتناهی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4113B1-8F90-37E4-9A76-BF41638E530F}"/>
              </a:ext>
            </a:extLst>
          </p:cNvPr>
          <p:cNvSpPr txBox="1"/>
          <p:nvPr/>
        </p:nvSpPr>
        <p:spPr>
          <a:xfrm>
            <a:off x="4466547" y="3847717"/>
            <a:ext cx="120358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  <a:defRPr>
                <a:cs typeface="IRANYekanXFaNum"/>
              </a:defRPr>
            </a:pPr>
            <a:r>
              <a:rPr sz="2400">
                <a:latin typeface="IRANYekanXFaNum"/>
              </a:rPr>
              <a:t>اجتماع (∪) و اشتراک (∩)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CA78574-94C3-9FB6-3A75-DC48596896DF}"/>
              </a:ext>
            </a:extLst>
          </p:cNvPr>
          <p:cNvSpPr txBox="1"/>
          <p:nvPr/>
        </p:nvSpPr>
        <p:spPr>
          <a:xfrm>
            <a:off x="1030514" y="4897995"/>
            <a:ext cx="4639619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  <a:defRPr>
                <a:cs typeface="IRANYekanXFaNum"/>
              </a:defRPr>
            </a:pPr>
            <a:r>
              <a:rPr sz="2400">
                <a:latin typeface="IRANYekanXFaNum"/>
              </a:rPr>
              <a:t>مجموعه‌های عددی (N، Z، Q)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2121B91-84F1-9859-6AA3-DEE513265038}"/>
              </a:ext>
            </a:extLst>
          </p:cNvPr>
          <p:cNvCxnSpPr/>
          <p:nvPr/>
        </p:nvCxnSpPr>
        <p:spPr>
          <a:xfrm flipH="1">
            <a:off x="3768788" y="1572028"/>
            <a:ext cx="766926" cy="0"/>
          </a:xfrm>
          <a:prstGeom prst="straightConnector1">
            <a:avLst/>
          </a:prstGeom>
          <a:ln w="57150" cap="rnd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3CCB278-EB1E-8BF2-98DC-BC777A80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9675AEF-5FCE-AFBB-3057-52F0A42B7FC7}"/>
              </a:ext>
            </a:extLst>
          </p:cNvPr>
          <p:cNvGrpSpPr/>
          <p:nvPr/>
        </p:nvGrpSpPr>
        <p:grpSpPr>
          <a:xfrm>
            <a:off x="9874750" y="102100"/>
            <a:ext cx="2000331" cy="1446550"/>
            <a:chOff x="7803739" y="878197"/>
            <a:chExt cx="1469629" cy="1216215"/>
          </a:xfrm>
        </p:grpSpPr>
        <p:sp>
          <p:nvSpPr>
            <p:cNvPr id="19" name="Freeform 83">
              <a:extLst>
                <a:ext uri="{FF2B5EF4-FFF2-40B4-BE49-F238E27FC236}">
                  <a16:creationId xmlns:a16="http://schemas.microsoft.com/office/drawing/2014/main" id="{979B6C1D-EB08-62AB-6BEA-4DCE3C382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20" name="A">
              <a:extLst>
                <a:ext uri="{FF2B5EF4-FFF2-40B4-BE49-F238E27FC236}">
                  <a16:creationId xmlns:a16="http://schemas.microsoft.com/office/drawing/2014/main" id="{10FAB33D-5B76-3A5F-B465-68AD3691A0C2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70768F-E247-3D17-176D-70D24677E181}"/>
              </a:ext>
            </a:extLst>
          </p:cNvPr>
          <p:cNvSpPr txBox="1"/>
          <p:nvPr/>
        </p:nvSpPr>
        <p:spPr>
          <a:xfrm>
            <a:off x="642258" y="423161"/>
            <a:ext cx="8862601" cy="379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 rtl="1">
              <a:lnSpc>
                <a:spcPct val="170000"/>
              </a:lnSpc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marL="342900" indent="-342900" algn="r" rtl="1">
              <a:buFont typeface="Arial" panose="020B0604020202020204" pitchFamily="34" charset="0"/>
              <a:buChar char="•"/>
              <a:defRPr>
                <a:cs typeface="Vazirmatn"/>
              </a:defRPr>
            </a:pPr>
            <a:r>
              <a:rPr>
                <a:latin typeface="Vazirmatn"/>
              </a:rPr>
              <a:t>• تعریف مجموعه: دسته‌ای مشخص و بدون ابهام از اشیا یا اعداد با ویژگی مشترک</a:t>
            </a:r>
            <a:endParaRPr lang="en-US" dirty="0"/>
          </a:p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• نماد عضویت (∈): نشان‌دهنده تعلق یک عضو به مجموعه معین (مانند ۳ ∈ A)</a:t>
            </a:r>
          </a:p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• مفهوم زیرمجموعه (⊆): قرار داشتن تمام اعضای مجموعه B درون مجموعه بزرگ‌تر A</a:t>
            </a:r>
          </a:p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• قواعد نگارش: نمایش اعضا درون آکولاد {} بدون تکرار عضو و بدون ترتیب خاص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477F4D7-AB7E-834B-936E-86C345A8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7574B7-3AE9-BE28-2CCB-53046A3C53F7}"/>
              </a:ext>
            </a:extLst>
          </p:cNvPr>
          <p:cNvSpPr/>
          <p:nvPr/>
        </p:nvSpPr>
        <p:spPr>
          <a:xfrm>
            <a:off x="215642" y="111756"/>
            <a:ext cx="8632177" cy="2168800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00AEDB-7657-6E8E-D19A-3674D0B124E2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56EBD175-C515-E6BE-9652-BB601EB6CFCE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129BCF-EA82-2BE8-8F14-F5F47437AD6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18F08E-D643-D664-DD85-BA906CBA6011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FD30BE-B1D5-2C4F-0A67-440D2D52EF33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7A1D16E-6971-9974-8F06-A09371B6D19A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57E2DBE-F02B-69AE-9D1F-3CE005B19FA4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3C1E958-643C-EA84-73E9-A0D73F03E6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FD1F2B79-D3C0-AC0D-1770-3913B7F644C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5AA3B952-CA72-4E11-C5D7-1047B4BAC4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B56C7BC5-F3F3-4A96-AC30-D59EEBC1BF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C0B5157-CAB3-EDC1-B5D8-B0E7EB43F95C}"/>
              </a:ext>
            </a:extLst>
          </p:cNvPr>
          <p:cNvSpPr/>
          <p:nvPr/>
        </p:nvSpPr>
        <p:spPr>
          <a:xfrm>
            <a:off x="400158" y="17416"/>
            <a:ext cx="766107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  <a:defRPr>
                <a:cs typeface="IRANYekanXFaNum"/>
              </a:defRPr>
            </a:pPr>
            <a:r>
              <a:rPr sz="2400">
                <a:latin typeface="IRANYekanXFaNum"/>
              </a:rPr>
              <a:t>عملیات روی مجموعه‌ها و دسته‌بندی متناهی و نامتناهی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5AE7CE-28F3-2F0E-1F82-C317DB40F851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F6F501A-D34A-4E0A-42BE-1DA706E29E93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9742316-43B0-8A33-EA6D-BB41D171D77D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62B622FD-0978-2A02-0471-3857CA653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BE99A4AE-E00A-86B1-F0A3-8CD3DC0286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1EF52119-F1C4-3637-6D60-5B513704FBD1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1908AF0C-EC0B-9B85-7670-190619613041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C9C6FBE-1A9C-FBEC-17BD-5FA25941A70E}"/>
              </a:ext>
            </a:extLst>
          </p:cNvPr>
          <p:cNvSpPr/>
          <p:nvPr/>
        </p:nvSpPr>
        <p:spPr>
          <a:xfrm rot="5400000">
            <a:off x="2101612" y="3898198"/>
            <a:ext cx="2182722" cy="1341802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41C1B4-5BEA-B7AF-E614-5F9D09B87CE3}"/>
              </a:ext>
            </a:extLst>
          </p:cNvPr>
          <p:cNvSpPr/>
          <p:nvPr/>
        </p:nvSpPr>
        <p:spPr>
          <a:xfrm rot="5400000">
            <a:off x="1639101" y="3531654"/>
            <a:ext cx="3136096" cy="2091582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F6442A-440B-D48A-2C0A-9CB10243ACEF}"/>
              </a:ext>
            </a:extLst>
          </p:cNvPr>
          <p:cNvSpPr/>
          <p:nvPr/>
        </p:nvSpPr>
        <p:spPr>
          <a:xfrm>
            <a:off x="4531135" y="2501939"/>
            <a:ext cx="2544647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اجتماع (Union)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04993E2-391E-B078-0A73-916DD52F5781}"/>
              </a:ext>
            </a:extLst>
          </p:cNvPr>
          <p:cNvSpPr/>
          <p:nvPr/>
        </p:nvSpPr>
        <p:spPr>
          <a:xfrm>
            <a:off x="6955988" y="2539840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A ∪ B = تمام اعضا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6AD2893-7A6F-ADEA-F420-9DD28801B324}"/>
              </a:ext>
            </a:extLst>
          </p:cNvPr>
          <p:cNvSpPr/>
          <p:nvPr/>
        </p:nvSpPr>
        <p:spPr>
          <a:xfrm>
            <a:off x="7021297" y="3327177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اشتراک (Intersection)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D13424-4088-88EE-F550-987700A9A177}"/>
              </a:ext>
            </a:extLst>
          </p:cNvPr>
          <p:cNvSpPr/>
          <p:nvPr/>
        </p:nvSpPr>
        <p:spPr>
          <a:xfrm>
            <a:off x="7021297" y="4076076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A ∩ B = اعضای مشترک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143D1A6-C63D-97F7-EC2F-B24D8E92CC83}"/>
              </a:ext>
            </a:extLst>
          </p:cNvPr>
          <p:cNvSpPr/>
          <p:nvPr/>
        </p:nvSpPr>
        <p:spPr>
          <a:xfrm>
            <a:off x="7074869" y="4729688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دسته‌بندی اعضا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A52B316-AA9B-E154-1CB8-04233DA58D70}"/>
              </a:ext>
            </a:extLst>
          </p:cNvPr>
          <p:cNvSpPr/>
          <p:nvPr/>
        </p:nvSpPr>
        <p:spPr>
          <a:xfrm>
            <a:off x="4811486" y="5504741"/>
            <a:ext cx="637902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1800">
                <a:solidFill>
                  <a:srgbClr val="6699FF"/>
                </a:solidFill>
                <a:latin typeface="IRANYekanXFaNum"/>
              </a:rPr>
              <a:t>مجموعه متناهی دارای اعضای محدود بوده و مجموعه نامتناهی دارای اعضای بی‌شمار است.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2B5F97A-0901-4852-9E94-2867C474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D4FC27-B7F7-05D8-8B41-8A646166420F}"/>
              </a:ext>
            </a:extLst>
          </p:cNvPr>
          <p:cNvSpPr/>
          <p:nvPr/>
        </p:nvSpPr>
        <p:spPr>
          <a:xfrm>
            <a:off x="182712" y="299787"/>
            <a:ext cx="8632177" cy="206340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799D10-096A-2436-8AEE-71922FB25BFC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C346770E-5453-EE54-55BE-6CC691ECE114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586B34D-8CBE-DDCA-ACF7-DD51E0F766E0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5F08673-AA6F-AE54-73D0-4A453042E834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D1DD4EE-CD09-08E8-50E4-57EBF4848891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5072FA-F09A-9FC5-17D5-58FA1CE29895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9154F5-FEB8-7309-C067-F661A2F5B27A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7BAFC6E-DF4C-6B97-A68C-9290AED6B5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AC57E145-35E6-D47C-099D-4370CB2A26C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6C4958BB-A4D5-2B94-BF10-A6A228CFDE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6B9CAE4F-149B-978F-61C3-7708386EF9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7E9A841-C35B-C734-01F1-C2EC9490DAD3}"/>
              </a:ext>
            </a:extLst>
          </p:cNvPr>
          <p:cNvSpPr/>
          <p:nvPr/>
        </p:nvSpPr>
        <p:spPr>
          <a:xfrm>
            <a:off x="367118" y="345113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400">
                <a:latin typeface="IRANYekanXFaNum"/>
              </a:rPr>
              <a:t>مجموعه‌های عددی مهم در ریاضی هفتم (N، Z، Q)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3C409-6450-0C40-3922-74E527065E27}"/>
              </a:ext>
            </a:extLst>
          </p:cNvPr>
          <p:cNvSpPr/>
          <p:nvPr/>
        </p:nvSpPr>
        <p:spPr>
          <a:xfrm>
            <a:off x="1466772" y="3529002"/>
            <a:ext cx="2638014" cy="1807036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E48023-E29C-5671-5B66-3C15F62B32F8}"/>
              </a:ext>
            </a:extLst>
          </p:cNvPr>
          <p:cNvSpPr/>
          <p:nvPr/>
        </p:nvSpPr>
        <p:spPr>
          <a:xfrm>
            <a:off x="904829" y="3032475"/>
            <a:ext cx="3790252" cy="2816782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E7F422-DECF-0B36-6672-D098733A4B3F}"/>
              </a:ext>
            </a:extLst>
          </p:cNvPr>
          <p:cNvSpPr/>
          <p:nvPr/>
        </p:nvSpPr>
        <p:spPr>
          <a:xfrm>
            <a:off x="4311816" y="2647948"/>
            <a:ext cx="284241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400">
                <a:solidFill>
                  <a:srgbClr val="6699FF"/>
                </a:solidFill>
                <a:latin typeface="IRANYekanXFaNum"/>
              </a:rPr>
              <a:t>اعداد طبیعی (N)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8DBE3B5-E52B-8E00-F89D-AFD569D3B3C0}"/>
                  </a:ext>
                </a:extLst>
              </p:cNvPr>
              <p:cNvSpPr/>
              <p:nvPr/>
            </p:nvSpPr>
            <p:spPr>
              <a:xfrm>
                <a:off x="6955988" y="2539840"/>
                <a:ext cx="2662019" cy="91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طول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عرض</m:t>
                      </m:r>
                    </m:oMath>
                  </m:oMathPara>
                </a14:m>
                <a:endParaRPr lang="en-US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8DBE3B5-E52B-8E00-F89D-AFD569D3B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988" y="2539840"/>
                <a:ext cx="2662019" cy="914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9C8B61E2-3C59-58D9-78F2-971D5F367342}"/>
              </a:ext>
            </a:extLst>
          </p:cNvPr>
          <p:cNvSpPr/>
          <p:nvPr/>
        </p:nvSpPr>
        <p:spPr>
          <a:xfrm>
            <a:off x="7021297" y="3327177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N = {1, 2, 3, ...}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8A062E4-B092-CD39-B027-F21A2EDB2237}"/>
              </a:ext>
            </a:extLst>
          </p:cNvPr>
          <p:cNvSpPr/>
          <p:nvPr/>
        </p:nvSpPr>
        <p:spPr>
          <a:xfrm>
            <a:off x="7021297" y="4076076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اعداد صحیح (Z)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4F55EBA-3274-D8BB-DA02-B4E962521022}"/>
              </a:ext>
            </a:extLst>
          </p:cNvPr>
          <p:cNvSpPr/>
          <p:nvPr/>
        </p:nvSpPr>
        <p:spPr>
          <a:xfrm>
            <a:off x="4901084" y="4889736"/>
            <a:ext cx="5079344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1800">
                <a:solidFill>
                  <a:srgbClr val="6699FF"/>
                </a:solidFill>
                <a:latin typeface="IRANYekanXFaNum"/>
              </a:rPr>
              <a:t>Z = {..., -2, -1, 0, 1, 2, ...} و اعداد گویا Q شامل تمام اعداد کسری قابل نمایش است.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E6C129-AFF3-C6A7-DB98-1A75AD9A4D59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028CCA7-B2A8-D6DA-1E43-9B339835300C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51" name="Circle B">
                <a:extLst>
                  <a:ext uri="{FF2B5EF4-FFF2-40B4-BE49-F238E27FC236}">
                    <a16:creationId xmlns:a16="http://schemas.microsoft.com/office/drawing/2014/main" id="{FCEC3606-3610-A30B-22D9-F3D6EAEAF5EC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53" name="Oval 73">
                  <a:extLst>
                    <a:ext uri="{FF2B5EF4-FFF2-40B4-BE49-F238E27FC236}">
                      <a16:creationId xmlns:a16="http://schemas.microsoft.com/office/drawing/2014/main" id="{765B019C-266E-0733-6041-3A7F5EFEE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54" name="Texture">
                  <a:extLst>
                    <a:ext uri="{FF2B5EF4-FFF2-40B4-BE49-F238E27FC236}">
                      <a16:creationId xmlns:a16="http://schemas.microsoft.com/office/drawing/2014/main" id="{F05C8964-3DAE-F8E0-8336-F1F5826B08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52" name="B">
                <a:extLst>
                  <a:ext uri="{FF2B5EF4-FFF2-40B4-BE49-F238E27FC236}">
                    <a16:creationId xmlns:a16="http://schemas.microsoft.com/office/drawing/2014/main" id="{0DE7E2B8-7F37-422F-BB5E-2D166AE76E3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50" name="A">
              <a:extLst>
                <a:ext uri="{FF2B5EF4-FFF2-40B4-BE49-F238E27FC236}">
                  <a16:creationId xmlns:a16="http://schemas.microsoft.com/office/drawing/2014/main" id="{4E7B8D99-8B8C-A88F-1DD8-BC5742AB8889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ADE34BE-1841-F06C-CC94-67A87B6FB5DA}"/>
              </a:ext>
            </a:extLst>
          </p:cNvPr>
          <p:cNvGrpSpPr/>
          <p:nvPr/>
        </p:nvGrpSpPr>
        <p:grpSpPr>
          <a:xfrm>
            <a:off x="-1232021" y="5769706"/>
            <a:ext cx="14656041" cy="1537429"/>
            <a:chOff x="-65557" y="5859370"/>
            <a:chExt cx="14656041" cy="1537429"/>
          </a:xfrm>
        </p:grpSpPr>
        <p:pic>
          <p:nvPicPr>
            <p:cNvPr id="3" name="Picture 2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CBBA8659-3406-0986-F1E2-8F0A3799E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57" y="5859370"/>
              <a:ext cx="3781214" cy="1475736"/>
            </a:xfrm>
            <a:prstGeom prst="rect">
              <a:avLst/>
            </a:prstGeom>
          </p:spPr>
        </p:pic>
        <p:pic>
          <p:nvPicPr>
            <p:cNvPr id="2" name="Picture 1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438C55BA-D0A7-C1D0-A7C7-4C00C2493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3014" y="5873881"/>
              <a:ext cx="3781214" cy="1475736"/>
            </a:xfrm>
            <a:prstGeom prst="rect">
              <a:avLst/>
            </a:prstGeom>
          </p:spPr>
        </p:pic>
        <p:pic>
          <p:nvPicPr>
            <p:cNvPr id="4" name="Picture 3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866A5D3B-3335-8859-D17B-C5D7B8C51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0699" y="5897472"/>
              <a:ext cx="3781214" cy="1475736"/>
            </a:xfrm>
            <a:prstGeom prst="rect">
              <a:avLst/>
            </a:prstGeom>
          </p:spPr>
        </p:pic>
        <p:pic>
          <p:nvPicPr>
            <p:cNvPr id="5" name="Picture 4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F7D80EA2-2D0F-15D2-CC77-85E36B4E2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270" y="5921063"/>
              <a:ext cx="3781214" cy="1475736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359039-092B-B57C-B4B9-22FA702C68FB}"/>
              </a:ext>
            </a:extLst>
          </p:cNvPr>
          <p:cNvSpPr/>
          <p:nvPr/>
        </p:nvSpPr>
        <p:spPr>
          <a:xfrm>
            <a:off x="217843" y="154292"/>
            <a:ext cx="8632177" cy="2241891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FC760AB-8052-8206-6BB4-AA859645BC06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9" name="Arc 111">
              <a:extLst>
                <a:ext uri="{FF2B5EF4-FFF2-40B4-BE49-F238E27FC236}">
                  <a16:creationId xmlns:a16="http://schemas.microsoft.com/office/drawing/2014/main" id="{5C80231A-121A-6073-AEE7-0C675F686A18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D7861C-6508-61A9-315A-2B5B5857D5D0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CE7AFC-DE8B-56BF-1B3F-214691FF0E34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370135-9783-2DDC-6F76-50EB4B2355B0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A690240-4F14-EA82-8585-2130EDB61C2D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511F97-473B-1C83-C998-952CE9BA833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E593CB1-7CBE-AFBC-81E2-2E79C0965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6" name="Target">
              <a:extLst>
                <a:ext uri="{FF2B5EF4-FFF2-40B4-BE49-F238E27FC236}">
                  <a16:creationId xmlns:a16="http://schemas.microsoft.com/office/drawing/2014/main" id="{22427BD3-DBE0-2B7F-4E82-FB4661CEB2D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7" name="Freeform 56">
                <a:extLst>
                  <a:ext uri="{FF2B5EF4-FFF2-40B4-BE49-F238E27FC236}">
                    <a16:creationId xmlns:a16="http://schemas.microsoft.com/office/drawing/2014/main" id="{499554C4-5618-D6E7-C3FB-6419CDEDC3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8" name="Freeform 57">
                <a:extLst>
                  <a:ext uri="{FF2B5EF4-FFF2-40B4-BE49-F238E27FC236}">
                    <a16:creationId xmlns:a16="http://schemas.microsoft.com/office/drawing/2014/main" id="{8E2969B6-0B34-508A-582A-B5775F78E5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49EAC74-E9EB-CC28-3AA0-E52951D799C6}"/>
              </a:ext>
            </a:extLst>
          </p:cNvPr>
          <p:cNvSpPr/>
          <p:nvPr/>
        </p:nvSpPr>
        <p:spPr>
          <a:xfrm>
            <a:off x="386147" y="144158"/>
            <a:ext cx="766107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  <a:defRPr>
                <a:cs typeface="IRANYekanXFaNum"/>
              </a:defRPr>
            </a:pPr>
            <a:r>
              <a:rPr sz="2400">
                <a:latin typeface="IRANYekanXFaNum"/>
              </a:rPr>
              <a:t>نمونه تمرین‌ها و پاسخ‌های تشریحی فصل اول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C11D02-153D-71B2-25C9-2BE891FD686C}"/>
              </a:ext>
            </a:extLst>
          </p:cNvPr>
          <p:cNvGrpSpPr/>
          <p:nvPr/>
        </p:nvGrpSpPr>
        <p:grpSpPr>
          <a:xfrm>
            <a:off x="7854885" y="319579"/>
            <a:ext cx="1450491" cy="1437002"/>
            <a:chOff x="7854885" y="319579"/>
            <a:chExt cx="1450491" cy="14370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4492710-6687-583A-1DBC-309B6C939D35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21" name="Circle B">
                <a:extLst>
                  <a:ext uri="{FF2B5EF4-FFF2-40B4-BE49-F238E27FC236}">
                    <a16:creationId xmlns:a16="http://schemas.microsoft.com/office/drawing/2014/main" id="{5A695C85-981E-57D1-170D-6452B59E4E96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3" name="Oval 73">
                  <a:extLst>
                    <a:ext uri="{FF2B5EF4-FFF2-40B4-BE49-F238E27FC236}">
                      <a16:creationId xmlns:a16="http://schemas.microsoft.com/office/drawing/2014/main" id="{FA6E29B6-B2BE-9F8E-A518-87FD521C0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4" name="Texture">
                  <a:extLst>
                    <a:ext uri="{FF2B5EF4-FFF2-40B4-BE49-F238E27FC236}">
                      <a16:creationId xmlns:a16="http://schemas.microsoft.com/office/drawing/2014/main" id="{3786D0C5-29E9-E7D4-FD6D-50455E8E53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2" name="B">
                <a:extLst>
                  <a:ext uri="{FF2B5EF4-FFF2-40B4-BE49-F238E27FC236}">
                    <a16:creationId xmlns:a16="http://schemas.microsoft.com/office/drawing/2014/main" id="{8AFB282B-8F8D-D010-71FD-B9697800518D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5" name="A">
              <a:extLst>
                <a:ext uri="{FF2B5EF4-FFF2-40B4-BE49-F238E27FC236}">
                  <a16:creationId xmlns:a16="http://schemas.microsoft.com/office/drawing/2014/main" id="{7F964FC6-C49E-E78B-50F5-974F313FF7D4}"/>
                </a:ext>
              </a:extLst>
            </p:cNvPr>
            <p:cNvSpPr txBox="1"/>
            <p:nvPr/>
          </p:nvSpPr>
          <p:spPr>
            <a:xfrm>
              <a:off x="7854885" y="31957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5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pic>
        <p:nvPicPr>
          <p:cNvPr id="7" name="Picture 6" descr="A black and white football ball&#10;&#10;AI-generated content may be incorrect.">
            <a:extLst>
              <a:ext uri="{FF2B5EF4-FFF2-40B4-BE49-F238E27FC236}">
                <a16:creationId xmlns:a16="http://schemas.microsoft.com/office/drawing/2014/main" id="{18E313D7-6A0A-08EB-2AB9-7DD5CB5DB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43" y="1770386"/>
            <a:ext cx="720000" cy="71884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7067C82-2AB9-A8A9-45E3-8E5F0F207528}"/>
              </a:ext>
            </a:extLst>
          </p:cNvPr>
          <p:cNvSpPr/>
          <p:nvPr/>
        </p:nvSpPr>
        <p:spPr>
          <a:xfrm>
            <a:off x="61670" y="3754752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A={2,4,6,8}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767899-BCE7-A069-FD57-FAD155C1CE3F}"/>
              </a:ext>
            </a:extLst>
          </p:cNvPr>
          <p:cNvSpPr/>
          <p:nvPr/>
        </p:nvSpPr>
        <p:spPr>
          <a:xfrm>
            <a:off x="1708722" y="4418780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B={4,8,12}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0EC0D2-4E45-C7A8-2D6C-247815BB8F30}"/>
              </a:ext>
            </a:extLst>
          </p:cNvPr>
          <p:cNvSpPr/>
          <p:nvPr/>
        </p:nvSpPr>
        <p:spPr>
          <a:xfrm>
            <a:off x="2513771" y="4451685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A∪B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CE1057-946F-C336-38AC-D875AAA7E738}"/>
              </a:ext>
            </a:extLst>
          </p:cNvPr>
          <p:cNvSpPr/>
          <p:nvPr/>
        </p:nvSpPr>
        <p:spPr>
          <a:xfrm>
            <a:off x="3436516" y="5029418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A∩B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A61E62-F2F2-7E57-AD84-C8AAB531DE2D}"/>
              </a:ext>
            </a:extLst>
          </p:cNvPr>
          <p:cNvSpPr/>
          <p:nvPr/>
        </p:nvSpPr>
        <p:spPr>
          <a:xfrm>
            <a:off x="4097118" y="5033114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C ⊆ D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2DC4F0-C4BF-876B-8A31-565504EE7BD3}"/>
              </a:ext>
            </a:extLst>
          </p:cNvPr>
          <p:cNvSpPr/>
          <p:nvPr/>
        </p:nvSpPr>
        <p:spPr>
          <a:xfrm>
            <a:off x="4694034" y="2820814"/>
            <a:ext cx="251733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A∪B={2,4,6,8,12} | A∩B={4,8}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B3B3F3-23FB-D2C7-B411-C2C623F2A9DE}"/>
              </a:ext>
            </a:extLst>
          </p:cNvPr>
          <p:cNvSpPr/>
          <p:nvPr/>
        </p:nvSpPr>
        <p:spPr>
          <a:xfrm>
            <a:off x="7048520" y="2797223"/>
            <a:ext cx="59691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800">
                <a:solidFill>
                  <a:srgbClr val="6699FF"/>
                </a:solidFill>
                <a:latin typeface="IRANYekanXFaNum"/>
              </a:rPr>
              <a:t>مجموعه C زیرمجموعه D است.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196F05-A3D7-A03A-BE6D-7A5C14681C27}"/>
              </a:ext>
            </a:extLst>
          </p:cNvPr>
          <p:cNvSpPr/>
          <p:nvPr/>
        </p:nvSpPr>
        <p:spPr>
          <a:xfrm>
            <a:off x="5165655" y="4129470"/>
            <a:ext cx="5478373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1800">
                <a:solidFill>
                  <a:srgbClr val="6699FF"/>
                </a:solidFill>
                <a:latin typeface="IRANYekanXFaNum"/>
              </a:rPr>
              <a:t>مجموعه E متناهی، مجموعه F نامتناهی و مجموعه G از نوع اعداد صحیح (Z) است.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B043795-B5E4-D4E7-041C-5E7CA741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990FDDB-F1BE-C8C1-2B0B-EB30D2B148AF}"/>
              </a:ext>
            </a:extLst>
          </p:cNvPr>
          <p:cNvSpPr/>
          <p:nvPr/>
        </p:nvSpPr>
        <p:spPr>
          <a:xfrm>
            <a:off x="1346791" y="2947119"/>
            <a:ext cx="2729024" cy="2729024"/>
          </a:xfrm>
          <a:custGeom>
            <a:avLst/>
            <a:gdLst>
              <a:gd name="csX0" fmla="*/ 0 w 2729024"/>
              <a:gd name="csY0" fmla="*/ 0 h 2729024"/>
              <a:gd name="csX1" fmla="*/ 600385 w 2729024"/>
              <a:gd name="csY1" fmla="*/ 0 h 2729024"/>
              <a:gd name="csX2" fmla="*/ 1309932 w 2729024"/>
              <a:gd name="csY2" fmla="*/ 0 h 2729024"/>
              <a:gd name="csX3" fmla="*/ 2019478 w 2729024"/>
              <a:gd name="csY3" fmla="*/ 0 h 2729024"/>
              <a:gd name="csX4" fmla="*/ 2729024 w 2729024"/>
              <a:gd name="csY4" fmla="*/ 0 h 2729024"/>
              <a:gd name="csX5" fmla="*/ 2729024 w 2729024"/>
              <a:gd name="csY5" fmla="*/ 654966 h 2729024"/>
              <a:gd name="csX6" fmla="*/ 2729024 w 2729024"/>
              <a:gd name="csY6" fmla="*/ 1282641 h 2729024"/>
              <a:gd name="csX7" fmla="*/ 2729024 w 2729024"/>
              <a:gd name="csY7" fmla="*/ 1937607 h 2729024"/>
              <a:gd name="csX8" fmla="*/ 2729024 w 2729024"/>
              <a:gd name="csY8" fmla="*/ 2729024 h 2729024"/>
              <a:gd name="csX9" fmla="*/ 1992188 w 2729024"/>
              <a:gd name="csY9" fmla="*/ 2729024 h 2729024"/>
              <a:gd name="csX10" fmla="*/ 1391802 w 2729024"/>
              <a:gd name="csY10" fmla="*/ 2729024 h 2729024"/>
              <a:gd name="csX11" fmla="*/ 736836 w 2729024"/>
              <a:gd name="csY11" fmla="*/ 2729024 h 2729024"/>
              <a:gd name="csX12" fmla="*/ 0 w 2729024"/>
              <a:gd name="csY12" fmla="*/ 2729024 h 2729024"/>
              <a:gd name="csX13" fmla="*/ 0 w 2729024"/>
              <a:gd name="csY13" fmla="*/ 2019478 h 2729024"/>
              <a:gd name="csX14" fmla="*/ 0 w 2729024"/>
              <a:gd name="csY14" fmla="*/ 1337222 h 2729024"/>
              <a:gd name="csX15" fmla="*/ 0 w 2729024"/>
              <a:gd name="csY15" fmla="*/ 627676 h 2729024"/>
              <a:gd name="csX16" fmla="*/ 0 w 2729024"/>
              <a:gd name="csY16" fmla="*/ 0 h 2729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29024" h="2729024" extrusionOk="0">
                <a:moveTo>
                  <a:pt x="0" y="0"/>
                </a:moveTo>
                <a:cubicBezTo>
                  <a:pt x="252301" y="23250"/>
                  <a:pt x="339787" y="6455"/>
                  <a:pt x="600385" y="0"/>
                </a:cubicBezTo>
                <a:cubicBezTo>
                  <a:pt x="860983" y="-6455"/>
                  <a:pt x="1041574" y="-6812"/>
                  <a:pt x="1309932" y="0"/>
                </a:cubicBezTo>
                <a:cubicBezTo>
                  <a:pt x="1578290" y="6812"/>
                  <a:pt x="1808525" y="11632"/>
                  <a:pt x="2019478" y="0"/>
                </a:cubicBezTo>
                <a:cubicBezTo>
                  <a:pt x="2230431" y="-11632"/>
                  <a:pt x="2558256" y="-34876"/>
                  <a:pt x="2729024" y="0"/>
                </a:cubicBezTo>
                <a:cubicBezTo>
                  <a:pt x="2715939" y="191452"/>
                  <a:pt x="2747960" y="374437"/>
                  <a:pt x="2729024" y="654966"/>
                </a:cubicBezTo>
                <a:cubicBezTo>
                  <a:pt x="2710088" y="935495"/>
                  <a:pt x="2759955" y="1154342"/>
                  <a:pt x="2729024" y="1282641"/>
                </a:cubicBezTo>
                <a:cubicBezTo>
                  <a:pt x="2698093" y="1410941"/>
                  <a:pt x="2740914" y="1639314"/>
                  <a:pt x="2729024" y="1937607"/>
                </a:cubicBezTo>
                <a:cubicBezTo>
                  <a:pt x="2717134" y="2235900"/>
                  <a:pt x="2742193" y="2468989"/>
                  <a:pt x="2729024" y="2729024"/>
                </a:cubicBezTo>
                <a:cubicBezTo>
                  <a:pt x="2414713" y="2733355"/>
                  <a:pt x="2294947" y="2754724"/>
                  <a:pt x="1992188" y="2729024"/>
                </a:cubicBezTo>
                <a:cubicBezTo>
                  <a:pt x="1689429" y="2703324"/>
                  <a:pt x="1671511" y="2708319"/>
                  <a:pt x="1391802" y="2729024"/>
                </a:cubicBezTo>
                <a:cubicBezTo>
                  <a:pt x="1112093" y="2749729"/>
                  <a:pt x="1041438" y="2759833"/>
                  <a:pt x="736836" y="2729024"/>
                </a:cubicBezTo>
                <a:cubicBezTo>
                  <a:pt x="432234" y="2698215"/>
                  <a:pt x="340047" y="2749858"/>
                  <a:pt x="0" y="2729024"/>
                </a:cubicBezTo>
                <a:cubicBezTo>
                  <a:pt x="-33608" y="2408449"/>
                  <a:pt x="-732" y="2226247"/>
                  <a:pt x="0" y="2019478"/>
                </a:cubicBezTo>
                <a:cubicBezTo>
                  <a:pt x="732" y="1812709"/>
                  <a:pt x="19661" y="1562186"/>
                  <a:pt x="0" y="1337222"/>
                </a:cubicBezTo>
                <a:cubicBezTo>
                  <a:pt x="-19661" y="1112258"/>
                  <a:pt x="-2050" y="863482"/>
                  <a:pt x="0" y="627676"/>
                </a:cubicBezTo>
                <a:cubicBezTo>
                  <a:pt x="2050" y="391870"/>
                  <a:pt x="1901" y="16788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472351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2C3296-9CBF-A7FF-E530-09F64930F6A5}"/>
              </a:ext>
            </a:extLst>
          </p:cNvPr>
          <p:cNvSpPr/>
          <p:nvPr/>
        </p:nvSpPr>
        <p:spPr>
          <a:xfrm rot="18884390">
            <a:off x="1107235" y="3675076"/>
            <a:ext cx="3208137" cy="1473088"/>
          </a:xfrm>
          <a:custGeom>
            <a:avLst/>
            <a:gdLst>
              <a:gd name="csX0" fmla="*/ 0 w 3208137"/>
              <a:gd name="csY0" fmla="*/ 0 h 1473088"/>
              <a:gd name="csX1" fmla="*/ 609546 w 3208137"/>
              <a:gd name="csY1" fmla="*/ 0 h 1473088"/>
              <a:gd name="csX2" fmla="*/ 1187011 w 3208137"/>
              <a:gd name="csY2" fmla="*/ 0 h 1473088"/>
              <a:gd name="csX3" fmla="*/ 1828638 w 3208137"/>
              <a:gd name="csY3" fmla="*/ 0 h 1473088"/>
              <a:gd name="csX4" fmla="*/ 2438184 w 3208137"/>
              <a:gd name="csY4" fmla="*/ 0 h 1473088"/>
              <a:gd name="csX5" fmla="*/ 3208137 w 3208137"/>
              <a:gd name="csY5" fmla="*/ 0 h 1473088"/>
              <a:gd name="csX6" fmla="*/ 3208137 w 3208137"/>
              <a:gd name="csY6" fmla="*/ 461568 h 1473088"/>
              <a:gd name="csX7" fmla="*/ 3208137 w 3208137"/>
              <a:gd name="csY7" fmla="*/ 967328 h 1473088"/>
              <a:gd name="csX8" fmla="*/ 3208137 w 3208137"/>
              <a:gd name="csY8" fmla="*/ 1473088 h 1473088"/>
              <a:gd name="csX9" fmla="*/ 2566510 w 3208137"/>
              <a:gd name="csY9" fmla="*/ 1473088 h 1473088"/>
              <a:gd name="csX10" fmla="*/ 1860719 w 3208137"/>
              <a:gd name="csY10" fmla="*/ 1473088 h 1473088"/>
              <a:gd name="csX11" fmla="*/ 1187011 w 3208137"/>
              <a:gd name="csY11" fmla="*/ 1473088 h 1473088"/>
              <a:gd name="csX12" fmla="*/ 0 w 3208137"/>
              <a:gd name="csY12" fmla="*/ 1473088 h 1473088"/>
              <a:gd name="csX13" fmla="*/ 0 w 3208137"/>
              <a:gd name="csY13" fmla="*/ 967328 h 1473088"/>
              <a:gd name="csX14" fmla="*/ 0 w 3208137"/>
              <a:gd name="csY14" fmla="*/ 520491 h 1473088"/>
              <a:gd name="csX15" fmla="*/ 0 w 3208137"/>
              <a:gd name="csY15" fmla="*/ 0 h 147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208137" h="1473088" extrusionOk="0">
                <a:moveTo>
                  <a:pt x="0" y="0"/>
                </a:moveTo>
                <a:cubicBezTo>
                  <a:pt x="211432" y="-13955"/>
                  <a:pt x="366966" y="-25463"/>
                  <a:pt x="609546" y="0"/>
                </a:cubicBezTo>
                <a:cubicBezTo>
                  <a:pt x="852126" y="25463"/>
                  <a:pt x="923512" y="-16690"/>
                  <a:pt x="1187011" y="0"/>
                </a:cubicBezTo>
                <a:cubicBezTo>
                  <a:pt x="1450511" y="16690"/>
                  <a:pt x="1531157" y="3621"/>
                  <a:pt x="1828638" y="0"/>
                </a:cubicBezTo>
                <a:cubicBezTo>
                  <a:pt x="2126119" y="-3621"/>
                  <a:pt x="2150094" y="27174"/>
                  <a:pt x="2438184" y="0"/>
                </a:cubicBezTo>
                <a:cubicBezTo>
                  <a:pt x="2726274" y="-27174"/>
                  <a:pt x="2893556" y="-30000"/>
                  <a:pt x="3208137" y="0"/>
                </a:cubicBezTo>
                <a:cubicBezTo>
                  <a:pt x="3222393" y="129608"/>
                  <a:pt x="3207235" y="237215"/>
                  <a:pt x="3208137" y="461568"/>
                </a:cubicBezTo>
                <a:cubicBezTo>
                  <a:pt x="3209039" y="685921"/>
                  <a:pt x="3194675" y="735585"/>
                  <a:pt x="3208137" y="967328"/>
                </a:cubicBezTo>
                <a:cubicBezTo>
                  <a:pt x="3221599" y="1199071"/>
                  <a:pt x="3221743" y="1306526"/>
                  <a:pt x="3208137" y="1473088"/>
                </a:cubicBezTo>
                <a:cubicBezTo>
                  <a:pt x="3068243" y="1485725"/>
                  <a:pt x="2706897" y="1463106"/>
                  <a:pt x="2566510" y="1473088"/>
                </a:cubicBezTo>
                <a:cubicBezTo>
                  <a:pt x="2426123" y="1483070"/>
                  <a:pt x="2055084" y="1462422"/>
                  <a:pt x="1860719" y="1473088"/>
                </a:cubicBezTo>
                <a:cubicBezTo>
                  <a:pt x="1666354" y="1483754"/>
                  <a:pt x="1373964" y="1446691"/>
                  <a:pt x="1187011" y="1473088"/>
                </a:cubicBezTo>
                <a:cubicBezTo>
                  <a:pt x="1000058" y="1499485"/>
                  <a:pt x="415012" y="1422003"/>
                  <a:pt x="0" y="1473088"/>
                </a:cubicBezTo>
                <a:cubicBezTo>
                  <a:pt x="18015" y="1233542"/>
                  <a:pt x="19371" y="1204267"/>
                  <a:pt x="0" y="967328"/>
                </a:cubicBezTo>
                <a:cubicBezTo>
                  <a:pt x="-19371" y="730389"/>
                  <a:pt x="-10632" y="696867"/>
                  <a:pt x="0" y="520491"/>
                </a:cubicBezTo>
                <a:cubicBezTo>
                  <a:pt x="10632" y="344115"/>
                  <a:pt x="10621" y="11062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23183405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D1E547-370E-1247-2994-0DCD71457E0A}"/>
              </a:ext>
            </a:extLst>
          </p:cNvPr>
          <p:cNvSpPr/>
          <p:nvPr/>
        </p:nvSpPr>
        <p:spPr>
          <a:xfrm>
            <a:off x="4407848" y="3012864"/>
            <a:ext cx="5451999" cy="1481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1400">
                <a:solidFill>
                  <a:srgbClr val="6699FF"/>
                </a:solidFill>
                <a:latin typeface="IRANYekanXFaNum"/>
              </a:rPr>
              <a:t>• مطالعه منظم: اختصاص زمان ثابت و روزانه برای تمرین مستمر</a:t>
            </a:r>
          </a:p>
          <a:p>
            <a:pPr algn="r" rtl="1">
              <a:defRPr>
                <a:cs typeface="IRANYekanXFaNum"/>
              </a:defRPr>
            </a:pPr>
            <a:r>
              <a:rPr sz="1400">
                <a:solidFill>
                  <a:srgbClr val="6699FF"/>
                </a:solidFill>
                <a:latin typeface="IRANYekanXFaNum"/>
              </a:rPr>
              <a:t>• حل مسائل متنوع: حل تمرینات تکمیلی و چالش‌برانگیز</a:t>
            </a:r>
          </a:p>
          <a:p>
            <a:pPr algn="r" rtl="1">
              <a:defRPr>
                <a:cs typeface="IRANYekanXFaNum"/>
              </a:defRPr>
            </a:pPr>
            <a:r>
              <a:rPr sz="1400">
                <a:solidFill>
                  <a:srgbClr val="6699FF"/>
                </a:solidFill>
                <a:latin typeface="IRANYekanXFaNum"/>
              </a:rPr>
              <a:t>• ویدیوهای آموزشی: تثبیت مفاهیم با محتوای تصویری تعاملی</a:t>
            </a:r>
          </a:p>
          <a:p>
            <a:pPr algn="r" rtl="1">
              <a:defRPr>
                <a:cs typeface="IRANYekanXFaNum"/>
              </a:defRPr>
            </a:pPr>
            <a:r>
              <a:rPr sz="1400">
                <a:solidFill>
                  <a:srgbClr val="6699FF"/>
                </a:solidFill>
                <a:latin typeface="IRANYekanXFaNum"/>
              </a:rPr>
              <a:t>• مشارکت فعال: پرسشگری کلاسی و تعامل هدفمند با معلم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854557-8636-4B8A-C981-1D4CBD738CE8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C85A25-6672-62DC-4DEB-B9AD2E1C3AD7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14" name="Arc 111">
              <a:extLst>
                <a:ext uri="{FF2B5EF4-FFF2-40B4-BE49-F238E27FC236}">
                  <a16:creationId xmlns:a16="http://schemas.microsoft.com/office/drawing/2014/main" id="{89F2BFF0-9122-AD45-54ED-80821F97F19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9F5F10-03B7-82EC-D40F-C059D6D07FBE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B3110BD-8E52-6322-6FCF-D3DCA3CFF01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AD962C5-6394-E61B-8104-4BBEE5737DA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DF7367A-8947-38BC-9E13-FF61388F0877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A39E91-E4FE-7886-173D-996090D74DE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00EEF2D-AF4B-3FA8-E2F8-55997EB26D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41" name="Target">
              <a:extLst>
                <a:ext uri="{FF2B5EF4-FFF2-40B4-BE49-F238E27FC236}">
                  <a16:creationId xmlns:a16="http://schemas.microsoft.com/office/drawing/2014/main" id="{AA3723C3-E4A2-AD8A-163E-12A186E7EFBF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42" name="Freeform 56">
                <a:extLst>
                  <a:ext uri="{FF2B5EF4-FFF2-40B4-BE49-F238E27FC236}">
                    <a16:creationId xmlns:a16="http://schemas.microsoft.com/office/drawing/2014/main" id="{56BB2DD1-3053-5F6B-6241-21BF818989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3" name="Freeform 57">
                <a:extLst>
                  <a:ext uri="{FF2B5EF4-FFF2-40B4-BE49-F238E27FC236}">
                    <a16:creationId xmlns:a16="http://schemas.microsoft.com/office/drawing/2014/main" id="{4313FFB8-014D-EC31-3F0B-036A3EA32A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D114B82D-F220-F7C2-48AE-51B8C1005E7C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400">
                <a:latin typeface="IRANYekanXFaNum"/>
              </a:rPr>
              <a:t>راهبردهای طلایی برای موفقیت در یادگیری ریاضی هفتم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D31017-41EB-B514-E280-E4D6CC94F70A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559995A-EAB2-7CCE-D18D-0748BDDFF8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46" name="Circle B">
                <a:extLst>
                  <a:ext uri="{FF2B5EF4-FFF2-40B4-BE49-F238E27FC236}">
                    <a16:creationId xmlns:a16="http://schemas.microsoft.com/office/drawing/2014/main" id="{56317313-7CFD-4E51-B735-3F8C56FAB73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48" name="Oval 73">
                  <a:extLst>
                    <a:ext uri="{FF2B5EF4-FFF2-40B4-BE49-F238E27FC236}">
                      <a16:creationId xmlns:a16="http://schemas.microsoft.com/office/drawing/2014/main" id="{0FD60FBD-611E-D8F7-4859-C46889C71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9" name="Texture">
                  <a:extLst>
                    <a:ext uri="{FF2B5EF4-FFF2-40B4-BE49-F238E27FC236}">
                      <a16:creationId xmlns:a16="http://schemas.microsoft.com/office/drawing/2014/main" id="{20EACB86-7EFA-E71A-08D2-E528EB83A2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47" name="B">
                <a:extLst>
                  <a:ext uri="{FF2B5EF4-FFF2-40B4-BE49-F238E27FC236}">
                    <a16:creationId xmlns:a16="http://schemas.microsoft.com/office/drawing/2014/main" id="{E136C243-C1FF-F857-A7F6-A761FF8D766F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0" name="A">
              <a:extLst>
                <a:ext uri="{FF2B5EF4-FFF2-40B4-BE49-F238E27FC236}">
                  <a16:creationId xmlns:a16="http://schemas.microsoft.com/office/drawing/2014/main" id="{F99BE6EB-0367-F82B-21DC-3BDDE73F891D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ree with apples on it&#10;&#10;AI-generated content may be incorrect.">
            <a:extLst>
              <a:ext uri="{FF2B5EF4-FFF2-40B4-BE49-F238E27FC236}">
                <a16:creationId xmlns:a16="http://schemas.microsoft.com/office/drawing/2014/main" id="{300ECE13-0000-AFB6-7ADD-39D74C3A21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1372" y="-12160603"/>
            <a:ext cx="20508459" cy="20388057"/>
          </a:xfrm>
          <a:prstGeom prst="rect">
            <a:avLst/>
          </a:prstGeom>
          <a:effectLst>
            <a:outerShdw dir="5400000" sx="1000" sy="1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Picture 4" descr="A cartoon snail with a hat and scarf&#10;&#10;AI-generated content may be incorrect.">
            <a:extLst>
              <a:ext uri="{FF2B5EF4-FFF2-40B4-BE49-F238E27FC236}">
                <a16:creationId xmlns:a16="http://schemas.microsoft.com/office/drawing/2014/main" id="{7CC79212-680C-C553-0F65-9D896891E4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61" y="4560152"/>
            <a:ext cx="1740655" cy="2143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BE8A66-06D8-B652-8211-A678612FFAC9}"/>
              </a:ext>
            </a:extLst>
          </p:cNvPr>
          <p:cNvSpPr txBox="1"/>
          <p:nvPr/>
        </p:nvSpPr>
        <p:spPr>
          <a:xfrm>
            <a:off x="386147" y="379607"/>
            <a:ext cx="7595610" cy="179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  <a:defRPr>
                <a:cs typeface="IRANYekanXFaNum"/>
              </a:defRPr>
            </a:pPr>
            <a:r>
              <a:rPr sz="2400">
                <a:latin typeface="IRANYekanXFaNum"/>
              </a:rPr>
              <a:t>جمع‌بندی فصل اول و منابع تکمیلی یادگیری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ABDA6C-EEC1-E6CF-8E79-F49A36783150}"/>
              </a:ext>
            </a:extLst>
          </p:cNvPr>
          <p:cNvSpPr/>
          <p:nvPr/>
        </p:nvSpPr>
        <p:spPr>
          <a:xfrm>
            <a:off x="217843" y="154292"/>
            <a:ext cx="8632177" cy="2241891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59B180-745F-CA38-A14B-104577B97D17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7" name="Arc 111">
              <a:extLst>
                <a:ext uri="{FF2B5EF4-FFF2-40B4-BE49-F238E27FC236}">
                  <a16:creationId xmlns:a16="http://schemas.microsoft.com/office/drawing/2014/main" id="{E5DF2C83-F3A8-B2A3-0F9B-A1174D1661A1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FA926C4-295A-355D-C969-6192025B1702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526FE4-AE86-C75A-9436-29916BC5F6E9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A1C8FE-A9FD-ECFE-1949-DD81A742C073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2F1E538-145A-44A1-4F74-B3B25623ADAC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AA3B28-251B-F3C4-D864-4A7AC5F7257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152C20A-90D8-7448-2B8A-F4C7261762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4" name="Target">
              <a:extLst>
                <a:ext uri="{FF2B5EF4-FFF2-40B4-BE49-F238E27FC236}">
                  <a16:creationId xmlns:a16="http://schemas.microsoft.com/office/drawing/2014/main" id="{89CC4398-7BFE-ACD1-7AD0-D5C108AFA17E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5" name="Freeform 56">
                <a:extLst>
                  <a:ext uri="{FF2B5EF4-FFF2-40B4-BE49-F238E27FC236}">
                    <a16:creationId xmlns:a16="http://schemas.microsoft.com/office/drawing/2014/main" id="{53642EA8-8F66-81DA-385A-C4D710B9B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6" name="Freeform 57">
                <a:extLst>
                  <a:ext uri="{FF2B5EF4-FFF2-40B4-BE49-F238E27FC236}">
                    <a16:creationId xmlns:a16="http://schemas.microsoft.com/office/drawing/2014/main" id="{19F776F6-1C45-BB2D-9092-CE65EA9C4C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94DE40-3EB4-FDBD-490E-D92C60CA5E02}"/>
              </a:ext>
            </a:extLst>
          </p:cNvPr>
          <p:cNvGrpSpPr/>
          <p:nvPr/>
        </p:nvGrpSpPr>
        <p:grpSpPr>
          <a:xfrm>
            <a:off x="7883916" y="345745"/>
            <a:ext cx="1421460" cy="1410836"/>
            <a:chOff x="7883916" y="345745"/>
            <a:chExt cx="1421460" cy="141083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D2A835C-592F-524C-0DD7-E30D1A1920C1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19" name="Circle B">
                <a:extLst>
                  <a:ext uri="{FF2B5EF4-FFF2-40B4-BE49-F238E27FC236}">
                    <a16:creationId xmlns:a16="http://schemas.microsoft.com/office/drawing/2014/main" id="{93B45622-35C3-FA6D-EC08-93FD30709C10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1" name="Oval 73">
                  <a:extLst>
                    <a:ext uri="{FF2B5EF4-FFF2-40B4-BE49-F238E27FC236}">
                      <a16:creationId xmlns:a16="http://schemas.microsoft.com/office/drawing/2014/main" id="{53F97A58-9569-215B-7D3B-3F65969A0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2" name="Texture">
                  <a:extLst>
                    <a:ext uri="{FF2B5EF4-FFF2-40B4-BE49-F238E27FC236}">
                      <a16:creationId xmlns:a16="http://schemas.microsoft.com/office/drawing/2014/main" id="{73978001-8A02-80C9-39AC-F3E250DCEB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0" name="B">
                <a:extLst>
                  <a:ext uri="{FF2B5EF4-FFF2-40B4-BE49-F238E27FC236}">
                    <a16:creationId xmlns:a16="http://schemas.microsoft.com/office/drawing/2014/main" id="{1D853462-D86A-D664-8D2E-BDFC41F3A20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3" name="A">
              <a:extLst>
                <a:ext uri="{FF2B5EF4-FFF2-40B4-BE49-F238E27FC236}">
                  <a16:creationId xmlns:a16="http://schemas.microsoft.com/office/drawing/2014/main" id="{C06E946D-2A80-422C-10DD-655BEAF642C6}"/>
                </a:ext>
              </a:extLst>
            </p:cNvPr>
            <p:cNvSpPr txBox="1"/>
            <p:nvPr/>
          </p:nvSpPr>
          <p:spPr>
            <a:xfrm>
              <a:off x="7883916" y="345745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7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6C690C-2D6D-A1DD-C459-049E77DFE65F}"/>
              </a:ext>
            </a:extLst>
          </p:cNvPr>
          <p:cNvGrpSpPr/>
          <p:nvPr/>
        </p:nvGrpSpPr>
        <p:grpSpPr>
          <a:xfrm>
            <a:off x="1953078" y="3370217"/>
            <a:ext cx="559749" cy="3322014"/>
            <a:chOff x="1953078" y="3370217"/>
            <a:chExt cx="559749" cy="3322014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F496103-69BC-6293-60EE-F0964E54A8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850" y="6538346"/>
              <a:ext cx="318977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4605CA4-1FFD-463B-456A-4382C1D97E8B}"/>
                </a:ext>
              </a:extLst>
            </p:cNvPr>
            <p:cNvGrpSpPr/>
            <p:nvPr/>
          </p:nvGrpSpPr>
          <p:grpSpPr>
            <a:xfrm>
              <a:off x="1953078" y="3370217"/>
              <a:ext cx="559749" cy="3322014"/>
              <a:chOff x="1953078" y="3370217"/>
              <a:chExt cx="559749" cy="3322014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EDEE12A-394D-A7C6-CC88-83915A5192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53338" y="3370217"/>
                <a:ext cx="1" cy="3174919"/>
              </a:xfrm>
              <a:prstGeom prst="straightConnector1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4DAF6FF-1970-F532-BDAD-E24BFDDB6B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6213987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112C452-D429-C158-89D8-310970CDCE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889631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D58B07C-2D09-DBE5-B30C-3929AA3445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565275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A19019D2-7361-E8E6-7DFD-D65A9348FC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240919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55B1F26D-2614-C746-A81B-B79FEA71C6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916563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1794D7B-718C-4148-535B-26C8BCAD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592207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BFDA172-445F-6536-20CE-6FB950E5F9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267851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C5B704B-41E1-B9AD-BFF9-1DB14CD951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3943495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9BD59A-9A2E-4632-79BB-57DC4F67763C}"/>
                  </a:ext>
                </a:extLst>
              </p:cNvPr>
              <p:cNvSpPr txBox="1"/>
              <p:nvPr/>
            </p:nvSpPr>
            <p:spPr>
              <a:xfrm>
                <a:off x="1958661" y="6353677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0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FBC60B1-C11B-2519-2E15-C4AF1F898E68}"/>
                  </a:ext>
                </a:extLst>
              </p:cNvPr>
              <p:cNvSpPr txBox="1"/>
              <p:nvPr/>
            </p:nvSpPr>
            <p:spPr>
              <a:xfrm>
                <a:off x="1953078" y="6008334"/>
                <a:ext cx="2407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1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132FC97-1AE4-5F9F-72AA-6539FD480F25}"/>
                  </a:ext>
                </a:extLst>
              </p:cNvPr>
              <p:cNvSpPr txBox="1"/>
              <p:nvPr/>
            </p:nvSpPr>
            <p:spPr>
              <a:xfrm>
                <a:off x="1953078" y="5691298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2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EE33A22-35DE-95D6-E2D7-0DA742229172}"/>
                  </a:ext>
                </a:extLst>
              </p:cNvPr>
              <p:cNvSpPr txBox="1"/>
              <p:nvPr/>
            </p:nvSpPr>
            <p:spPr>
              <a:xfrm>
                <a:off x="1956623" y="5361510"/>
                <a:ext cx="3241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3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34AE5F5-3004-C3FC-DA00-86727BE0D1FC}"/>
                  </a:ext>
                </a:extLst>
              </p:cNvPr>
              <p:cNvSpPr txBox="1"/>
              <p:nvPr/>
            </p:nvSpPr>
            <p:spPr>
              <a:xfrm>
                <a:off x="1956623" y="5033282"/>
                <a:ext cx="3161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4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E436742-9C01-507C-CC73-763DB3A87453}"/>
                  </a:ext>
                </a:extLst>
              </p:cNvPr>
              <p:cNvSpPr txBox="1"/>
              <p:nvPr/>
            </p:nvSpPr>
            <p:spPr>
              <a:xfrm>
                <a:off x="1957985" y="4705487"/>
                <a:ext cx="3129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5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ECCFBB6-7108-DB92-BA35-FE2564D3E25B}"/>
                  </a:ext>
                </a:extLst>
              </p:cNvPr>
              <p:cNvSpPr txBox="1"/>
              <p:nvPr/>
            </p:nvSpPr>
            <p:spPr>
              <a:xfrm>
                <a:off x="1953078" y="4379221"/>
                <a:ext cx="2952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6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B3FCC65-61E8-5D93-1C08-BF65BFC2C2B7}"/>
                  </a:ext>
                </a:extLst>
              </p:cNvPr>
              <p:cNvSpPr txBox="1"/>
              <p:nvPr/>
            </p:nvSpPr>
            <p:spPr>
              <a:xfrm>
                <a:off x="1953078" y="4055809"/>
                <a:ext cx="3097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7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1C6A06F-2DC7-9CA8-FE17-2C7A352BAB25}"/>
                  </a:ext>
                </a:extLst>
              </p:cNvPr>
              <p:cNvSpPr txBox="1"/>
              <p:nvPr/>
            </p:nvSpPr>
            <p:spPr>
              <a:xfrm>
                <a:off x="1953078" y="3739730"/>
                <a:ext cx="3097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8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</p:grp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69358336-3715-81BF-9AF2-B6D8A0947321}"/>
              </a:ext>
            </a:extLst>
          </p:cNvPr>
          <p:cNvSpPr/>
          <p:nvPr/>
        </p:nvSpPr>
        <p:spPr>
          <a:xfrm>
            <a:off x="6011634" y="4073763"/>
            <a:ext cx="2902665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1800">
                <a:solidFill>
                  <a:srgbClr val="6699FF"/>
                </a:solidFill>
                <a:latin typeface="IRANYekanXFaNum"/>
              </a:rPr>
              <a:t>دسترسی به آموزش‌های رایگان، ویدیوهای تحلیلی و بانک نمونه سوالات در سایت موسسه آموزشی جهت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ree with apples on it&#10;&#10;AI-generated content may be incorrect.">
            <a:extLst>
              <a:ext uri="{FF2B5EF4-FFF2-40B4-BE49-F238E27FC236}">
                <a16:creationId xmlns:a16="http://schemas.microsoft.com/office/drawing/2014/main" id="{300ECE13-0000-AFB6-7ADD-39D74C3A21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1372" y="-12160603"/>
            <a:ext cx="20508459" cy="20388057"/>
          </a:xfrm>
          <a:prstGeom prst="rect">
            <a:avLst/>
          </a:prstGeom>
          <a:effectLst>
            <a:outerShdw dir="5400000" sx="1000" sy="1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Picture 4" descr="A cartoon snail with a hat and scarf&#10;&#10;AI-generated content may be incorrect.">
            <a:extLst>
              <a:ext uri="{FF2B5EF4-FFF2-40B4-BE49-F238E27FC236}">
                <a16:creationId xmlns:a16="http://schemas.microsoft.com/office/drawing/2014/main" id="{7CC79212-680C-C553-0F65-9D896891E4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61" y="4560152"/>
            <a:ext cx="1740655" cy="2143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BE8A66-06D8-B652-8211-A678612FFAC9}"/>
              </a:ext>
            </a:extLst>
          </p:cNvPr>
          <p:cNvSpPr txBox="1"/>
          <p:nvPr/>
        </p:nvSpPr>
        <p:spPr>
          <a:xfrm>
            <a:off x="386147" y="379607"/>
            <a:ext cx="7595610" cy="179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حلزونی پایین یک درخت 7 متری قرار دارد. او روز ها 3 متر از درخت بالا می رود و شب ها موقع استراحت 2 متر به سمت پایین لیز می خورد. حلزون در روز چندم به بالای درخت می رسد؟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ABDA6C-EEC1-E6CF-8E79-F49A36783150}"/>
              </a:ext>
            </a:extLst>
          </p:cNvPr>
          <p:cNvSpPr/>
          <p:nvPr/>
        </p:nvSpPr>
        <p:spPr>
          <a:xfrm>
            <a:off x="217843" y="154292"/>
            <a:ext cx="8632177" cy="2241891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59B180-745F-CA38-A14B-104577B97D17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7" name="Arc 111">
              <a:extLst>
                <a:ext uri="{FF2B5EF4-FFF2-40B4-BE49-F238E27FC236}">
                  <a16:creationId xmlns:a16="http://schemas.microsoft.com/office/drawing/2014/main" id="{E5DF2C83-F3A8-B2A3-0F9B-A1174D1661A1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FA926C4-295A-355D-C969-6192025B1702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526FE4-AE86-C75A-9436-29916BC5F6E9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A1C8FE-A9FD-ECFE-1949-DD81A742C073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2F1E538-145A-44A1-4F74-B3B25623ADAC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AA3B28-251B-F3C4-D864-4A7AC5F7257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152C20A-90D8-7448-2B8A-F4C7261762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4" name="Target">
              <a:extLst>
                <a:ext uri="{FF2B5EF4-FFF2-40B4-BE49-F238E27FC236}">
                  <a16:creationId xmlns:a16="http://schemas.microsoft.com/office/drawing/2014/main" id="{89CC4398-7BFE-ACD1-7AD0-D5C108AFA17E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5" name="Freeform 56">
                <a:extLst>
                  <a:ext uri="{FF2B5EF4-FFF2-40B4-BE49-F238E27FC236}">
                    <a16:creationId xmlns:a16="http://schemas.microsoft.com/office/drawing/2014/main" id="{53642EA8-8F66-81DA-385A-C4D710B9B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6" name="Freeform 57">
                <a:extLst>
                  <a:ext uri="{FF2B5EF4-FFF2-40B4-BE49-F238E27FC236}">
                    <a16:creationId xmlns:a16="http://schemas.microsoft.com/office/drawing/2014/main" id="{19F776F6-1C45-BB2D-9092-CE65EA9C4C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94DE40-3EB4-FDBD-490E-D92C60CA5E02}"/>
              </a:ext>
            </a:extLst>
          </p:cNvPr>
          <p:cNvGrpSpPr/>
          <p:nvPr/>
        </p:nvGrpSpPr>
        <p:grpSpPr>
          <a:xfrm>
            <a:off x="7883916" y="345745"/>
            <a:ext cx="1421460" cy="1410836"/>
            <a:chOff x="7883916" y="345745"/>
            <a:chExt cx="1421460" cy="141083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D2A835C-592F-524C-0DD7-E30D1A1920C1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19" name="Circle B">
                <a:extLst>
                  <a:ext uri="{FF2B5EF4-FFF2-40B4-BE49-F238E27FC236}">
                    <a16:creationId xmlns:a16="http://schemas.microsoft.com/office/drawing/2014/main" id="{93B45622-35C3-FA6D-EC08-93FD30709C10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1" name="Oval 73">
                  <a:extLst>
                    <a:ext uri="{FF2B5EF4-FFF2-40B4-BE49-F238E27FC236}">
                      <a16:creationId xmlns:a16="http://schemas.microsoft.com/office/drawing/2014/main" id="{53F97A58-9569-215B-7D3B-3F65969A0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2" name="Texture">
                  <a:extLst>
                    <a:ext uri="{FF2B5EF4-FFF2-40B4-BE49-F238E27FC236}">
                      <a16:creationId xmlns:a16="http://schemas.microsoft.com/office/drawing/2014/main" id="{73978001-8A02-80C9-39AC-F3E250DCEB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0" name="B">
                <a:extLst>
                  <a:ext uri="{FF2B5EF4-FFF2-40B4-BE49-F238E27FC236}">
                    <a16:creationId xmlns:a16="http://schemas.microsoft.com/office/drawing/2014/main" id="{1D853462-D86A-D664-8D2E-BDFC41F3A20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3" name="A">
              <a:extLst>
                <a:ext uri="{FF2B5EF4-FFF2-40B4-BE49-F238E27FC236}">
                  <a16:creationId xmlns:a16="http://schemas.microsoft.com/office/drawing/2014/main" id="{C06E946D-2A80-422C-10DD-655BEAF642C6}"/>
                </a:ext>
              </a:extLst>
            </p:cNvPr>
            <p:cNvSpPr txBox="1"/>
            <p:nvPr/>
          </p:nvSpPr>
          <p:spPr>
            <a:xfrm>
              <a:off x="7883916" y="345745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7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8C7139-7082-BC9D-FACA-44E5A520599D}"/>
              </a:ext>
            </a:extLst>
          </p:cNvPr>
          <p:cNvCxnSpPr>
            <a:cxnSpLocks/>
          </p:cNvCxnSpPr>
          <p:nvPr/>
        </p:nvCxnSpPr>
        <p:spPr>
          <a:xfrm flipV="1">
            <a:off x="2707757" y="5565275"/>
            <a:ext cx="0" cy="979861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C91A47-C63B-F6C0-5996-00582111EA23}"/>
              </a:ext>
            </a:extLst>
          </p:cNvPr>
          <p:cNvCxnSpPr>
            <a:cxnSpLocks/>
          </p:cNvCxnSpPr>
          <p:nvPr/>
        </p:nvCxnSpPr>
        <p:spPr>
          <a:xfrm flipV="1">
            <a:off x="3047999" y="5565275"/>
            <a:ext cx="0" cy="648712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6C690C-2D6D-A1DD-C459-049E77DFE65F}"/>
              </a:ext>
            </a:extLst>
          </p:cNvPr>
          <p:cNvGrpSpPr/>
          <p:nvPr/>
        </p:nvGrpSpPr>
        <p:grpSpPr>
          <a:xfrm>
            <a:off x="1953078" y="3370217"/>
            <a:ext cx="559749" cy="3322014"/>
            <a:chOff x="1953078" y="3370217"/>
            <a:chExt cx="559749" cy="3322014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F496103-69BC-6293-60EE-F0964E54A8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850" y="6538346"/>
              <a:ext cx="318977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4605CA4-1FFD-463B-456A-4382C1D97E8B}"/>
                </a:ext>
              </a:extLst>
            </p:cNvPr>
            <p:cNvGrpSpPr/>
            <p:nvPr/>
          </p:nvGrpSpPr>
          <p:grpSpPr>
            <a:xfrm>
              <a:off x="1953078" y="3370217"/>
              <a:ext cx="559749" cy="3322014"/>
              <a:chOff x="1953078" y="3370217"/>
              <a:chExt cx="559749" cy="3322014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EDEE12A-394D-A7C6-CC88-83915A5192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53338" y="3370217"/>
                <a:ext cx="1" cy="3174919"/>
              </a:xfrm>
              <a:prstGeom prst="straightConnector1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4DAF6FF-1970-F532-BDAD-E24BFDDB6B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6213987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112C452-D429-C158-89D8-310970CDCE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889631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D58B07C-2D09-DBE5-B30C-3929AA3445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565275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A19019D2-7361-E8E6-7DFD-D65A9348FC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240919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55B1F26D-2614-C746-A81B-B79FEA71C6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916563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1794D7B-718C-4148-535B-26C8BCAD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592207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BFDA172-445F-6536-20CE-6FB950E5F9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267851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C5B704B-41E1-B9AD-BFF9-1DB14CD951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3943495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9BD59A-9A2E-4632-79BB-57DC4F67763C}"/>
                  </a:ext>
                </a:extLst>
              </p:cNvPr>
              <p:cNvSpPr txBox="1"/>
              <p:nvPr/>
            </p:nvSpPr>
            <p:spPr>
              <a:xfrm>
                <a:off x="1958661" y="6353677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0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FBC60B1-C11B-2519-2E15-C4AF1F898E68}"/>
                  </a:ext>
                </a:extLst>
              </p:cNvPr>
              <p:cNvSpPr txBox="1"/>
              <p:nvPr/>
            </p:nvSpPr>
            <p:spPr>
              <a:xfrm>
                <a:off x="1953078" y="6008334"/>
                <a:ext cx="2407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1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132FC97-1AE4-5F9F-72AA-6539FD480F25}"/>
                  </a:ext>
                </a:extLst>
              </p:cNvPr>
              <p:cNvSpPr txBox="1"/>
              <p:nvPr/>
            </p:nvSpPr>
            <p:spPr>
              <a:xfrm>
                <a:off x="1953078" y="5691298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2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EE33A22-35DE-95D6-E2D7-0DA742229172}"/>
                  </a:ext>
                </a:extLst>
              </p:cNvPr>
              <p:cNvSpPr txBox="1"/>
              <p:nvPr/>
            </p:nvSpPr>
            <p:spPr>
              <a:xfrm>
                <a:off x="1956623" y="5361510"/>
                <a:ext cx="3241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3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34AE5F5-3004-C3FC-DA00-86727BE0D1FC}"/>
                  </a:ext>
                </a:extLst>
              </p:cNvPr>
              <p:cNvSpPr txBox="1"/>
              <p:nvPr/>
            </p:nvSpPr>
            <p:spPr>
              <a:xfrm>
                <a:off x="1956623" y="5033282"/>
                <a:ext cx="3161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4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E436742-9C01-507C-CC73-763DB3A87453}"/>
                  </a:ext>
                </a:extLst>
              </p:cNvPr>
              <p:cNvSpPr txBox="1"/>
              <p:nvPr/>
            </p:nvSpPr>
            <p:spPr>
              <a:xfrm>
                <a:off x="1957985" y="4705487"/>
                <a:ext cx="3129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5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ECCFBB6-7108-DB92-BA35-FE2564D3E25B}"/>
                  </a:ext>
                </a:extLst>
              </p:cNvPr>
              <p:cNvSpPr txBox="1"/>
              <p:nvPr/>
            </p:nvSpPr>
            <p:spPr>
              <a:xfrm>
                <a:off x="1953078" y="4379221"/>
                <a:ext cx="2952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6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B3FCC65-61E8-5D93-1C08-BF65BFC2C2B7}"/>
                  </a:ext>
                </a:extLst>
              </p:cNvPr>
              <p:cNvSpPr txBox="1"/>
              <p:nvPr/>
            </p:nvSpPr>
            <p:spPr>
              <a:xfrm>
                <a:off x="1953078" y="4055809"/>
                <a:ext cx="3097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7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1C6A06F-2DC7-9CA8-FE17-2C7A352BAB25}"/>
                  </a:ext>
                </a:extLst>
              </p:cNvPr>
              <p:cNvSpPr txBox="1"/>
              <p:nvPr/>
            </p:nvSpPr>
            <p:spPr>
              <a:xfrm>
                <a:off x="1953078" y="3739730"/>
                <a:ext cx="3097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8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</p:grp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BE3CD6E-7464-9853-7909-9B8CC1720E6B}"/>
              </a:ext>
            </a:extLst>
          </p:cNvPr>
          <p:cNvCxnSpPr>
            <a:cxnSpLocks/>
          </p:cNvCxnSpPr>
          <p:nvPr/>
        </p:nvCxnSpPr>
        <p:spPr>
          <a:xfrm flipV="1">
            <a:off x="3388240" y="5234331"/>
            <a:ext cx="0" cy="986244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307FE58-B544-AF69-1121-A77B3DFC1CE8}"/>
              </a:ext>
            </a:extLst>
          </p:cNvPr>
          <p:cNvCxnSpPr>
            <a:cxnSpLocks/>
          </p:cNvCxnSpPr>
          <p:nvPr/>
        </p:nvCxnSpPr>
        <p:spPr>
          <a:xfrm flipV="1">
            <a:off x="3728482" y="5240919"/>
            <a:ext cx="0" cy="634645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5C6B507-84D0-7F27-1778-BB540B10303F}"/>
              </a:ext>
            </a:extLst>
          </p:cNvPr>
          <p:cNvCxnSpPr>
            <a:cxnSpLocks/>
          </p:cNvCxnSpPr>
          <p:nvPr/>
        </p:nvCxnSpPr>
        <p:spPr>
          <a:xfrm flipV="1">
            <a:off x="4075812" y="4916563"/>
            <a:ext cx="0" cy="929524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51BD10F-BF9E-ED4B-992D-67F754522004}"/>
              </a:ext>
            </a:extLst>
          </p:cNvPr>
          <p:cNvCxnSpPr>
            <a:cxnSpLocks/>
          </p:cNvCxnSpPr>
          <p:nvPr/>
        </p:nvCxnSpPr>
        <p:spPr>
          <a:xfrm flipV="1">
            <a:off x="4416054" y="4916563"/>
            <a:ext cx="0" cy="648712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4575880-E538-0BFA-AEA3-BB1657BBAD5E}"/>
              </a:ext>
            </a:extLst>
          </p:cNvPr>
          <p:cNvCxnSpPr>
            <a:cxnSpLocks/>
          </p:cNvCxnSpPr>
          <p:nvPr/>
        </p:nvCxnSpPr>
        <p:spPr>
          <a:xfrm flipV="1">
            <a:off x="4742119" y="4592207"/>
            <a:ext cx="0" cy="979656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69358336-3715-81BF-9AF2-B6D8A0947321}"/>
              </a:ext>
            </a:extLst>
          </p:cNvPr>
          <p:cNvSpPr/>
          <p:nvPr/>
        </p:nvSpPr>
        <p:spPr>
          <a:xfrm>
            <a:off x="6011634" y="4073763"/>
            <a:ext cx="2902665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حلزون در روز پنجم به بالای درخت می‌رسد.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0F054F-CB6C-14C0-1273-E633AEA538D6}"/>
              </a:ext>
            </a:extLst>
          </p:cNvPr>
          <p:cNvCxnSpPr/>
          <p:nvPr/>
        </p:nvCxnSpPr>
        <p:spPr>
          <a:xfrm>
            <a:off x="2512827" y="4267851"/>
            <a:ext cx="284294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30E60C5-083E-B25E-7127-308531088E13}"/>
              </a:ext>
            </a:extLst>
          </p:cNvPr>
          <p:cNvCxnSpPr>
            <a:cxnSpLocks/>
          </p:cNvCxnSpPr>
          <p:nvPr/>
        </p:nvCxnSpPr>
        <p:spPr>
          <a:xfrm flipV="1">
            <a:off x="5071918" y="4601320"/>
            <a:ext cx="0" cy="648712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548DDCD-1D85-3FCF-987E-804F3CABA534}"/>
              </a:ext>
            </a:extLst>
          </p:cNvPr>
          <p:cNvCxnSpPr>
            <a:cxnSpLocks/>
          </p:cNvCxnSpPr>
          <p:nvPr/>
        </p:nvCxnSpPr>
        <p:spPr>
          <a:xfrm flipV="1">
            <a:off x="5397983" y="4276964"/>
            <a:ext cx="0" cy="979656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2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75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75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3" dur="75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8" dur="75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3" dur="75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8" dur="75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83" dur="7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8" dur="1000"/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3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8" dur="7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 animBg="1"/>
          <p:bldP spid="9" grpId="0" animBg="1"/>
          <p:bldP spid="10" grpId="0" animBg="1"/>
          <p:bldP spid="11" grpId="0" animBg="1"/>
          <p:bldP spid="76" grpId="0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75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75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3" dur="75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8" dur="75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3" dur="75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8" dur="75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83" dur="7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8" dur="1000"/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3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8" dur="7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 animBg="1"/>
          <p:bldP spid="9" grpId="0" animBg="1"/>
          <p:bldP spid="10" grpId="0" animBg="1"/>
          <p:bldP spid="11" grpId="0" animBg="1"/>
          <p:bldP spid="76" grpId="0" build="allAtOnce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