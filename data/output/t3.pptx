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08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44C4-D228-33F5-D096-A8849B3B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CC073-D213-61BC-AC4A-6457C215A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D3DE7-429F-D12B-887B-D87812020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برای حل بعضی از مسئله ها باید همه حالت های ممکن را بنویسید. 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برای اینکه هیچ حالتی از قلم نیفتد، لازم است آنها را با نظم، الگو و ترتیبی مشخص بنویسید. 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الگوسازی به شما کمک می کند تا مطمئن شوید همه حالتها را نوشته اید.</a:t>
            </a:r>
            <a:b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بنابراین در مسئله هایی که لازم است  همه جواب ها و پاسخهای ممکن را بنویسید، میتوانید از این راهبرد استفاده کنید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باتوجه به نظم و ترتیبی که می سازید، به این راهبرد، 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تفکر نظامدار 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نیز میگویند.</a:t>
            </a:r>
            <a:r>
              <a:rPr lang="fa-IR" dirty="0"/>
              <a:t> </a:t>
            </a:r>
            <a:br>
              <a:rPr lang="fa-IR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4F5C-8CF3-2552-37CC-F24D005FA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124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E8EEE4-A08B-D56A-A12C-1D55FAF66DE1}"/>
              </a:ext>
            </a:extLst>
          </p:cNvPr>
          <p:cNvGrpSpPr/>
          <p:nvPr/>
        </p:nvGrpSpPr>
        <p:grpSpPr>
          <a:xfrm>
            <a:off x="1464220" y="809915"/>
            <a:ext cx="8788808" cy="5609358"/>
            <a:chOff x="4860608" y="2652714"/>
            <a:chExt cx="2945130" cy="1879696"/>
          </a:xfrm>
        </p:grpSpPr>
        <p:sp>
          <p:nvSpPr>
            <p:cNvPr id="5" name="Freeform 72">
              <a:extLst>
                <a:ext uri="{FF2B5EF4-FFF2-40B4-BE49-F238E27FC236}">
                  <a16:creationId xmlns:a16="http://schemas.microsoft.com/office/drawing/2014/main" id="{5DF7F65F-F907-8E01-34BE-3680280F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900" y="2805113"/>
              <a:ext cx="2763838" cy="1512888"/>
            </a:xfrm>
            <a:custGeom>
              <a:avLst/>
              <a:gdLst>
                <a:gd name="T0" fmla="*/ 1480 w 4374"/>
                <a:gd name="T1" fmla="*/ 2391 h 2391"/>
                <a:gd name="T2" fmla="*/ 4374 w 4374"/>
                <a:gd name="T3" fmla="*/ 2391 h 2391"/>
                <a:gd name="T4" fmla="*/ 4374 w 4374"/>
                <a:gd name="T5" fmla="*/ 1480 h 2391"/>
                <a:gd name="T6" fmla="*/ 2893 w 4374"/>
                <a:gd name="T7" fmla="*/ 0 h 2391"/>
                <a:gd name="T8" fmla="*/ 0 w 4374"/>
                <a:gd name="T9" fmla="*/ 0 h 2391"/>
                <a:gd name="T10" fmla="*/ 0 w 4374"/>
                <a:gd name="T11" fmla="*/ 911 h 2391"/>
                <a:gd name="T12" fmla="*/ 1480 w 4374"/>
                <a:gd name="T13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4" h="2391">
                  <a:moveTo>
                    <a:pt x="1480" y="2391"/>
                  </a:moveTo>
                  <a:cubicBezTo>
                    <a:pt x="4374" y="2391"/>
                    <a:pt x="4374" y="2391"/>
                    <a:pt x="4374" y="2391"/>
                  </a:cubicBezTo>
                  <a:cubicBezTo>
                    <a:pt x="4374" y="1480"/>
                    <a:pt x="4374" y="1480"/>
                    <a:pt x="4374" y="1480"/>
                  </a:cubicBezTo>
                  <a:cubicBezTo>
                    <a:pt x="4374" y="663"/>
                    <a:pt x="3711" y="0"/>
                    <a:pt x="28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11"/>
                    <a:pt x="0" y="911"/>
                    <a:pt x="0" y="911"/>
                  </a:cubicBezTo>
                  <a:cubicBezTo>
                    <a:pt x="0" y="1729"/>
                    <a:pt x="662" y="2391"/>
                    <a:pt x="1480" y="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4">
              <a:extLst>
                <a:ext uri="{FF2B5EF4-FFF2-40B4-BE49-F238E27FC236}">
                  <a16:creationId xmlns:a16="http://schemas.microsoft.com/office/drawing/2014/main" id="{B2B12A96-662D-5249-981B-D7986905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2FEB55A0-42DE-142B-3A3A-BA430EC9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42CFF5-F7A6-4AAD-11D8-619AFCA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745" y="2801939"/>
              <a:ext cx="1359080" cy="1439042"/>
            </a:xfrm>
            <a:custGeom>
              <a:avLst/>
              <a:gdLst>
                <a:gd name="connsiteX0" fmla="*/ 912993 w 1359080"/>
                <a:gd name="connsiteY0" fmla="*/ 0 h 1439042"/>
                <a:gd name="connsiteX1" fmla="*/ 951790 w 1359080"/>
                <a:gd name="connsiteY1" fmla="*/ 0 h 1439042"/>
                <a:gd name="connsiteX2" fmla="*/ 1233402 w 1359080"/>
                <a:gd name="connsiteY2" fmla="*/ 0 h 1439042"/>
                <a:gd name="connsiteX3" fmla="*/ 1359080 w 1359080"/>
                <a:gd name="connsiteY3" fmla="*/ 0 h 1439042"/>
                <a:gd name="connsiteX4" fmla="*/ 297515 w 1359080"/>
                <a:gd name="connsiteY4" fmla="*/ 1439042 h 1439042"/>
                <a:gd name="connsiteX5" fmla="*/ 216400 w 1359080"/>
                <a:gd name="connsiteY5" fmla="*/ 1399941 h 1439042"/>
                <a:gd name="connsiteX6" fmla="*/ 917 w 1359080"/>
                <a:gd name="connsiteY6" fmla="*/ 1238752 h 1439042"/>
                <a:gd name="connsiteX7" fmla="*/ 0 w 1359080"/>
                <a:gd name="connsiteY7" fmla="*/ 1237639 h 1439042"/>
                <a:gd name="connsiteX8" fmla="*/ 912993 w 1359080"/>
                <a:gd name="connsiteY8" fmla="*/ 0 h 143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80" h="1439042">
                  <a:moveTo>
                    <a:pt x="912993" y="0"/>
                  </a:moveTo>
                  <a:lnTo>
                    <a:pt x="951790" y="0"/>
                  </a:lnTo>
                  <a:cubicBezTo>
                    <a:pt x="1039264" y="0"/>
                    <a:pt x="1132986" y="0"/>
                    <a:pt x="1233402" y="0"/>
                  </a:cubicBezTo>
                  <a:lnTo>
                    <a:pt x="1359080" y="0"/>
                  </a:lnTo>
                  <a:lnTo>
                    <a:pt x="297515" y="1439042"/>
                  </a:lnTo>
                  <a:lnTo>
                    <a:pt x="216400" y="1399941"/>
                  </a:lnTo>
                  <a:cubicBezTo>
                    <a:pt x="136892" y="1356717"/>
                    <a:pt x="64361" y="1302284"/>
                    <a:pt x="917" y="1238752"/>
                  </a:cubicBezTo>
                  <a:lnTo>
                    <a:pt x="0" y="1237639"/>
                  </a:lnTo>
                  <a:lnTo>
                    <a:pt x="91299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159B15-9A98-41BE-6AAA-C45DB35D5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166" y="2803526"/>
              <a:ext cx="1484154" cy="1512888"/>
            </a:xfrm>
            <a:custGeom>
              <a:avLst/>
              <a:gdLst>
                <a:gd name="connsiteX0" fmla="*/ 1097401 w 1484154"/>
                <a:gd name="connsiteY0" fmla="*/ 0 h 1512888"/>
                <a:gd name="connsiteX1" fmla="*/ 1105760 w 1484154"/>
                <a:gd name="connsiteY1" fmla="*/ 0 h 1512888"/>
                <a:gd name="connsiteX2" fmla="*/ 1470038 w 1484154"/>
                <a:gd name="connsiteY2" fmla="*/ 73626 h 1512888"/>
                <a:gd name="connsiteX3" fmla="*/ 1484154 w 1484154"/>
                <a:gd name="connsiteY3" fmla="*/ 80433 h 1512888"/>
                <a:gd name="connsiteX4" fmla="*/ 427448 w 1484154"/>
                <a:gd name="connsiteY4" fmla="*/ 1512888 h 1512888"/>
                <a:gd name="connsiteX5" fmla="*/ 379050 w 1484154"/>
                <a:gd name="connsiteY5" fmla="*/ 1512888 h 1512888"/>
                <a:gd name="connsiteX6" fmla="*/ 212915 w 1484154"/>
                <a:gd name="connsiteY6" fmla="*/ 1512888 h 1512888"/>
                <a:gd name="connsiteX7" fmla="*/ 24331 w 1484154"/>
                <a:gd name="connsiteY7" fmla="*/ 1493879 h 1512888"/>
                <a:gd name="connsiteX8" fmla="*/ 0 w 1484154"/>
                <a:gd name="connsiteY8" fmla="*/ 1487621 h 1512888"/>
                <a:gd name="connsiteX9" fmla="*/ 1097401 w 1484154"/>
                <a:gd name="connsiteY9" fmla="*/ 0 h 15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4154" h="1512888">
                  <a:moveTo>
                    <a:pt x="1097401" y="0"/>
                  </a:moveTo>
                  <a:lnTo>
                    <a:pt x="1105760" y="0"/>
                  </a:lnTo>
                  <a:cubicBezTo>
                    <a:pt x="1234979" y="0"/>
                    <a:pt x="1358077" y="26219"/>
                    <a:pt x="1470038" y="73626"/>
                  </a:cubicBezTo>
                  <a:lnTo>
                    <a:pt x="1484154" y="80433"/>
                  </a:lnTo>
                  <a:lnTo>
                    <a:pt x="427448" y="1512888"/>
                  </a:lnTo>
                  <a:lnTo>
                    <a:pt x="379050" y="1512888"/>
                  </a:lnTo>
                  <a:cubicBezTo>
                    <a:pt x="325421" y="1512888"/>
                    <a:pt x="270061" y="1512888"/>
                    <a:pt x="212915" y="1512888"/>
                  </a:cubicBezTo>
                  <a:cubicBezTo>
                    <a:pt x="148306" y="1512888"/>
                    <a:pt x="85236" y="1506343"/>
                    <a:pt x="24331" y="1493879"/>
                  </a:cubicBezTo>
                  <a:lnTo>
                    <a:pt x="0" y="1487621"/>
                  </a:lnTo>
                  <a:lnTo>
                    <a:pt x="10974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2E393C-2EF5-F32F-E428-0D879ACF9CB8}"/>
                </a:ext>
              </a:extLst>
            </p:cNvPr>
            <p:cNvGrpSpPr/>
            <p:nvPr/>
          </p:nvGrpSpPr>
          <p:grpSpPr>
            <a:xfrm>
              <a:off x="4860608" y="2652714"/>
              <a:ext cx="2828510" cy="1879696"/>
              <a:chOff x="4926013" y="7300913"/>
              <a:chExt cx="3005138" cy="1997075"/>
            </a:xfrm>
          </p:grpSpPr>
          <p:sp>
            <p:nvSpPr>
              <p:cNvPr id="11" name="Freeform 95">
                <a:extLst>
                  <a:ext uri="{FF2B5EF4-FFF2-40B4-BE49-F238E27FC236}">
                    <a16:creationId xmlns:a16="http://schemas.microsoft.com/office/drawing/2014/main" id="{ECE2DE97-F940-E9B4-C72A-9E036CAD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6013" y="7300913"/>
                <a:ext cx="2949575" cy="1927225"/>
              </a:xfrm>
              <a:custGeom>
                <a:avLst/>
                <a:gdLst>
                  <a:gd name="T0" fmla="*/ 4375 w 4375"/>
                  <a:gd name="T1" fmla="*/ 2855 h 2855"/>
                  <a:gd name="T2" fmla="*/ 4375 w 4375"/>
                  <a:gd name="T3" fmla="*/ 1481 h 2855"/>
                  <a:gd name="T4" fmla="*/ 2894 w 4375"/>
                  <a:gd name="T5" fmla="*/ 0 h 2855"/>
                  <a:gd name="T6" fmla="*/ 0 w 4375"/>
                  <a:gd name="T7" fmla="*/ 0 h 2855"/>
                  <a:gd name="T8" fmla="*/ 0 w 4375"/>
                  <a:gd name="T9" fmla="*/ 911 h 2855"/>
                  <a:gd name="T10" fmla="*/ 1481 w 4375"/>
                  <a:gd name="T11" fmla="*/ 2392 h 2855"/>
                  <a:gd name="T12" fmla="*/ 2860 w 4375"/>
                  <a:gd name="T13" fmla="*/ 2392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75" h="2855">
                    <a:moveTo>
                      <a:pt x="4375" y="2855"/>
                    </a:moveTo>
                    <a:cubicBezTo>
                      <a:pt x="4375" y="1481"/>
                      <a:pt x="4375" y="1481"/>
                      <a:pt x="4375" y="1481"/>
                    </a:cubicBezTo>
                    <a:cubicBezTo>
                      <a:pt x="4375" y="663"/>
                      <a:pt x="3712" y="0"/>
                      <a:pt x="289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11"/>
                      <a:pt x="0" y="911"/>
                      <a:pt x="0" y="911"/>
                    </a:cubicBezTo>
                    <a:cubicBezTo>
                      <a:pt x="0" y="1729"/>
                      <a:pt x="663" y="2392"/>
                      <a:pt x="1481" y="2392"/>
                    </a:cubicBezTo>
                    <a:cubicBezTo>
                      <a:pt x="2860" y="2392"/>
                      <a:pt x="2860" y="2392"/>
                      <a:pt x="2860" y="2392"/>
                    </a:cubicBezTo>
                  </a:path>
                </a:pathLst>
              </a:cu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6">
                <a:extLst>
                  <a:ext uri="{FF2B5EF4-FFF2-40B4-BE49-F238E27FC236}">
                    <a16:creationId xmlns:a16="http://schemas.microsoft.com/office/drawing/2014/main" id="{0E14CB9A-320D-9ABC-21B5-30B1807D6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0026" y="9197975"/>
                <a:ext cx="111125" cy="100013"/>
              </a:xfrm>
              <a:custGeom>
                <a:avLst/>
                <a:gdLst>
                  <a:gd name="T0" fmla="*/ 83 w 165"/>
                  <a:gd name="T1" fmla="*/ 149 h 149"/>
                  <a:gd name="T2" fmla="*/ 165 w 165"/>
                  <a:gd name="T3" fmla="*/ 0 h 149"/>
                  <a:gd name="T4" fmla="*/ 83 w 165"/>
                  <a:gd name="T5" fmla="*/ 30 h 149"/>
                  <a:gd name="T6" fmla="*/ 0 w 165"/>
                  <a:gd name="T7" fmla="*/ 0 h 149"/>
                  <a:gd name="T8" fmla="*/ 83 w 165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" h="149">
                    <a:moveTo>
                      <a:pt x="83" y="149"/>
                    </a:moveTo>
                    <a:cubicBezTo>
                      <a:pt x="101" y="99"/>
                      <a:pt x="132" y="38"/>
                      <a:pt x="165" y="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38"/>
                      <a:pt x="64" y="99"/>
                      <a:pt x="83" y="14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97">
                <a:extLst>
                  <a:ext uri="{FF2B5EF4-FFF2-40B4-BE49-F238E27FC236}">
                    <a16:creationId xmlns:a16="http://schemas.microsoft.com/office/drawing/2014/main" id="{01DDC5DE-93AC-B953-6CE5-9B4F85AFE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1" y="8878888"/>
                <a:ext cx="71438" cy="71438"/>
              </a:xfrm>
              <a:prstGeom prst="ellipse">
                <a:avLst/>
              </a:pr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BAB47A-AA6F-E28E-DC3D-0A5E95DA90EE}"/>
              </a:ext>
            </a:extLst>
          </p:cNvPr>
          <p:cNvSpPr txBox="1"/>
          <p:nvPr/>
        </p:nvSpPr>
        <p:spPr>
          <a:xfrm>
            <a:off x="6116494" y="4646486"/>
            <a:ext cx="3698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sz="6000">
                <a:solidFill>
                  <a:srgbClr val="99FFCC"/>
                </a:solidFill>
                <a:latin typeface="IRANYekanXFaNum Heavy"/>
              </a:rPr>
              <a:t>فصل اول ریاضی هفتم</a:t>
            </a:r>
            <a:endParaRPr lang="en-US" sz="6000" dirty="0">
              <a:solidFill>
                <a:srgbClr val="99FFCC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658E1-8E72-5B46-9DED-B8789D8FA565}"/>
              </a:ext>
            </a:extLst>
          </p:cNvPr>
          <p:cNvSpPr/>
          <p:nvPr/>
        </p:nvSpPr>
        <p:spPr>
          <a:xfrm>
            <a:off x="2797716" y="1757748"/>
            <a:ext cx="6038833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sz="8800">
                <a:latin typeface="IRANYekanXFaNum Heavy"/>
              </a:rPr>
              <a:t>مفهوم مجموعه‌ها</a:t>
            </a:r>
          </a:p>
          <a:p>
            <a:pPr algn="r"/>
            <a:r>
              <a:rPr sz="8800">
                <a:latin typeface="IRANYekanXFaNum Heavy"/>
              </a:rPr>
              <a:t>و کاربردهای آن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3E23CB8-2ADC-DC36-C0FE-0603E885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1F692FD-5478-4B88-9C64-6668F8D26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A304A4DC-3C70-273C-F70D-E6718158DE58}"/>
              </a:ext>
            </a:extLst>
          </p:cNvPr>
          <p:cNvGrpSpPr/>
          <p:nvPr/>
        </p:nvGrpSpPr>
        <p:grpSpPr>
          <a:xfrm>
            <a:off x="7084385" y="2705725"/>
            <a:ext cx="2127686" cy="1446550"/>
            <a:chOff x="7803739" y="882620"/>
            <a:chExt cx="1563196" cy="1216215"/>
          </a:xfrm>
        </p:grpSpPr>
        <p:sp>
          <p:nvSpPr>
            <p:cNvPr id="75" name="Freeform 83">
              <a:extLst>
                <a:ext uri="{FF2B5EF4-FFF2-40B4-BE49-F238E27FC236}">
                  <a16:creationId xmlns:a16="http://schemas.microsoft.com/office/drawing/2014/main" id="{71E8A09E-0EE2-1097-6741-1C61B8C02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solidFill>
              <a:srgbClr val="E8782D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الگو سازی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76" name="A">
              <a:extLst>
                <a:ext uri="{FF2B5EF4-FFF2-40B4-BE49-F238E27FC236}">
                  <a16:creationId xmlns:a16="http://schemas.microsoft.com/office/drawing/2014/main" id="{E3BCD05B-4933-1206-E904-C9F676703F36}"/>
                </a:ext>
              </a:extLst>
            </p:cNvPr>
            <p:cNvSpPr txBox="1"/>
            <p:nvPr/>
          </p:nvSpPr>
          <p:spPr>
            <a:xfrm>
              <a:off x="9170873" y="88262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205F9DE-151D-F4D5-9E7C-265E95EB9598}"/>
              </a:ext>
            </a:extLst>
          </p:cNvPr>
          <p:cNvGrpSpPr/>
          <p:nvPr/>
        </p:nvGrpSpPr>
        <p:grpSpPr>
          <a:xfrm>
            <a:off x="5899820" y="1466544"/>
            <a:ext cx="1095045" cy="1737004"/>
            <a:chOff x="8044305" y="1520972"/>
            <a:chExt cx="1095045" cy="1737004"/>
          </a:xfrm>
        </p:grpSpPr>
        <p:sp>
          <p:nvSpPr>
            <p:cNvPr id="4" name="Line">
              <a:extLst>
                <a:ext uri="{FF2B5EF4-FFF2-40B4-BE49-F238E27FC236}">
                  <a16:creationId xmlns:a16="http://schemas.microsoft.com/office/drawing/2014/main" id="{F9F8EED0-F818-CACC-48AC-5C6444FA3726}"/>
                </a:ext>
              </a:extLst>
            </p:cNvPr>
            <p:cNvSpPr/>
            <p:nvPr/>
          </p:nvSpPr>
          <p:spPr>
            <a:xfrm>
              <a:off x="8149771" y="160197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EF934-ABA9-55CC-D7C0-3A9FC66830A1}"/>
                </a:ext>
              </a:extLst>
            </p:cNvPr>
            <p:cNvGrpSpPr/>
            <p:nvPr/>
          </p:nvGrpSpPr>
          <p:grpSpPr>
            <a:xfrm>
              <a:off x="8044305" y="1520972"/>
              <a:ext cx="180000" cy="180000"/>
              <a:chOff x="4772578" y="2652229"/>
              <a:chExt cx="180000" cy="180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A5D0D0A-F19F-C2EB-1FB3-05A5B0578A9F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D16FF8-015A-F479-D15A-DA370CEC5313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25AE6D5-F6A9-4A59-77C1-F266699A8E36}"/>
              </a:ext>
            </a:extLst>
          </p:cNvPr>
          <p:cNvGrpSpPr/>
          <p:nvPr/>
        </p:nvGrpSpPr>
        <p:grpSpPr>
          <a:xfrm>
            <a:off x="5899820" y="3554528"/>
            <a:ext cx="1095045" cy="1745976"/>
            <a:chOff x="8044305" y="3608956"/>
            <a:chExt cx="1095045" cy="1745976"/>
          </a:xfrm>
        </p:grpSpPr>
        <p:sp>
          <p:nvSpPr>
            <p:cNvPr id="10" name="Line">
              <a:extLst>
                <a:ext uri="{FF2B5EF4-FFF2-40B4-BE49-F238E27FC236}">
                  <a16:creationId xmlns:a16="http://schemas.microsoft.com/office/drawing/2014/main" id="{AE71E305-99EB-F5FC-79E4-F08488DB8DD3}"/>
                </a:ext>
              </a:extLst>
            </p:cNvPr>
            <p:cNvSpPr/>
            <p:nvPr/>
          </p:nvSpPr>
          <p:spPr>
            <a:xfrm flipV="1">
              <a:off x="8149771" y="360895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39CD531-18A0-5382-B5C2-5FD89A34A553}"/>
                </a:ext>
              </a:extLst>
            </p:cNvPr>
            <p:cNvGrpSpPr/>
            <p:nvPr/>
          </p:nvGrpSpPr>
          <p:grpSpPr>
            <a:xfrm>
              <a:off x="8044305" y="5174932"/>
              <a:ext cx="180000" cy="180000"/>
              <a:chOff x="4772578" y="2652229"/>
              <a:chExt cx="180000" cy="18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75A2ED5-71EC-A433-CE71-62524E7AA091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8A2A665-A1C7-F9B9-4D5B-4C7899F4EC9B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1DFAA3-739D-31EB-CEED-BF3D77984EE2}"/>
              </a:ext>
            </a:extLst>
          </p:cNvPr>
          <p:cNvGrpSpPr/>
          <p:nvPr/>
        </p:nvGrpSpPr>
        <p:grpSpPr>
          <a:xfrm>
            <a:off x="5899074" y="2507826"/>
            <a:ext cx="987860" cy="810000"/>
            <a:chOff x="8141840" y="2433180"/>
            <a:chExt cx="987860" cy="810000"/>
          </a:xfrm>
        </p:grpSpPr>
        <p:sp>
          <p:nvSpPr>
            <p:cNvPr id="15" name="Line">
              <a:extLst>
                <a:ext uri="{FF2B5EF4-FFF2-40B4-BE49-F238E27FC236}">
                  <a16:creationId xmlns:a16="http://schemas.microsoft.com/office/drawing/2014/main" id="{13EDC771-4640-FA2E-4A73-BA985F22B62B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8E59825-012A-7517-5EE2-CA27CA1BDE82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87B635D-53DC-6BEF-A644-DA4193D3CA6B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3DCB131-78F6-93FE-5CAA-46764AE3B002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F5695A-A38B-DCC1-BFD0-79BDDD52B8CB}"/>
              </a:ext>
            </a:extLst>
          </p:cNvPr>
          <p:cNvGrpSpPr/>
          <p:nvPr/>
        </p:nvGrpSpPr>
        <p:grpSpPr>
          <a:xfrm flipV="1">
            <a:off x="5899074" y="3440250"/>
            <a:ext cx="987860" cy="810000"/>
            <a:chOff x="8141840" y="2433180"/>
            <a:chExt cx="987860" cy="810000"/>
          </a:xfrm>
        </p:grpSpPr>
        <p:sp>
          <p:nvSpPr>
            <p:cNvPr id="21" name="Line">
              <a:extLst>
                <a:ext uri="{FF2B5EF4-FFF2-40B4-BE49-F238E27FC236}">
                  <a16:creationId xmlns:a16="http://schemas.microsoft.com/office/drawing/2014/main" id="{FC95DB6A-3614-09A2-E973-3F3B9601039A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452BB1E-E2D7-C41E-D3AD-A3B19FD85CFB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44973A5-8DF3-7421-53AC-5D49311862EA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5EFF4C7-3002-3D43-02F9-F406920354D1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326756F-B1E3-995D-A87C-6D5B2C44693B}"/>
              </a:ext>
            </a:extLst>
          </p:cNvPr>
          <p:cNvSpPr txBox="1"/>
          <p:nvPr/>
        </p:nvSpPr>
        <p:spPr>
          <a:xfrm>
            <a:off x="372072" y="1182833"/>
            <a:ext cx="5435763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rPr sz="1800"/>
              <a:t>تعریف مجموعه: دسته‌ای مشخص و معین از اشیا یا اعداد با ویژگی یکسان که درون آکولاد {} قرار می‌گیرند.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4407CD-8E1D-E748-BA37-473BE40D1D1B}"/>
              </a:ext>
            </a:extLst>
          </p:cNvPr>
          <p:cNvSpPr txBox="1"/>
          <p:nvPr/>
        </p:nvSpPr>
        <p:spPr>
          <a:xfrm>
            <a:off x="372072" y="2228396"/>
            <a:ext cx="5448361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t>نماد عضویت (∈): برای نشان دادن اینکه عنصری متعلق به مجموعه است از علامت ∈ و عدم عضویت از ∉ استفاده می‌شود.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DBBBEE-FBA5-1ECA-BE8B-E62600525452}"/>
              </a:ext>
            </a:extLst>
          </p:cNvPr>
          <p:cNvSpPr txBox="1"/>
          <p:nvPr/>
        </p:nvSpPr>
        <p:spPr>
          <a:xfrm>
            <a:off x="322000" y="3386986"/>
            <a:ext cx="5485835" cy="13665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t>مفهوم زیرمجموعه (⊆): اگر تمام اعضای مجموعه B درون مجموعه A قرار داشته باشند، می‌گوییم B زیرمجموعه A است.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F8B8E5-6F0E-768D-FE65-556DCF6CA25C}"/>
              </a:ext>
            </a:extLst>
          </p:cNvPr>
          <p:cNvSpPr txBox="1"/>
          <p:nvPr/>
        </p:nvSpPr>
        <p:spPr>
          <a:xfrm>
            <a:off x="322000" y="4951063"/>
            <a:ext cx="5454005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r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t>مثال مفهومی: در مجموعه A={1,2,3,4,5} و B={1,3,5}، چون تک‌تک اعضای B در A هستند، رابطه B ⊆ A برقرار است.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0D889D-7D38-887A-D47E-C88146F063E9}"/>
              </a:ext>
            </a:extLst>
          </p:cNvPr>
          <p:cNvSpPr/>
          <p:nvPr/>
        </p:nvSpPr>
        <p:spPr>
          <a:xfrm>
            <a:off x="182712" y="225440"/>
            <a:ext cx="8632177" cy="2584783"/>
          </a:xfrm>
          <a:prstGeom prst="roundRect">
            <a:avLst>
              <a:gd name="adj" fmla="val 19633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FCD300-275C-628B-083E-8E3087FB65AB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4DA93EB3-8192-C33F-29D3-59DBCDC1C1A3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1F564D-8121-56FA-5166-2E559A2A348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D82AEFD-5709-54E5-D6F7-CB97C75486EC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44A007-7DDA-EF0F-00CE-873890BCAD5C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48551E6-F87A-5132-EC23-5C3CD73BEF4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EB468-8D3B-D936-7D20-0AF9E17CCD5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6B1954-5049-C88F-53F7-E5C60A09E1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D4CCFDB1-9CB1-0FBF-75B3-F7722280743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71A6E261-A2CC-F08E-5DF3-AF7F2C6AAD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704D681E-0DC1-E1E8-09AC-10B8FEF898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76AF47B-415D-53B8-3911-C07E01A636FC}"/>
              </a:ext>
            </a:extLst>
          </p:cNvPr>
          <p:cNvSpPr/>
          <p:nvPr/>
        </p:nvSpPr>
        <p:spPr>
          <a:xfrm>
            <a:off x="168806" y="234310"/>
            <a:ext cx="7845478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latin typeface="IRANYekanXFaNum"/>
              </a:rPr>
              <a:t>دسته‌بندی مجموعه‌ها و مجموعه‌های عددی مهم در ریاضی هفتم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F76F08D-B003-1A06-0D30-0B75161ED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01E5653-7957-AF8A-2408-77526680A04F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669EE97-0F93-F772-4D17-4AC377854E4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6" name="Circle B">
                <a:extLst>
                  <a:ext uri="{FF2B5EF4-FFF2-40B4-BE49-F238E27FC236}">
                    <a16:creationId xmlns:a16="http://schemas.microsoft.com/office/drawing/2014/main" id="{BBB282C1-565C-260D-E1DA-BAF81969E5FE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18" name="Oval 73">
                  <a:extLst>
                    <a:ext uri="{FF2B5EF4-FFF2-40B4-BE49-F238E27FC236}">
                      <a16:creationId xmlns:a16="http://schemas.microsoft.com/office/drawing/2014/main" id="{02AE0062-E7D5-FB00-FECE-F2030C53E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19" name="Texture">
                  <a:extLst>
                    <a:ext uri="{FF2B5EF4-FFF2-40B4-BE49-F238E27FC236}">
                      <a16:creationId xmlns:a16="http://schemas.microsoft.com/office/drawing/2014/main" id="{01CCA057-92C1-3F71-23CF-22EF62E650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7" name="B">
                <a:extLst>
                  <a:ext uri="{FF2B5EF4-FFF2-40B4-BE49-F238E27FC236}">
                    <a16:creationId xmlns:a16="http://schemas.microsoft.com/office/drawing/2014/main" id="{55FC2053-3E7C-79F3-CB33-C5D5B920258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1" name="A">
              <a:extLst>
                <a:ext uri="{FF2B5EF4-FFF2-40B4-BE49-F238E27FC236}">
                  <a16:creationId xmlns:a16="http://schemas.microsoft.com/office/drawing/2014/main" id="{8863BCB3-9539-5AC1-3296-C69C5DAFD47A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FC68F22-B450-8DD3-9266-68573219767E}"/>
              </a:ext>
            </a:extLst>
          </p:cNvPr>
          <p:cNvSpPr/>
          <p:nvPr/>
        </p:nvSpPr>
        <p:spPr>
          <a:xfrm>
            <a:off x="4508204" y="2988579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000">
                <a:solidFill>
                  <a:srgbClr val="FF6238"/>
                </a:solidFill>
                <a:latin typeface="IRANYekanXFaNum"/>
              </a:rPr>
              <a:t>مجموعه متناهی: مجموعه‌ای که تعداد اعضای آن معین، محدود و قابل شمارش باشد؛ مانند اعداد طبیعی کمتر از ۱۰.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44F0B8-540B-70AF-F461-F6871701E83C}"/>
                  </a:ext>
                </a:extLst>
              </p:cNvPr>
              <p:cNvSpPr/>
              <p:nvPr/>
            </p:nvSpPr>
            <p:spPr>
              <a:xfrm>
                <a:off x="168806" y="2909326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44F0B8-540B-70AF-F461-F6871701E8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06" y="2909326"/>
                <a:ext cx="3638277" cy="7201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E5EC8D4C-8EE8-B69B-7F86-A0F85736C8B4}"/>
              </a:ext>
            </a:extLst>
          </p:cNvPr>
          <p:cNvSpPr/>
          <p:nvPr/>
        </p:nvSpPr>
        <p:spPr>
          <a:xfrm>
            <a:off x="4522110" y="3722314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000">
                <a:solidFill>
                  <a:srgbClr val="FF6238"/>
                </a:solidFill>
                <a:latin typeface="IRANYekanXFaNum"/>
              </a:rPr>
              <a:t>مجموعه نامتناهی: مجموعه‌ای با تعداد اعضای بی‌شمار و نامحدود؛ مانند مجموعه اعداد طبیعی {...,N={1,2,3.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2FE44A1-5D25-5F83-D030-1BD3FE6E496A}"/>
                  </a:ext>
                </a:extLst>
              </p:cNvPr>
              <p:cNvSpPr/>
              <p:nvPr/>
            </p:nvSpPr>
            <p:spPr>
              <a:xfrm>
                <a:off x="182712" y="364306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8000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32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2FE44A1-5D25-5F83-D030-1BD3FE6E49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3643061"/>
                <a:ext cx="3638277" cy="7201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C60115A2-F1E4-6D3F-C631-F4B943F2F597}"/>
              </a:ext>
            </a:extLst>
          </p:cNvPr>
          <p:cNvSpPr/>
          <p:nvPr/>
        </p:nvSpPr>
        <p:spPr>
          <a:xfrm>
            <a:off x="4522110" y="4541614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000">
                <a:solidFill>
                  <a:srgbClr val="FF6238"/>
                </a:solidFill>
                <a:latin typeface="IRANYekanXFaNum"/>
              </a:rPr>
              <a:t>اعداد طبیعی (N) و صحیح (Z): اعداد طبیعی N={1,2,...} و اعداد صحیح شامل صفر، مثبت و منفی {...,Z={...,-1,0,1 هستند.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5EF9252-6FEC-AE1F-C521-412317E091E3}"/>
                  </a:ext>
                </a:extLst>
              </p:cNvPr>
              <p:cNvSpPr/>
              <p:nvPr/>
            </p:nvSpPr>
            <p:spPr>
              <a:xfrm>
                <a:off x="182712" y="446236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6000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18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5EF9252-6FEC-AE1F-C521-412317E09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4462361"/>
                <a:ext cx="3638277" cy="720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89E04608-C540-BE30-B342-710F519A7929}"/>
              </a:ext>
            </a:extLst>
          </p:cNvPr>
          <p:cNvSpPr/>
          <p:nvPr/>
        </p:nvSpPr>
        <p:spPr>
          <a:xfrm>
            <a:off x="4522110" y="5247478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000">
                <a:solidFill>
                  <a:srgbClr val="FF6238"/>
                </a:solidFill>
                <a:latin typeface="IRANYekanXFaNum"/>
              </a:rPr>
              <a:t>اعداد گویا (Q): کلیه اعدادی که می‌توان آن‌ها را به شکل کسری a/b با صورت صحیح و مخرج طبیعی نمایش داد.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99FFEC8-3CD7-204B-2295-5D877AE426AB}"/>
                  </a:ext>
                </a:extLst>
              </p:cNvPr>
              <p:cNvSpPr/>
              <p:nvPr/>
            </p:nvSpPr>
            <p:spPr>
              <a:xfrm>
                <a:off x="182712" y="5168225"/>
                <a:ext cx="5154059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32000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18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99FFEC8-3CD7-204B-2295-5D877AE426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168225"/>
                <a:ext cx="5154059" cy="7201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E8FEE872-DB95-EF68-D297-545534458D7D}"/>
              </a:ext>
            </a:extLst>
          </p:cNvPr>
          <p:cNvSpPr/>
          <p:nvPr/>
        </p:nvSpPr>
        <p:spPr>
          <a:xfrm>
            <a:off x="4522110" y="5991616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000">
                <a:solidFill>
                  <a:srgbClr val="FF6238"/>
                </a:solidFill>
                <a:latin typeface="IRANYekanXFaNum"/>
              </a:rPr>
              <a:t>اهمیت مجموعه‌ها: پایه‌ای‌ترین مبحث برای یادگیری جبر، احتمال و ساختارهای پیشرفته ریاضیات.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2491C67-601B-521A-0E69-A27DE0629E0D}"/>
                  </a:ext>
                </a:extLst>
              </p:cNvPr>
              <p:cNvSpPr/>
              <p:nvPr/>
            </p:nvSpPr>
            <p:spPr>
              <a:xfrm>
                <a:off x="182712" y="5912363"/>
                <a:ext cx="4497353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95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25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2491C67-601B-521A-0E69-A27DE0629E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912363"/>
                <a:ext cx="4497353" cy="7201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9E26-0F65-82EF-A082-0FBBB285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183F55-E0BD-488C-FB1C-6E6D9D66B86E}"/>
              </a:ext>
            </a:extLst>
          </p:cNvPr>
          <p:cNvSpPr/>
          <p:nvPr/>
        </p:nvSpPr>
        <p:spPr>
          <a:xfrm>
            <a:off x="182712" y="404847"/>
            <a:ext cx="8632177" cy="1897376"/>
          </a:xfrm>
          <a:prstGeom prst="roundRect">
            <a:avLst>
              <a:gd name="adj" fmla="val 2646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F95FD8-6E91-63C4-9349-E591C4F4DB3A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1E0742D7-E548-F6D6-E1B7-10F3D71CFE2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C1A339-39F2-1A16-C781-791557D0FF6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7D7BE4-0E5D-6791-5D3E-453797A467E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6A23778-BEF4-7CC6-A67F-E6F4663F3268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21A48D9-B432-2CD4-9E47-51A671DBD17F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43CB55-4AB9-41C5-071D-6A26686B92C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EA3567-15F5-3C6F-3DDE-153CF0F6C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A13DF461-8056-E0D5-13BE-6D2DCFC8EA5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6592CDE0-FBF5-309C-152B-A96DDBFCCF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20097D5-322A-608D-E8C7-317C4147A5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FACA3C5-ACE5-A1ED-779B-75E326AAD663}"/>
              </a:ext>
            </a:extLst>
          </p:cNvPr>
          <p:cNvSpPr/>
          <p:nvPr/>
        </p:nvSpPr>
        <p:spPr>
          <a:xfrm>
            <a:off x="351016" y="307727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پس انداز هفتگی محمد، 300هزار تومان است. او حساب کرده 5 هفته پس انداز او نصف قیمت کیفی است که دوست دارد بخرد، قیمت کیف چقدر است؟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201E17B-5864-EBAF-FB4D-0DE8E74D8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E09B0A-0D74-76B2-C7B5-D9562120C172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83A927-3CDC-5387-41CA-B7E8964175B7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B688CAE-D46F-390F-52BC-ACEBDCEA653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85842C43-B3D6-EB4E-1AEC-28AFBDDA2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571C15F1-855E-C968-CC9F-53042C688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73CE2628-09E0-653B-1495-B7626921A68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" name="A">
              <a:extLst>
                <a:ext uri="{FF2B5EF4-FFF2-40B4-BE49-F238E27FC236}">
                  <a16:creationId xmlns:a16="http://schemas.microsoft.com/office/drawing/2014/main" id="{CA4FC4E1-25B4-1CB0-C8C5-B58C47572D89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CCB0158-12FF-0990-5767-5482D37C2297}"/>
              </a:ext>
            </a:extLst>
          </p:cNvPr>
          <p:cNvSpPr/>
          <p:nvPr/>
        </p:nvSpPr>
        <p:spPr>
          <a:xfrm>
            <a:off x="4508204" y="2988579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الف) پس انداز 5 هفته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252579-181C-BFA9-6902-0A5F0B7C5562}"/>
              </a:ext>
            </a:extLst>
          </p:cNvPr>
          <p:cNvSpPr/>
          <p:nvPr/>
        </p:nvSpPr>
        <p:spPr>
          <a:xfrm>
            <a:off x="351016" y="4555778"/>
            <a:ext cx="77860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ب) اگر این عدد نصف قیمت کیف باشه، قیمت کیف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48C543-CA34-9E42-D208-4145662596B3}"/>
                  </a:ext>
                </a:extLst>
              </p:cNvPr>
              <p:cNvSpPr/>
              <p:nvPr/>
            </p:nvSpPr>
            <p:spPr>
              <a:xfrm>
                <a:off x="182712" y="355027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48C543-CA34-9E42-D208-414566259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3550271"/>
                <a:ext cx="3638277" cy="7201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4D7744-DB5D-E16B-B650-A79929168AB1}"/>
                  </a:ext>
                </a:extLst>
              </p:cNvPr>
              <p:cNvSpPr/>
              <p:nvPr/>
            </p:nvSpPr>
            <p:spPr>
              <a:xfrm>
                <a:off x="182712" y="5518516"/>
                <a:ext cx="4098343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4D7744-DB5D-E16B-B650-A79929168A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518516"/>
                <a:ext cx="4098343" cy="720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00558DE1-7343-FBF5-DB6C-CCA81679F23E}"/>
              </a:ext>
            </a:extLst>
          </p:cNvPr>
          <p:cNvSpPr/>
          <p:nvPr/>
        </p:nvSpPr>
        <p:spPr>
          <a:xfrm>
            <a:off x="4181552" y="5597768"/>
            <a:ext cx="1084250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تومان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5466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6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4" grpId="0"/>
          <p:bldP spid="5" grpId="0"/>
          <p:bldP spid="6" grpId="0"/>
          <p:bldP spid="7" grpId="0"/>
          <p:bldP spid="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6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4" grpId="0"/>
          <p:bldP spid="5" grpId="0"/>
          <p:bldP spid="6" grpId="0"/>
          <p:bldP spid="7" grpId="0"/>
          <p:bldP spid="8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9E26-0F65-82EF-A082-0FBBB285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183F55-E0BD-488C-FB1C-6E6D9D66B86E}"/>
              </a:ext>
            </a:extLst>
          </p:cNvPr>
          <p:cNvSpPr/>
          <p:nvPr/>
        </p:nvSpPr>
        <p:spPr>
          <a:xfrm>
            <a:off x="182712" y="404847"/>
            <a:ext cx="8632177" cy="1897376"/>
          </a:xfrm>
          <a:prstGeom prst="roundRect">
            <a:avLst>
              <a:gd name="adj" fmla="val 26467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F95FD8-6E91-63C4-9349-E591C4F4DB3A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1E0742D7-E548-F6D6-E1B7-10F3D71CFE2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C1A339-39F2-1A16-C781-791557D0FF6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7D7BE4-0E5D-6791-5D3E-453797A467E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6A23778-BEF4-7CC6-A67F-E6F4663F3268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21A48D9-B432-2CD4-9E47-51A671DBD17F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43CB55-4AB9-41C5-071D-6A26686B92C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EA3567-15F5-3C6F-3DDE-153CF0F6C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A13DF461-8056-E0D5-13BE-6D2DCFC8EA5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6592CDE0-FBF5-309C-152B-A96DDBFCCF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20097D5-322A-608D-E8C7-317C4147A5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FACA3C5-ACE5-A1ED-779B-75E326AAD663}"/>
              </a:ext>
            </a:extLst>
          </p:cNvPr>
          <p:cNvSpPr/>
          <p:nvPr/>
        </p:nvSpPr>
        <p:spPr>
          <a:xfrm>
            <a:off x="351016" y="307727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پس انداز هفتگی محمد، 300هزار تومان است. او حساب کرده 5 هفته پس انداز او نصف قیمت کیفی است که دوست دارد بخرد، قیمت کیف چقدر است؟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201E17B-5864-EBAF-FB4D-0DE8E74D8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E09B0A-0D74-76B2-C7B5-D9562120C172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83A927-3CDC-5387-41CA-B7E8964175B7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B688CAE-D46F-390F-52BC-ACEBDCEA653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85842C43-B3D6-EB4E-1AEC-28AFBDDA2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571C15F1-855E-C968-CC9F-53042C688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73CE2628-09E0-653B-1495-B7626921A68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" name="A">
              <a:extLst>
                <a:ext uri="{FF2B5EF4-FFF2-40B4-BE49-F238E27FC236}">
                  <a16:creationId xmlns:a16="http://schemas.microsoft.com/office/drawing/2014/main" id="{CA4FC4E1-25B4-1CB0-C8C5-B58C47572D89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CCB0158-12FF-0990-5767-5482D37C2297}"/>
              </a:ext>
            </a:extLst>
          </p:cNvPr>
          <p:cNvSpPr/>
          <p:nvPr/>
        </p:nvSpPr>
        <p:spPr>
          <a:xfrm>
            <a:off x="4508204" y="2988579"/>
            <a:ext cx="363827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الف) پس انداز 5 هفته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252579-181C-BFA9-6902-0A5F0B7C5562}"/>
              </a:ext>
            </a:extLst>
          </p:cNvPr>
          <p:cNvSpPr/>
          <p:nvPr/>
        </p:nvSpPr>
        <p:spPr>
          <a:xfrm>
            <a:off x="351016" y="4555778"/>
            <a:ext cx="7786061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000" dirty="0">
                <a:solidFill>
                  <a:srgbClr val="FF6238"/>
                </a:solidFill>
                <a:latin typeface="IRANYekanXFaNum" pitchFamily="2" charset="-78"/>
                <a:cs typeface="IRANYekanXFaNum" pitchFamily="2" charset="-78"/>
              </a:rPr>
              <a:t>ب) اگر این عدد نصف قیمت کیف باشه، قیمت کیف چقدره؟</a:t>
            </a:r>
            <a:endParaRPr lang="en-US" sz="2000" dirty="0">
              <a:solidFill>
                <a:srgbClr val="FF6238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48C543-CA34-9E42-D208-4145662596B3}"/>
                  </a:ext>
                </a:extLst>
              </p:cNvPr>
              <p:cNvSpPr/>
              <p:nvPr/>
            </p:nvSpPr>
            <p:spPr>
              <a:xfrm>
                <a:off x="182712" y="3550271"/>
                <a:ext cx="3638277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fa-IR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48C543-CA34-9E42-D208-414566259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3550271"/>
                <a:ext cx="3638277" cy="7201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4D7744-DB5D-E16B-B650-A79929168AB1}"/>
                  </a:ext>
                </a:extLst>
              </p:cNvPr>
              <p:cNvSpPr/>
              <p:nvPr/>
            </p:nvSpPr>
            <p:spPr>
              <a:xfrm>
                <a:off x="182712" y="5518516"/>
                <a:ext cx="4098343" cy="720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fa-IR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000</m:t>
                      </m:r>
                    </m:oMath>
                  </m:oMathPara>
                </a14:m>
                <a:endParaRPr lang="en-US" sz="2400" dirty="0">
                  <a:solidFill>
                    <a:srgbClr val="6699FF"/>
                  </a:solidFill>
                  <a:latin typeface="IRANYekanXFaNum ExtraBold" pitchFamily="2" charset="-78"/>
                  <a:cs typeface="IRANYekanXFaNum ExtraBold" pitchFamily="2" charset="-78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34D7744-DB5D-E16B-B650-A79929168A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12" y="5518516"/>
                <a:ext cx="4098343" cy="720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00558DE1-7343-FBF5-DB6C-CCA81679F23E}"/>
              </a:ext>
            </a:extLst>
          </p:cNvPr>
          <p:cNvSpPr/>
          <p:nvPr/>
        </p:nvSpPr>
        <p:spPr>
          <a:xfrm>
            <a:off x="4181552" y="5597768"/>
            <a:ext cx="1084250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70000"/>
              </a:lnSpc>
            </a:pPr>
            <a:r>
              <a:rPr lang="fa-IR" sz="20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تومان</a:t>
            </a:r>
            <a:endParaRPr lang="en-US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5466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6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4" grpId="0"/>
          <p:bldP spid="5" grpId="0"/>
          <p:bldP spid="6" grpId="0"/>
          <p:bldP spid="7" grpId="0"/>
          <p:bldP spid="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4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6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4" grpId="0"/>
          <p:bldP spid="5" grpId="0"/>
          <p:bldP spid="6" grpId="0"/>
          <p:bldP spid="7" grpId="0"/>
          <p:bldP spid="8" grpId="0"/>
        </p:bldLst>
      </p:timing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E19A9E26-0F65-82EF-A082-0FBBB285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183F55-E0BD-488C-FB1C-6E6D9D66B86E}"/>
              </a:ext>
            </a:extLst>
          </p:cNvPr>
          <p:cNvSpPr/>
          <p:nvPr/>
        </p:nvSpPr>
        <p:spPr>
          <a:xfrm>
            <a:off x="182712" y="675481"/>
            <a:ext cx="8632177" cy="135610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F95FD8-6E91-63C4-9349-E591C4F4DB3A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1E0742D7-E548-F6D6-E1B7-10F3D71CFE2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C1A339-39F2-1A16-C781-791557D0FF6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7D7BE4-0E5D-6791-5D3E-453797A467E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6A23778-BEF4-7CC6-A67F-E6F4663F3268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21A48D9-B432-2CD4-9E47-51A671DBD17F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43CB55-4AB9-41C5-071D-6A26686B92C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EA3567-15F5-3C6F-3DDE-153CF0F6C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A13DF461-8056-E0D5-13BE-6D2DCFC8EA5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6592CDE0-FBF5-309C-152B-A96DDBFCCF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20097D5-322A-608D-E8C7-317C4147A5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FACA3C5-ACE5-A1ED-779B-75E326AAD663}"/>
              </a:ext>
            </a:extLst>
          </p:cNvPr>
          <p:cNvSpPr/>
          <p:nvPr/>
        </p:nvSpPr>
        <p:spPr>
          <a:xfrm>
            <a:off x="351016" y="642337"/>
            <a:ext cx="766107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latin typeface="IRANYekanXFaNum"/>
              </a:rPr>
              <a:t>حل تمرینات کاربردی و نمونه سوالات فصل اول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201E17B-5864-EBAF-FB4D-0DE8E74D8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E09B0A-0D74-76B2-C7B5-D9562120C172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83A927-3CDC-5387-41CA-B7E8964175B7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B688CAE-D46F-390F-52BC-ACEBDCEA653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85842C43-B3D6-EB4E-1AEC-28AFBDDA2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571C15F1-855E-C968-CC9F-53042C688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73CE2628-09E0-653B-1495-B7626921A68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" name="A">
              <a:extLst>
                <a:ext uri="{FF2B5EF4-FFF2-40B4-BE49-F238E27FC236}">
                  <a16:creationId xmlns:a16="http://schemas.microsoft.com/office/drawing/2014/main" id="{CA4FC4E1-25B4-1CB0-C8C5-B58C47572D89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738BD26-E074-B999-FABB-C8FF0A6430F8}"/>
              </a:ext>
            </a:extLst>
          </p:cNvPr>
          <p:cNvSpPr txBox="1"/>
          <p:nvPr/>
        </p:nvSpPr>
        <p:spPr>
          <a:xfrm>
            <a:off x="351016" y="2340817"/>
            <a:ext cx="3856492" cy="6555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latin typeface="IRANYekanXFaNum"/>
              </a:rPr>
              <a:t>۱) مجموعه‌های A={2,4,6,8} و B={4,8,12}:</a:t>
            </a:r>
            <a:endParaRPr lang="ar-DZ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5D97A3-8A11-A14D-91E7-A56A563A76C9}"/>
              </a:ext>
            </a:extLst>
          </p:cNvPr>
          <p:cNvSpPr txBox="1"/>
          <p:nvPr/>
        </p:nvSpPr>
        <p:spPr>
          <a:xfrm>
            <a:off x="256236" y="3388772"/>
            <a:ext cx="3856492" cy="6555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latin typeface="IRANYekanXFaNum"/>
              </a:rPr>
              <a:t>۲) بررسی رابطه زیرمجموعه C={3,6} و D={1,2,3,4,5,6}:</a:t>
            </a:r>
            <a:endParaRPr lang="ar-DZ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CCB994-D8D6-2729-067C-F72BC285FE06}"/>
              </a:ext>
            </a:extLst>
          </p:cNvPr>
          <p:cNvSpPr txBox="1"/>
          <p:nvPr/>
        </p:nvSpPr>
        <p:spPr>
          <a:xfrm>
            <a:off x="138247" y="4436727"/>
            <a:ext cx="4895869" cy="6555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latin typeface="IRANYekanXFaNum"/>
              </a:rPr>
              <a:t>۳) متناهی یا نامتناهی بودن E={1,3,5,7,9} و {...,F={2,4,6:</a:t>
            </a:r>
            <a:endParaRPr lang="ar-DZ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1526C31-A017-EB98-C5B8-500856DC6310}"/>
              </a:ext>
            </a:extLst>
          </p:cNvPr>
          <p:cNvSpPr txBox="1"/>
          <p:nvPr/>
        </p:nvSpPr>
        <p:spPr>
          <a:xfrm>
            <a:off x="523577" y="5484683"/>
            <a:ext cx="4758218" cy="6555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2400">
                <a:latin typeface="IRANYekanXFaNum"/>
              </a:rPr>
              <a:t>۴) تشخیص نوع مجموعه G={-2,-1,0,1,2}:</a:t>
            </a:r>
            <a:endParaRPr lang="ar-DZ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BE88CC8-2784-4155-1D88-5D3433D323AA}"/>
              </a:ext>
            </a:extLst>
          </p:cNvPr>
          <p:cNvSpPr/>
          <p:nvPr/>
        </p:nvSpPr>
        <p:spPr>
          <a:xfrm>
            <a:off x="1822416" y="2283428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400">
                <a:latin typeface="IRANYekanXFaNum"/>
              </a:rPr>
              <a:t>A∪B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0BC0A3-E476-EEF2-A16D-172055725906}"/>
              </a:ext>
            </a:extLst>
          </p:cNvPr>
          <p:cNvSpPr/>
          <p:nvPr/>
        </p:nvSpPr>
        <p:spPr>
          <a:xfrm>
            <a:off x="2474827" y="2283428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400">
                <a:latin typeface="IRANYekanXFaNum"/>
              </a:rPr>
              <a:t>={2,4,6,8,12}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4CD60C-F2A2-FA02-7E1F-8621C0E03B99}"/>
              </a:ext>
            </a:extLst>
          </p:cNvPr>
          <p:cNvSpPr/>
          <p:nvPr/>
        </p:nvSpPr>
        <p:spPr>
          <a:xfrm>
            <a:off x="3270818" y="2283428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400">
                <a:latin typeface="IRANYekanXFaNum"/>
              </a:rPr>
              <a:t>A∩B={4,8}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6159CD-4E96-CD12-5894-8F30FF036B7F}"/>
              </a:ext>
            </a:extLst>
          </p:cNvPr>
          <p:cNvSpPr/>
          <p:nvPr/>
        </p:nvSpPr>
        <p:spPr>
          <a:xfrm>
            <a:off x="1631191" y="3325273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400">
                <a:latin typeface="IRANYekanXFaNum"/>
              </a:rPr>
              <a:t>C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779E41-F926-2053-AE21-F25887CF0E74}"/>
              </a:ext>
            </a:extLst>
          </p:cNvPr>
          <p:cNvSpPr/>
          <p:nvPr/>
        </p:nvSpPr>
        <p:spPr>
          <a:xfrm>
            <a:off x="2316113" y="3325273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400">
                <a:latin typeface="IRANYekanXFaNum"/>
              </a:rPr>
              <a:t>⊆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E9E1AE-CAAB-EB9B-4362-717924C8275D}"/>
              </a:ext>
            </a:extLst>
          </p:cNvPr>
          <p:cNvSpPr/>
          <p:nvPr/>
        </p:nvSpPr>
        <p:spPr>
          <a:xfrm>
            <a:off x="3030327" y="3305609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400">
                <a:latin typeface="IRANYekanXFaNum"/>
              </a:rPr>
              <a:t>D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739605-75E0-E561-EBF6-A013850DCB31}"/>
              </a:ext>
            </a:extLst>
          </p:cNvPr>
          <p:cNvSpPr/>
          <p:nvPr/>
        </p:nvSpPr>
        <p:spPr>
          <a:xfrm>
            <a:off x="2362551" y="4353564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400">
                <a:latin typeface="IRANYekanXFaNum"/>
              </a:rPr>
              <a:t>E: متناهی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9EEF8B-32AE-C888-CB5F-5433DA42DE7A}"/>
              </a:ext>
            </a:extLst>
          </p:cNvPr>
          <p:cNvSpPr/>
          <p:nvPr/>
        </p:nvSpPr>
        <p:spPr>
          <a:xfrm>
            <a:off x="3106135" y="4353564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400">
                <a:latin typeface="IRANYekanXFaNum"/>
              </a:rPr>
              <a:t>F: نامتناهی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DE8FB0-9CC3-0774-65FC-82E5C173E1FA}"/>
              </a:ext>
            </a:extLst>
          </p:cNvPr>
          <p:cNvSpPr/>
          <p:nvPr/>
        </p:nvSpPr>
        <p:spPr>
          <a:xfrm>
            <a:off x="3836642" y="4353564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400">
                <a:latin typeface="IRANYekanXFaNum"/>
              </a:rPr>
              <a:t>G∈Z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82FE7F-60E0-7BD8-CAED-C8FA944E89AE}"/>
              </a:ext>
            </a:extLst>
          </p:cNvPr>
          <p:cNvSpPr/>
          <p:nvPr/>
        </p:nvSpPr>
        <p:spPr>
          <a:xfrm>
            <a:off x="2904979" y="5401519"/>
            <a:ext cx="548087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400">
                <a:latin typeface="IRANYekanXFaNum"/>
              </a:rPr>
              <a:t>اعداد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19E852-0126-4184-4780-0BAEA42A3FFB}"/>
              </a:ext>
            </a:extLst>
          </p:cNvPr>
          <p:cNvSpPr/>
          <p:nvPr/>
        </p:nvSpPr>
        <p:spPr>
          <a:xfrm>
            <a:off x="3601975" y="5401519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400">
                <a:latin typeface="IRANYekanXFaNum"/>
              </a:rPr>
              <a:t>صحیح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CEB6E4-C476-B17C-4881-B35A5957C17D}"/>
              </a:ext>
            </a:extLst>
          </p:cNvPr>
          <p:cNvSpPr/>
          <p:nvPr/>
        </p:nvSpPr>
        <p:spPr>
          <a:xfrm>
            <a:off x="4369675" y="5401519"/>
            <a:ext cx="54013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sz="2400">
                <a:latin typeface="IRANYekanXFaNum"/>
              </a:rPr>
              <a:t>(Z)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EDE033-0365-208B-A1B7-40B48D1FF8EB}"/>
              </a:ext>
            </a:extLst>
          </p:cNvPr>
          <p:cNvSpPr txBox="1"/>
          <p:nvPr/>
        </p:nvSpPr>
        <p:spPr>
          <a:xfrm>
            <a:off x="4328556" y="2504436"/>
            <a:ext cx="3695242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/>
            <a:r>
              <a:rPr sz="2000">
                <a:solidFill>
                  <a:srgbClr val="6699FF"/>
                </a:solidFill>
                <a:latin typeface="IRANYekanXFaNum"/>
              </a:rPr>
              <a:t>اجتماع کل اعضای غیرتکراری و اشتراک فقط عضوهای مشترک است.</a:t>
            </a:r>
            <a:endParaRPr lang="ar-DZ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703A2A-8C81-4264-CB74-364E206177F3}"/>
              </a:ext>
            </a:extLst>
          </p:cNvPr>
          <p:cNvSpPr txBox="1"/>
          <p:nvPr/>
        </p:nvSpPr>
        <p:spPr>
          <a:xfrm>
            <a:off x="4316846" y="3480607"/>
            <a:ext cx="3550972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/>
            <a:r>
              <a:rPr sz="2000">
                <a:solidFill>
                  <a:srgbClr val="6699FF"/>
                </a:solidFill>
                <a:latin typeface="IRANYekanXFaNum"/>
              </a:rPr>
              <a:t>تمامی اعضای C در مجموعه D موجودند، بنابراین C زیرمجموعه D است.</a:t>
            </a:r>
            <a:endParaRPr lang="ar-DZ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1CA8DF-C2A1-CAE9-884A-80DB941F4007}"/>
              </a:ext>
            </a:extLst>
          </p:cNvPr>
          <p:cNvSpPr txBox="1"/>
          <p:nvPr/>
        </p:nvSpPr>
        <p:spPr>
          <a:xfrm>
            <a:off x="4641505" y="4605158"/>
            <a:ext cx="4095993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/>
            <a:r>
              <a:rPr sz="2000">
                <a:solidFill>
                  <a:srgbClr val="6699FF"/>
                </a:solidFill>
                <a:latin typeface="IRANYekanXFaNum"/>
              </a:rPr>
              <a:t>مجموعه E تعداد عضو محدود دارد اما مجموعه F تا بی‌نهایت ادامه دارد.</a:t>
            </a:r>
            <a:endParaRPr lang="ar-DZ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285867-3BEF-EF7B-B887-1071C59036E0}"/>
              </a:ext>
            </a:extLst>
          </p:cNvPr>
          <p:cNvSpPr txBox="1"/>
          <p:nvPr/>
        </p:nvSpPr>
        <p:spPr>
          <a:xfrm>
            <a:off x="5105570" y="5653526"/>
            <a:ext cx="4047903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/>
            <a:r>
              <a:rPr sz="2000">
                <a:solidFill>
                  <a:srgbClr val="6699FF"/>
                </a:solidFill>
                <a:latin typeface="IRANYekanXFaNum"/>
              </a:rPr>
              <a:t>این مجموعه شامل اعداد مثبت، صفر و منفی بوده و زیرمجموعه Z است.</a:t>
            </a:r>
            <a:endParaRPr lang="ar-DZ" sz="20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57C0FAC-E271-9908-96FB-865BBBA4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A3117D2-538D-FACB-5FD3-FEFAA7C47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0AEA7657-C5B0-0953-6804-8B426D44D1C6}"/>
              </a:ext>
            </a:extLst>
          </p:cNvPr>
          <p:cNvGrpSpPr/>
          <p:nvPr/>
        </p:nvGrpSpPr>
        <p:grpSpPr>
          <a:xfrm>
            <a:off x="7063142" y="2782944"/>
            <a:ext cx="1992559" cy="1446550"/>
            <a:chOff x="7947719" y="901710"/>
            <a:chExt cx="1463919" cy="1216215"/>
          </a:xfrm>
        </p:grpSpPr>
        <p:sp>
          <p:nvSpPr>
            <p:cNvPr id="81" name="Freeform 83">
              <a:extLst>
                <a:ext uri="{FF2B5EF4-FFF2-40B4-BE49-F238E27FC236}">
                  <a16:creationId xmlns:a16="http://schemas.microsoft.com/office/drawing/2014/main" id="{4FB1F4BF-786A-A66D-5311-0D873C359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7719" y="1148135"/>
              <a:ext cx="1175822" cy="623844"/>
            </a:xfrm>
            <a:prstGeom prst="roundRect">
              <a:avLst/>
            </a:prstGeom>
            <a:solidFill>
              <a:srgbClr val="4D8FCB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الگو یابی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82" name="A">
              <a:extLst>
                <a:ext uri="{FF2B5EF4-FFF2-40B4-BE49-F238E27FC236}">
                  <a16:creationId xmlns:a16="http://schemas.microsoft.com/office/drawing/2014/main" id="{A61A987D-B23F-9A4C-8814-762F220F1A25}"/>
                </a:ext>
              </a:extLst>
            </p:cNvPr>
            <p:cNvSpPr txBox="1"/>
            <p:nvPr/>
          </p:nvSpPr>
          <p:spPr>
            <a:xfrm>
              <a:off x="9215576" y="90171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4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2B37594-2651-0FAB-C2BC-9692C41B9250}"/>
              </a:ext>
            </a:extLst>
          </p:cNvPr>
          <p:cNvGrpSpPr/>
          <p:nvPr/>
        </p:nvGrpSpPr>
        <p:grpSpPr>
          <a:xfrm>
            <a:off x="5897550" y="2122389"/>
            <a:ext cx="987860" cy="1098000"/>
            <a:chOff x="8141840" y="2433180"/>
            <a:chExt cx="987860" cy="1098000"/>
          </a:xfrm>
        </p:grpSpPr>
        <p:sp>
          <p:nvSpPr>
            <p:cNvPr id="5" name="Line">
              <a:extLst>
                <a:ext uri="{FF2B5EF4-FFF2-40B4-BE49-F238E27FC236}">
                  <a16:creationId xmlns:a16="http://schemas.microsoft.com/office/drawing/2014/main" id="{D6449405-3287-D08D-8006-E9FA12AC37FB}"/>
                </a:ext>
              </a:extLst>
            </p:cNvPr>
            <p:cNvSpPr/>
            <p:nvPr/>
          </p:nvSpPr>
          <p:spPr>
            <a:xfrm>
              <a:off x="8337572" y="2523180"/>
              <a:ext cx="792128" cy="1008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A56CA0-7CD6-06E2-128C-4C9A45BDB0D5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2E23654-B376-E490-64E2-47F391B96EFD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B962145-1264-F0F7-78B2-C80020689AF9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546F3A3-0D51-4F38-A25F-41CD114734B2}"/>
              </a:ext>
            </a:extLst>
          </p:cNvPr>
          <p:cNvGrpSpPr/>
          <p:nvPr/>
        </p:nvGrpSpPr>
        <p:grpSpPr>
          <a:xfrm flipV="1">
            <a:off x="5935074" y="3666327"/>
            <a:ext cx="987860" cy="1106777"/>
            <a:chOff x="8141840" y="2433180"/>
            <a:chExt cx="987860" cy="1106777"/>
          </a:xfrm>
        </p:grpSpPr>
        <p:sp>
          <p:nvSpPr>
            <p:cNvPr id="10" name="Line">
              <a:extLst>
                <a:ext uri="{FF2B5EF4-FFF2-40B4-BE49-F238E27FC236}">
                  <a16:creationId xmlns:a16="http://schemas.microsoft.com/office/drawing/2014/main" id="{236B85DB-A9F2-951B-A1E0-90FA86531065}"/>
                </a:ext>
              </a:extLst>
            </p:cNvPr>
            <p:cNvSpPr/>
            <p:nvPr/>
          </p:nvSpPr>
          <p:spPr>
            <a:xfrm>
              <a:off x="8337572" y="2531957"/>
              <a:ext cx="792128" cy="1008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48773ED-A9AB-F999-D61F-F0CBD47B91E7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2A6CBF9-3A66-F1A7-6805-3D38BD0320C3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0E4F877-49BD-ACE5-6842-1EE612D59CA5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EAD4985-1939-E978-B1E2-8A500FD16A4F}"/>
              </a:ext>
            </a:extLst>
          </p:cNvPr>
          <p:cNvSpPr txBox="1"/>
          <p:nvPr/>
        </p:nvSpPr>
        <p:spPr>
          <a:xfrm>
            <a:off x="479787" y="1793674"/>
            <a:ext cx="5435763" cy="7190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rPr sz="1800">
                <a:solidFill>
                  <a:srgbClr val="242021"/>
                </a:solidFill>
                <a:latin typeface="AmuzehNewNormalPS"/>
              </a:rPr>
              <a:t>مطالعه و برنامه‌ریزی منظم: ریاضی درسی مهارتی و پیوسته است؛ اختصاص زمان مشخص روزانه برای تمرین مداوم الزامی است.</a:t>
            </a:r>
            <a:endParaRPr lang="fa-IR" sz="1800" dirty="0">
              <a:solidFill>
                <a:srgbClr val="242021"/>
              </a:solidFill>
              <a:latin typeface="AmuzehNewNormalP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658F83-EDF5-8BDD-CC1C-5049EDA0CDFF}"/>
              </a:ext>
            </a:extLst>
          </p:cNvPr>
          <p:cNvSpPr txBox="1"/>
          <p:nvPr/>
        </p:nvSpPr>
        <p:spPr>
          <a:xfrm>
            <a:off x="479787" y="3029031"/>
            <a:ext cx="5448361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rPr>
                <a:solidFill>
                  <a:srgbClr val="242021"/>
                </a:solidFill>
                <a:latin typeface="AmuzehNewNormalPS"/>
              </a:rPr>
              <a:t>حل مسائل متنوع و چالش‌برانگیز: حل تمرینات فراتر از کتاب درسی و بررسی سوالات تکمیلی برای تقویت تفکر تحلیلی.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EABA40-F964-E1F2-25C7-FFEC9BE2E1AC}"/>
              </a:ext>
            </a:extLst>
          </p:cNvPr>
          <p:cNvSpPr txBox="1"/>
          <p:nvPr/>
        </p:nvSpPr>
        <p:spPr>
          <a:xfrm>
            <a:off x="328863" y="4264389"/>
            <a:ext cx="5590479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rPr>
                <a:solidFill>
                  <a:srgbClr val="242021"/>
                </a:solidFill>
                <a:latin typeface="AmuzehNewNormalPS"/>
              </a:rPr>
              <a:t>استفاده از آموزش‌های ویدیویی و تعامل: یادگیری چندحسی از طریق ویدیوهای آموزشی رایگان و مشارکت فعال در کلاس.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7644C1-1635-895B-CA33-30920BC61FCD}"/>
              </a:ext>
            </a:extLst>
          </p:cNvPr>
          <p:cNvGrpSpPr/>
          <p:nvPr/>
        </p:nvGrpSpPr>
        <p:grpSpPr>
          <a:xfrm>
            <a:off x="5925117" y="3393746"/>
            <a:ext cx="908074" cy="180000"/>
            <a:chOff x="5925117" y="3393746"/>
            <a:chExt cx="908074" cy="180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33C6FA-8CAF-CA38-2AB4-89F9FBD3DEBC}"/>
                </a:ext>
              </a:extLst>
            </p:cNvPr>
            <p:cNvCxnSpPr>
              <a:cxnSpLocks/>
              <a:endCxn id="21" idx="6"/>
            </p:cNvCxnSpPr>
            <p:nvPr/>
          </p:nvCxnSpPr>
          <p:spPr>
            <a:xfrm flipH="1">
              <a:off x="6105117" y="3471531"/>
              <a:ext cx="728074" cy="12215"/>
            </a:xfrm>
            <a:prstGeom prst="line">
              <a:avLst/>
            </a:prstGeom>
            <a:noFill/>
            <a:ln w="38100" cap="rnd" cmpd="sng">
              <a:solidFill>
                <a:srgbClr val="484848"/>
              </a:solidFill>
              <a:prstDash val="solid"/>
            </a:ln>
          </p:spPr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4537DE9-C1A4-0EE1-C007-2A4044611639}"/>
                </a:ext>
              </a:extLst>
            </p:cNvPr>
            <p:cNvGrpSpPr/>
            <p:nvPr/>
          </p:nvGrpSpPr>
          <p:grpSpPr>
            <a:xfrm>
              <a:off x="5925117" y="3393746"/>
              <a:ext cx="180000" cy="180000"/>
              <a:chOff x="4870113" y="3564437"/>
              <a:chExt cx="180000" cy="180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2FEE91C-DB55-2D89-EBB9-924E8D44CC64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A5CB845-8234-C3CE-07AB-542B85DD4015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57C0FAC-E271-9908-96FB-865BBBA4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A3117D2-538D-FACB-5FD3-FEFAA7C47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0AEA7657-C5B0-0953-6804-8B426D44D1C6}"/>
              </a:ext>
            </a:extLst>
          </p:cNvPr>
          <p:cNvGrpSpPr/>
          <p:nvPr/>
        </p:nvGrpSpPr>
        <p:grpSpPr>
          <a:xfrm>
            <a:off x="7044409" y="2699046"/>
            <a:ext cx="4504135" cy="1446550"/>
            <a:chOff x="7942893" y="807146"/>
            <a:chExt cx="1291543" cy="1216215"/>
          </a:xfrm>
        </p:grpSpPr>
        <p:sp>
          <p:nvSpPr>
            <p:cNvPr id="81" name="Freeform 83">
              <a:extLst>
                <a:ext uri="{FF2B5EF4-FFF2-40B4-BE49-F238E27FC236}">
                  <a16:creationId xmlns:a16="http://schemas.microsoft.com/office/drawing/2014/main" id="{4FB1F4BF-786A-A66D-5311-0D873C359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2893" y="1103332"/>
              <a:ext cx="1175822" cy="623844"/>
            </a:xfrm>
            <a:prstGeom prst="roundRect">
              <a:avLst/>
            </a:prstGeom>
            <a:solidFill>
              <a:srgbClr val="4D8FCB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راهبرد حل مسئله ساده‌تر</a:t>
              </a:r>
            </a:p>
          </p:txBody>
        </p:sp>
        <p:sp>
          <p:nvSpPr>
            <p:cNvPr id="82" name="A">
              <a:extLst>
                <a:ext uri="{FF2B5EF4-FFF2-40B4-BE49-F238E27FC236}">
                  <a16:creationId xmlns:a16="http://schemas.microsoft.com/office/drawing/2014/main" id="{A61A987D-B23F-9A4C-8814-762F220F1A25}"/>
                </a:ext>
              </a:extLst>
            </p:cNvPr>
            <p:cNvSpPr txBox="1"/>
            <p:nvPr/>
          </p:nvSpPr>
          <p:spPr>
            <a:xfrm>
              <a:off x="9038374" y="807146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7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2B37594-2651-0FAB-C2BC-9692C41B9250}"/>
              </a:ext>
            </a:extLst>
          </p:cNvPr>
          <p:cNvGrpSpPr/>
          <p:nvPr/>
        </p:nvGrpSpPr>
        <p:grpSpPr>
          <a:xfrm>
            <a:off x="5935074" y="2114769"/>
            <a:ext cx="987860" cy="1098000"/>
            <a:chOff x="8141840" y="2433180"/>
            <a:chExt cx="987860" cy="1098000"/>
          </a:xfrm>
        </p:grpSpPr>
        <p:sp>
          <p:nvSpPr>
            <p:cNvPr id="5" name="Line">
              <a:extLst>
                <a:ext uri="{FF2B5EF4-FFF2-40B4-BE49-F238E27FC236}">
                  <a16:creationId xmlns:a16="http://schemas.microsoft.com/office/drawing/2014/main" id="{D6449405-3287-D08D-8006-E9FA12AC37FB}"/>
                </a:ext>
              </a:extLst>
            </p:cNvPr>
            <p:cNvSpPr/>
            <p:nvPr/>
          </p:nvSpPr>
          <p:spPr>
            <a:xfrm>
              <a:off x="8337572" y="2523180"/>
              <a:ext cx="792128" cy="1008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A56CA0-7CD6-06E2-128C-4C9A45BDB0D5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2E23654-B376-E490-64E2-47F391B96EFD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B962145-1264-F0F7-78B2-C80020689AF9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546F3A3-0D51-4F38-A25F-41CD114734B2}"/>
              </a:ext>
            </a:extLst>
          </p:cNvPr>
          <p:cNvGrpSpPr/>
          <p:nvPr/>
        </p:nvGrpSpPr>
        <p:grpSpPr>
          <a:xfrm flipV="1">
            <a:off x="5935074" y="3658707"/>
            <a:ext cx="987860" cy="1106777"/>
            <a:chOff x="8141840" y="2433180"/>
            <a:chExt cx="987860" cy="1106777"/>
          </a:xfrm>
        </p:grpSpPr>
        <p:sp>
          <p:nvSpPr>
            <p:cNvPr id="10" name="Line">
              <a:extLst>
                <a:ext uri="{FF2B5EF4-FFF2-40B4-BE49-F238E27FC236}">
                  <a16:creationId xmlns:a16="http://schemas.microsoft.com/office/drawing/2014/main" id="{236B85DB-A9F2-951B-A1E0-90FA86531065}"/>
                </a:ext>
              </a:extLst>
            </p:cNvPr>
            <p:cNvSpPr/>
            <p:nvPr/>
          </p:nvSpPr>
          <p:spPr>
            <a:xfrm>
              <a:off x="8337572" y="2531957"/>
              <a:ext cx="792128" cy="1008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48773ED-A9AB-F999-D61F-F0CBD47B91E7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2A6CBF9-3A66-F1A7-6805-3D38BD0320C3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0E4F877-49BD-ACE5-6842-1EE612D59CA5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EAD4985-1939-E978-B1E2-8A500FD16A4F}"/>
              </a:ext>
            </a:extLst>
          </p:cNvPr>
          <p:cNvSpPr txBox="1"/>
          <p:nvPr/>
        </p:nvSpPr>
        <p:spPr>
          <a:xfrm>
            <a:off x="3626668" y="1987753"/>
            <a:ext cx="2292674" cy="410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rPr sz="1800"/>
              <a:t>کتاب درسی و آموزش جامع: تسلط کامل بر مفاهیم پایه فصل اول به عنوان سنگ‌بنای ریاضیات دوره‌های بعد.</a:t>
            </a:r>
            <a:endParaRPr lang="ar-DZ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658F83-EDF5-8BDD-CC1C-5049EDA0CDFF}"/>
              </a:ext>
            </a:extLst>
          </p:cNvPr>
          <p:cNvSpPr txBox="1"/>
          <p:nvPr/>
        </p:nvSpPr>
        <p:spPr>
          <a:xfrm>
            <a:off x="4736814" y="3230836"/>
            <a:ext cx="1182528" cy="410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t>ویدیوها و تمرینات موسسه جهت: دسترسی به بانک آموزش‌های ویدیویی رایگان و نمونه سوالات تکمیلی هفتم.</a:t>
            </a:r>
            <a:endParaRPr lang="ar-DZ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EABA40-F964-E1F2-25C7-FFEC9BE2E1AC}"/>
              </a:ext>
            </a:extLst>
          </p:cNvPr>
          <p:cNvSpPr txBox="1"/>
          <p:nvPr/>
        </p:nvSpPr>
        <p:spPr>
          <a:xfrm>
            <a:off x="2488557" y="4473918"/>
            <a:ext cx="3430785" cy="410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t>پشتیبانی آموزشی: امکان پرسش و پاسخ، رفع اشکال در بخش نظرات و استفاده از کتب کمک‌آموزشی معتبر.</a:t>
            </a:r>
            <a:endParaRPr lang="ar-DZ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7644C1-1635-895B-CA33-30920BC61FCD}"/>
              </a:ext>
            </a:extLst>
          </p:cNvPr>
          <p:cNvGrpSpPr/>
          <p:nvPr/>
        </p:nvGrpSpPr>
        <p:grpSpPr>
          <a:xfrm>
            <a:off x="6014860" y="3345738"/>
            <a:ext cx="908074" cy="180000"/>
            <a:chOff x="5925117" y="3393746"/>
            <a:chExt cx="908074" cy="180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33C6FA-8CAF-CA38-2AB4-89F9FBD3DEBC}"/>
                </a:ext>
              </a:extLst>
            </p:cNvPr>
            <p:cNvCxnSpPr>
              <a:cxnSpLocks/>
              <a:endCxn id="21" idx="6"/>
            </p:cNvCxnSpPr>
            <p:nvPr/>
          </p:nvCxnSpPr>
          <p:spPr>
            <a:xfrm flipH="1">
              <a:off x="6105117" y="3471531"/>
              <a:ext cx="728074" cy="12215"/>
            </a:xfrm>
            <a:prstGeom prst="line">
              <a:avLst/>
            </a:prstGeom>
            <a:noFill/>
            <a:ln w="38100" cap="rnd" cmpd="sng">
              <a:solidFill>
                <a:srgbClr val="484848"/>
              </a:solidFill>
              <a:prstDash val="solid"/>
            </a:ln>
          </p:spPr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4537DE9-C1A4-0EE1-C007-2A4044611639}"/>
                </a:ext>
              </a:extLst>
            </p:cNvPr>
            <p:cNvGrpSpPr/>
            <p:nvPr/>
          </p:nvGrpSpPr>
          <p:grpSpPr>
            <a:xfrm>
              <a:off x="5925117" y="3393746"/>
              <a:ext cx="180000" cy="180000"/>
              <a:chOff x="4870113" y="3564437"/>
              <a:chExt cx="180000" cy="180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2FEE91C-DB55-2D89-EBB9-924E8D44CC64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A5CB845-8234-C3CE-07AB-542B85DD4015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23CB8-2ADC-DC36-C0FE-0603E885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1F692FD-5478-4B88-9C64-6668F8D26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A304A4DC-3C70-273C-F70D-E6718158DE58}"/>
              </a:ext>
            </a:extLst>
          </p:cNvPr>
          <p:cNvGrpSpPr/>
          <p:nvPr/>
        </p:nvGrpSpPr>
        <p:grpSpPr>
          <a:xfrm>
            <a:off x="7084385" y="2705725"/>
            <a:ext cx="2127686" cy="1446550"/>
            <a:chOff x="7803739" y="882620"/>
            <a:chExt cx="1563196" cy="1216215"/>
          </a:xfrm>
        </p:grpSpPr>
        <p:sp>
          <p:nvSpPr>
            <p:cNvPr id="75" name="Freeform 83">
              <a:extLst>
                <a:ext uri="{FF2B5EF4-FFF2-40B4-BE49-F238E27FC236}">
                  <a16:creationId xmlns:a16="http://schemas.microsoft.com/office/drawing/2014/main" id="{71E8A09E-0EE2-1097-6741-1C61B8C02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solidFill>
              <a:srgbClr val="E8782D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الگو سازی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76" name="A">
              <a:extLst>
                <a:ext uri="{FF2B5EF4-FFF2-40B4-BE49-F238E27FC236}">
                  <a16:creationId xmlns:a16="http://schemas.microsoft.com/office/drawing/2014/main" id="{E3BCD05B-4933-1206-E904-C9F676703F36}"/>
                </a:ext>
              </a:extLst>
            </p:cNvPr>
            <p:cNvSpPr txBox="1"/>
            <p:nvPr/>
          </p:nvSpPr>
          <p:spPr>
            <a:xfrm>
              <a:off x="9170873" y="88262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205F9DE-151D-F4D5-9E7C-265E95EB9598}"/>
              </a:ext>
            </a:extLst>
          </p:cNvPr>
          <p:cNvGrpSpPr/>
          <p:nvPr/>
        </p:nvGrpSpPr>
        <p:grpSpPr>
          <a:xfrm>
            <a:off x="5899820" y="1466544"/>
            <a:ext cx="1095045" cy="1737004"/>
            <a:chOff x="8044305" y="1520972"/>
            <a:chExt cx="1095045" cy="1737004"/>
          </a:xfrm>
        </p:grpSpPr>
        <p:sp>
          <p:nvSpPr>
            <p:cNvPr id="4" name="Line">
              <a:extLst>
                <a:ext uri="{FF2B5EF4-FFF2-40B4-BE49-F238E27FC236}">
                  <a16:creationId xmlns:a16="http://schemas.microsoft.com/office/drawing/2014/main" id="{F9F8EED0-F818-CACC-48AC-5C6444FA3726}"/>
                </a:ext>
              </a:extLst>
            </p:cNvPr>
            <p:cNvSpPr/>
            <p:nvPr/>
          </p:nvSpPr>
          <p:spPr>
            <a:xfrm>
              <a:off x="8149771" y="160197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EF934-ABA9-55CC-D7C0-3A9FC66830A1}"/>
                </a:ext>
              </a:extLst>
            </p:cNvPr>
            <p:cNvGrpSpPr/>
            <p:nvPr/>
          </p:nvGrpSpPr>
          <p:grpSpPr>
            <a:xfrm>
              <a:off x="8044305" y="1520972"/>
              <a:ext cx="180000" cy="180000"/>
              <a:chOff x="4772578" y="2652229"/>
              <a:chExt cx="180000" cy="180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A5D0D0A-F19F-C2EB-1FB3-05A5B0578A9F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D16FF8-015A-F479-D15A-DA370CEC5313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25AE6D5-F6A9-4A59-77C1-F266699A8E36}"/>
              </a:ext>
            </a:extLst>
          </p:cNvPr>
          <p:cNvGrpSpPr/>
          <p:nvPr/>
        </p:nvGrpSpPr>
        <p:grpSpPr>
          <a:xfrm>
            <a:off x="5899820" y="3554528"/>
            <a:ext cx="1095045" cy="1745976"/>
            <a:chOff x="8044305" y="3608956"/>
            <a:chExt cx="1095045" cy="1745976"/>
          </a:xfrm>
        </p:grpSpPr>
        <p:sp>
          <p:nvSpPr>
            <p:cNvPr id="10" name="Line">
              <a:extLst>
                <a:ext uri="{FF2B5EF4-FFF2-40B4-BE49-F238E27FC236}">
                  <a16:creationId xmlns:a16="http://schemas.microsoft.com/office/drawing/2014/main" id="{AE71E305-99EB-F5FC-79E4-F08488DB8DD3}"/>
                </a:ext>
              </a:extLst>
            </p:cNvPr>
            <p:cNvSpPr/>
            <p:nvPr/>
          </p:nvSpPr>
          <p:spPr>
            <a:xfrm flipV="1">
              <a:off x="8149771" y="360895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39CD531-18A0-5382-B5C2-5FD89A34A553}"/>
                </a:ext>
              </a:extLst>
            </p:cNvPr>
            <p:cNvGrpSpPr/>
            <p:nvPr/>
          </p:nvGrpSpPr>
          <p:grpSpPr>
            <a:xfrm>
              <a:off x="8044305" y="5174932"/>
              <a:ext cx="180000" cy="180000"/>
              <a:chOff x="4772578" y="2652229"/>
              <a:chExt cx="180000" cy="18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75A2ED5-71EC-A433-CE71-62524E7AA091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8A2A665-A1C7-F9B9-4D5B-4C7899F4EC9B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1DFAA3-739D-31EB-CEED-BF3D77984EE2}"/>
              </a:ext>
            </a:extLst>
          </p:cNvPr>
          <p:cNvGrpSpPr/>
          <p:nvPr/>
        </p:nvGrpSpPr>
        <p:grpSpPr>
          <a:xfrm>
            <a:off x="5899074" y="2507826"/>
            <a:ext cx="987860" cy="810000"/>
            <a:chOff x="8141840" y="2433180"/>
            <a:chExt cx="987860" cy="810000"/>
          </a:xfrm>
        </p:grpSpPr>
        <p:sp>
          <p:nvSpPr>
            <p:cNvPr id="15" name="Line">
              <a:extLst>
                <a:ext uri="{FF2B5EF4-FFF2-40B4-BE49-F238E27FC236}">
                  <a16:creationId xmlns:a16="http://schemas.microsoft.com/office/drawing/2014/main" id="{13EDC771-4640-FA2E-4A73-BA985F22B62B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8E59825-012A-7517-5EE2-CA27CA1BDE82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87B635D-53DC-6BEF-A644-DA4193D3CA6B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3DCB131-78F6-93FE-5CAA-46764AE3B002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DF5695A-A38B-DCC1-BFD0-79BDDD52B8CB}"/>
              </a:ext>
            </a:extLst>
          </p:cNvPr>
          <p:cNvGrpSpPr/>
          <p:nvPr/>
        </p:nvGrpSpPr>
        <p:grpSpPr>
          <a:xfrm flipV="1">
            <a:off x="5899074" y="3440250"/>
            <a:ext cx="987860" cy="810000"/>
            <a:chOff x="8141840" y="2433180"/>
            <a:chExt cx="987860" cy="810000"/>
          </a:xfrm>
        </p:grpSpPr>
        <p:sp>
          <p:nvSpPr>
            <p:cNvPr id="21" name="Line">
              <a:extLst>
                <a:ext uri="{FF2B5EF4-FFF2-40B4-BE49-F238E27FC236}">
                  <a16:creationId xmlns:a16="http://schemas.microsoft.com/office/drawing/2014/main" id="{FC95DB6A-3614-09A2-E973-3F3B9601039A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452BB1E-E2D7-C41E-D3AD-A3B19FD85CFB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44973A5-8DF3-7421-53AC-5D49311862EA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5EFF4C7-3002-3D43-02F9-F406920354D1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326756F-B1E3-995D-A87C-6D5B2C44693B}"/>
              </a:ext>
            </a:extLst>
          </p:cNvPr>
          <p:cNvSpPr txBox="1"/>
          <p:nvPr/>
        </p:nvSpPr>
        <p:spPr>
          <a:xfrm>
            <a:off x="372072" y="1182833"/>
            <a:ext cx="5435763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1800" dirty="0"/>
              <a:t>برای حل بعضی از مسئله ها باید همه حالت های ممکن را بنویسید.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4407CD-8E1D-E748-BA37-473BE40D1D1B}"/>
              </a:ext>
            </a:extLst>
          </p:cNvPr>
          <p:cNvSpPr txBox="1"/>
          <p:nvPr/>
        </p:nvSpPr>
        <p:spPr>
          <a:xfrm>
            <a:off x="372072" y="2228396"/>
            <a:ext cx="5448361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/>
              <a:t>برای اینکه هیچ حالتی از قلم نیفتد، لازم است آنها را با </a:t>
            </a:r>
            <a:r>
              <a:rPr lang="fa-IR" b="1" dirty="0">
                <a:highlight>
                  <a:srgbClr val="FFFF00"/>
                </a:highlight>
              </a:rPr>
              <a:t>نظم، الگو و ترتیبی </a:t>
            </a:r>
            <a:r>
              <a:rPr lang="fa-IR" dirty="0"/>
              <a:t>مشخص بنویسید.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DBBBEE-FBA5-1ECA-BE8B-E62600525452}"/>
              </a:ext>
            </a:extLst>
          </p:cNvPr>
          <p:cNvSpPr txBox="1"/>
          <p:nvPr/>
        </p:nvSpPr>
        <p:spPr>
          <a:xfrm>
            <a:off x="322000" y="3386986"/>
            <a:ext cx="5485835" cy="13665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r"/>
            <a:r>
              <a:rPr lang="fa-IR" dirty="0"/>
              <a:t>الگوسازی به شما کمک می کند تا مطمئن شوید همه حالتها را نوشته اید. بنابراین در مسئله هایی که لازم است  همه جواب ها و پاسخهای ممکن را بنویسید، می توانید از این راهبرد استفاده کنید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F8B8E5-6F0E-768D-FE65-556DCF6CA25C}"/>
              </a:ext>
            </a:extLst>
          </p:cNvPr>
          <p:cNvSpPr txBox="1"/>
          <p:nvPr/>
        </p:nvSpPr>
        <p:spPr>
          <a:xfrm>
            <a:off x="322000" y="4951063"/>
            <a:ext cx="5454005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r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/>
              <a:t>باتوجه به نظم و ترتیبی که می سازید، به این راهبرد، </a:t>
            </a:r>
            <a:r>
              <a:rPr lang="fa-IR" b="1" dirty="0">
                <a:highlight>
                  <a:srgbClr val="FFFF00"/>
                </a:highlight>
              </a:rPr>
              <a:t>تفکر نظامدار</a:t>
            </a:r>
            <a:r>
              <a:rPr lang="fa-IR" b="1" dirty="0"/>
              <a:t> </a:t>
            </a:r>
            <a:r>
              <a:rPr lang="fa-IR" dirty="0"/>
              <a:t>نیز میگویند. </a:t>
            </a:r>
            <a:br>
              <a:rPr lang="fa-I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28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