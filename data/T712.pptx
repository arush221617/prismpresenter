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8" r:id="rId5"/>
    <p:sldId id="270" r:id="rId6"/>
    <p:sldId id="274" r:id="rId7"/>
    <p:sldId id="271" r:id="rId8"/>
    <p:sldId id="273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99FFCC"/>
    <a:srgbClr val="FF6238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91" autoAdjust="0"/>
  </p:normalViewPr>
  <p:slideViewPr>
    <p:cSldViewPr snapToGrid="0">
      <p:cViewPr varScale="1">
        <p:scale>
          <a:sx n="77" d="100"/>
          <a:sy n="77" d="100"/>
        </p:scale>
        <p:origin x="15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حل بعضی از مسئله ها باید همه حالت های ممکن را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اینکه هیچ حالتی از قلم نیفتد، لازم است آنها را با نظم، الگو و ترتیبی مشخص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الگوسازی به شما کمک می کند تا مطمئن شوید همه حالتها را نوشته اید.</a:t>
            </a:r>
            <a:b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بنابراین در مسئله هایی که لازم است  همه جواب ها و پاسخهای ممکن را بنویسید، میتوانید از این راهبرد استفاده کنید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باتوجه به نظم و ترتیبی که می سازید، به این راهبرد، 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تفکر نظامدار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نیز میگویند.</a:t>
            </a:r>
            <a:r>
              <a:rPr lang="fa-IR" dirty="0"/>
              <a:t> </a:t>
            </a:r>
            <a:br>
              <a:rPr lang="fa-I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97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4C4-D228-33F5-D096-A8849B3B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CC073-D213-61BC-AC4A-6457C215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D3DE7-429F-D12B-887B-D87812020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حل بعضی از مسئله ها باید همه حالت های ممکن را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اینکه هیچ حالتی از قلم نیفتد، لازم است آنها را با نظم، الگو و ترتیبی مشخص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الگوسازی به شما کمک می کند تا مطمئن شوید همه حالتها را نوشته اید.</a:t>
            </a:r>
            <a:b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بنابراین در مسئله هایی که لازم است  همه جواب ها و پاسخهای ممکن را بنویسید، میتوانید از این راهبرد استفاده کنید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باتوجه به نظم و ترتیبی که می سازید، به این راهبرد، 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تفکر نظامدار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نیز میگویند.</a:t>
            </a:r>
            <a:r>
              <a:rPr lang="fa-IR" dirty="0"/>
              <a:t> </a:t>
            </a:r>
            <a:br>
              <a:rPr lang="fa-IR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4F5C-8CF3-2552-37CC-F24D005FA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2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0D0C55-22AD-C92B-15CD-DD2764B5B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FF4CA18-231C-91FD-6DD1-413F63C86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44" name="Connector B">
            <a:extLst>
              <a:ext uri="{FF2B5EF4-FFF2-40B4-BE49-F238E27FC236}">
                <a16:creationId xmlns:a16="http://schemas.microsoft.com/office/drawing/2014/main" id="{6625EB3B-A483-2253-748A-3AE405563C67}"/>
              </a:ext>
            </a:extLst>
          </p:cNvPr>
          <p:cNvGrpSpPr/>
          <p:nvPr/>
        </p:nvGrpSpPr>
        <p:grpSpPr>
          <a:xfrm flipH="1">
            <a:off x="5429917" y="2153889"/>
            <a:ext cx="1487644" cy="481092"/>
            <a:chOff x="3908440" y="2300061"/>
            <a:chExt cx="1487644" cy="481092"/>
          </a:xfrm>
        </p:grpSpPr>
        <p:sp>
          <p:nvSpPr>
            <p:cNvPr id="45" name="Freeform 63">
              <a:extLst>
                <a:ext uri="{FF2B5EF4-FFF2-40B4-BE49-F238E27FC236}">
                  <a16:creationId xmlns:a16="http://schemas.microsoft.com/office/drawing/2014/main" id="{B9FB19D1-E62C-D005-4656-D1412BBD1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814" y="2300061"/>
              <a:ext cx="1352270" cy="414009"/>
            </a:xfrm>
            <a:custGeom>
              <a:avLst/>
              <a:gdLst>
                <a:gd name="T0" fmla="*/ 0 w 1955"/>
                <a:gd name="T1" fmla="*/ 430 h 430"/>
                <a:gd name="T2" fmla="*/ 799 w 1955"/>
                <a:gd name="T3" fmla="*/ 430 h 430"/>
                <a:gd name="T4" fmla="*/ 1227 w 1955"/>
                <a:gd name="T5" fmla="*/ 0 h 430"/>
                <a:gd name="T6" fmla="*/ 1955 w 1955"/>
                <a:gd name="T7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55" h="430">
                  <a:moveTo>
                    <a:pt x="0" y="430"/>
                  </a:moveTo>
                  <a:lnTo>
                    <a:pt x="799" y="430"/>
                  </a:lnTo>
                  <a:lnTo>
                    <a:pt x="1227" y="0"/>
                  </a:lnTo>
                  <a:lnTo>
                    <a:pt x="1955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6" name="Oval 64">
              <a:extLst>
                <a:ext uri="{FF2B5EF4-FFF2-40B4-BE49-F238E27FC236}">
                  <a16:creationId xmlns:a16="http://schemas.microsoft.com/office/drawing/2014/main" id="{92E985B9-D889-7847-17D4-0E315699B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440" y="2645177"/>
              <a:ext cx="135371" cy="135976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7" name="Oval 65">
              <a:extLst>
                <a:ext uri="{FF2B5EF4-FFF2-40B4-BE49-F238E27FC236}">
                  <a16:creationId xmlns:a16="http://schemas.microsoft.com/office/drawing/2014/main" id="{7B205558-7650-A40F-1788-F86BEFFD9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964" y="2685028"/>
              <a:ext cx="60434" cy="610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3454668-C14D-B075-B161-35451D52C41B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61" name="Part D">
              <a:extLst>
                <a:ext uri="{FF2B5EF4-FFF2-40B4-BE49-F238E27FC236}">
                  <a16:creationId xmlns:a16="http://schemas.microsoft.com/office/drawing/2014/main" id="{E5F3B818-F4C1-AA68-8B7C-4A0E736BA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2" name="Part C">
              <a:extLst>
                <a:ext uri="{FF2B5EF4-FFF2-40B4-BE49-F238E27FC236}">
                  <a16:creationId xmlns:a16="http://schemas.microsoft.com/office/drawing/2014/main" id="{05668046-FE6D-8424-077F-9AC289765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3" name="Part F">
              <a:extLst>
                <a:ext uri="{FF2B5EF4-FFF2-40B4-BE49-F238E27FC236}">
                  <a16:creationId xmlns:a16="http://schemas.microsoft.com/office/drawing/2014/main" id="{34F40651-00DD-DAF1-41A0-02A95E60F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4" name="Part A">
              <a:extLst>
                <a:ext uri="{FF2B5EF4-FFF2-40B4-BE49-F238E27FC236}">
                  <a16:creationId xmlns:a16="http://schemas.microsoft.com/office/drawing/2014/main" id="{2601458E-AA93-D782-3B33-727FFE2FC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5" name="Part E">
              <a:extLst>
                <a:ext uri="{FF2B5EF4-FFF2-40B4-BE49-F238E27FC236}">
                  <a16:creationId xmlns:a16="http://schemas.microsoft.com/office/drawing/2014/main" id="{BDFE7165-E62D-54CF-ED4D-AD2101C7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6" name="Part B">
              <a:extLst>
                <a:ext uri="{FF2B5EF4-FFF2-40B4-BE49-F238E27FC236}">
                  <a16:creationId xmlns:a16="http://schemas.microsoft.com/office/drawing/2014/main" id="{CE562669-E11E-AAFD-A2DA-2B15EAD16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67" name="Big shape">
              <a:extLst>
                <a:ext uri="{FF2B5EF4-FFF2-40B4-BE49-F238E27FC236}">
                  <a16:creationId xmlns:a16="http://schemas.microsoft.com/office/drawing/2014/main" id="{52588A6F-3083-7C4D-279E-605D64CA4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68" name="Main circle">
            <a:extLst>
              <a:ext uri="{FF2B5EF4-FFF2-40B4-BE49-F238E27FC236}">
                <a16:creationId xmlns:a16="http://schemas.microsoft.com/office/drawing/2014/main" id="{46FA23DC-7B79-F391-C2A1-0DAC3425CA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3DF68C-5EB0-EEC0-AC99-21D051B0630D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5481F5-9A4E-09D6-3324-F78B4FFF9579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راهبردهای</a:t>
            </a:r>
          </a:p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حل مسئله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3BDC80F-9EBD-911B-2D0E-9433D5EA3FB0}"/>
              </a:ext>
            </a:extLst>
          </p:cNvPr>
          <p:cNvGrpSpPr/>
          <p:nvPr/>
        </p:nvGrpSpPr>
        <p:grpSpPr>
          <a:xfrm>
            <a:off x="3273676" y="1261778"/>
            <a:ext cx="2000331" cy="1446550"/>
            <a:chOff x="7803739" y="878197"/>
            <a:chExt cx="1469629" cy="1216215"/>
          </a:xfrm>
        </p:grpSpPr>
        <p:sp>
          <p:nvSpPr>
            <p:cNvPr id="72" name="Freeform 83">
              <a:extLst>
                <a:ext uri="{FF2B5EF4-FFF2-40B4-BE49-F238E27FC236}">
                  <a16:creationId xmlns:a16="http://schemas.microsoft.com/office/drawing/2014/main" id="{E1160838-C412-CC86-DEE6-34E1429F6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3" name="A">
              <a:extLst>
                <a:ext uri="{FF2B5EF4-FFF2-40B4-BE49-F238E27FC236}">
                  <a16:creationId xmlns:a16="http://schemas.microsoft.com/office/drawing/2014/main" id="{F2CD9789-42B8-1658-DDDB-F43046884FF3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573F6C4-8C16-F2DA-43C7-9F003FD77461}"/>
              </a:ext>
            </a:extLst>
          </p:cNvPr>
          <p:cNvGrpSpPr/>
          <p:nvPr/>
        </p:nvGrpSpPr>
        <p:grpSpPr>
          <a:xfrm>
            <a:off x="3214025" y="3804897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F8C89F2-BFB6-95D8-3AEF-E26D999EC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85A95ED0-8931-FF1F-92F4-D6320CD4E301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93FB91-2CDE-05E0-87CC-522290F72C28}"/>
              </a:ext>
            </a:extLst>
          </p:cNvPr>
          <p:cNvGrpSpPr/>
          <p:nvPr/>
        </p:nvGrpSpPr>
        <p:grpSpPr>
          <a:xfrm>
            <a:off x="5441262" y="4264045"/>
            <a:ext cx="1510900" cy="502296"/>
            <a:chOff x="5603251" y="4527981"/>
            <a:chExt cx="1510900" cy="502296"/>
          </a:xfrm>
        </p:grpSpPr>
        <p:grpSp>
          <p:nvGrpSpPr>
            <p:cNvPr id="32" name="Connector D">
              <a:extLst>
                <a:ext uri="{FF2B5EF4-FFF2-40B4-BE49-F238E27FC236}">
                  <a16:creationId xmlns:a16="http://schemas.microsoft.com/office/drawing/2014/main" id="{ECDFCFCD-8A2B-B3E7-B577-E33406ECB24C}"/>
                </a:ext>
              </a:extLst>
            </p:cNvPr>
            <p:cNvGrpSpPr/>
            <p:nvPr/>
          </p:nvGrpSpPr>
          <p:grpSpPr>
            <a:xfrm flipH="1">
              <a:off x="6970151" y="4527981"/>
              <a:ext cx="144000" cy="144000"/>
              <a:chOff x="3898359" y="4075035"/>
              <a:chExt cx="145452" cy="128229"/>
            </a:xfrm>
          </p:grpSpPr>
          <p:sp>
            <p:nvSpPr>
              <p:cNvPr id="34" name="Oval 70">
                <a:extLst>
                  <a:ext uri="{FF2B5EF4-FFF2-40B4-BE49-F238E27FC236}">
                    <a16:creationId xmlns:a16="http://schemas.microsoft.com/office/drawing/2014/main" id="{7C5EA917-8B54-8C7E-4470-05E30F9F4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8359" y="4075035"/>
                <a:ext cx="145452" cy="128229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5" name="Oval 71">
                <a:extLst>
                  <a:ext uri="{FF2B5EF4-FFF2-40B4-BE49-F238E27FC236}">
                    <a16:creationId xmlns:a16="http://schemas.microsoft.com/office/drawing/2014/main" id="{33E5FED4-72D5-804F-3B38-D2C9253709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2645" y="4107657"/>
                <a:ext cx="72726" cy="6411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3" name="Freeform 63">
              <a:extLst>
                <a:ext uri="{FF2B5EF4-FFF2-40B4-BE49-F238E27FC236}">
                  <a16:creationId xmlns:a16="http://schemas.microsoft.com/office/drawing/2014/main" id="{176149DB-6CAE-3636-F932-75AD91DDE32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603251" y="4615142"/>
              <a:ext cx="1352270" cy="415135"/>
            </a:xfrm>
            <a:custGeom>
              <a:avLst/>
              <a:gdLst>
                <a:gd name="T0" fmla="*/ 0 w 1955"/>
                <a:gd name="T1" fmla="*/ 430 h 430"/>
                <a:gd name="T2" fmla="*/ 799 w 1955"/>
                <a:gd name="T3" fmla="*/ 430 h 430"/>
                <a:gd name="T4" fmla="*/ 1227 w 1955"/>
                <a:gd name="T5" fmla="*/ 0 h 430"/>
                <a:gd name="T6" fmla="*/ 1955 w 1955"/>
                <a:gd name="T7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55" h="430">
                  <a:moveTo>
                    <a:pt x="0" y="430"/>
                  </a:moveTo>
                  <a:lnTo>
                    <a:pt x="799" y="430"/>
                  </a:lnTo>
                  <a:lnTo>
                    <a:pt x="1227" y="0"/>
                  </a:lnTo>
                  <a:lnTo>
                    <a:pt x="1955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950"/>
                            </p:stCondLst>
                            <p:childTnLst>
                              <p:par>
                                <p:cTn id="32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"/>
                            </p:stCondLst>
                            <p:childTnLst>
                              <p:par>
                                <p:cTn id="42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دو عدد طبیعی پیدا کنید که حاصل ضرب آن ها 24 و حاصل جمع آن ها بیشترین مقدار باشد.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53BDD281-455B-9FA9-A459-F9D98D90862A}"/>
              </a:ext>
            </a:extLst>
          </p:cNvPr>
          <p:cNvSpPr/>
          <p:nvPr/>
        </p:nvSpPr>
        <p:spPr>
          <a:xfrm>
            <a:off x="2361102" y="3000924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3F2F0A2-4393-C5A8-8E00-CAD91F609BDA}"/>
              </a:ext>
            </a:extLst>
          </p:cNvPr>
          <p:cNvSpPr/>
          <p:nvPr/>
        </p:nvSpPr>
        <p:spPr>
          <a:xfrm>
            <a:off x="3806620" y="3000924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24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03A139-8D88-690C-13C9-63D7D1EAB349}"/>
              </a:ext>
            </a:extLst>
          </p:cNvPr>
          <p:cNvSpPr/>
          <p:nvPr/>
        </p:nvSpPr>
        <p:spPr>
          <a:xfrm>
            <a:off x="5222325" y="2990855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25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12309B-0DB0-C796-479A-7B145FF46874}"/>
              </a:ext>
            </a:extLst>
          </p:cNvPr>
          <p:cNvSpPr/>
          <p:nvPr/>
        </p:nvSpPr>
        <p:spPr>
          <a:xfrm>
            <a:off x="2361102" y="3598803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45D146-3ABA-5AE1-7AF4-DC92DA4E3542}"/>
              </a:ext>
            </a:extLst>
          </p:cNvPr>
          <p:cNvSpPr/>
          <p:nvPr/>
        </p:nvSpPr>
        <p:spPr>
          <a:xfrm>
            <a:off x="3806620" y="3598803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12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BF4191-4B12-B2E9-DE7A-4A3D3A96F643}"/>
              </a:ext>
            </a:extLst>
          </p:cNvPr>
          <p:cNvSpPr/>
          <p:nvPr/>
        </p:nvSpPr>
        <p:spPr>
          <a:xfrm>
            <a:off x="5222325" y="3588734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14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6EAF2E-89A8-18AB-AC05-CB5FEAD085CC}"/>
              </a:ext>
            </a:extLst>
          </p:cNvPr>
          <p:cNvSpPr/>
          <p:nvPr/>
        </p:nvSpPr>
        <p:spPr>
          <a:xfrm>
            <a:off x="2361102" y="4135378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27E2F6-C4B4-AB21-FE48-5CAA16478C8C}"/>
              </a:ext>
            </a:extLst>
          </p:cNvPr>
          <p:cNvSpPr/>
          <p:nvPr/>
        </p:nvSpPr>
        <p:spPr>
          <a:xfrm>
            <a:off x="3806620" y="4135378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BAE97B-A49B-65F0-2492-35363D4E2DCB}"/>
              </a:ext>
            </a:extLst>
          </p:cNvPr>
          <p:cNvSpPr/>
          <p:nvPr/>
        </p:nvSpPr>
        <p:spPr>
          <a:xfrm>
            <a:off x="5222325" y="4125309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11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32F627-1BDB-3D54-8860-529FDC812DE9}"/>
              </a:ext>
            </a:extLst>
          </p:cNvPr>
          <p:cNvSpPr/>
          <p:nvPr/>
        </p:nvSpPr>
        <p:spPr>
          <a:xfrm>
            <a:off x="2361102" y="4741270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C57DBE-78FA-9CC0-2716-27B3E40AD1B3}"/>
              </a:ext>
            </a:extLst>
          </p:cNvPr>
          <p:cNvSpPr/>
          <p:nvPr/>
        </p:nvSpPr>
        <p:spPr>
          <a:xfrm>
            <a:off x="3806620" y="4741270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0A5CDC6-892F-73C6-510A-CA8D48E6AEF8}"/>
              </a:ext>
            </a:extLst>
          </p:cNvPr>
          <p:cNvSpPr/>
          <p:nvPr/>
        </p:nvSpPr>
        <p:spPr>
          <a:xfrm>
            <a:off x="5222325" y="4731201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6073648-E11A-3A81-F84A-D5B97987D00D}"/>
              </a:ext>
            </a:extLst>
          </p:cNvPr>
          <p:cNvSpPr/>
          <p:nvPr/>
        </p:nvSpPr>
        <p:spPr>
          <a:xfrm>
            <a:off x="2140682" y="3156418"/>
            <a:ext cx="3877339" cy="605892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6238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85C13D-380D-3C73-A27E-0018F9DC16B1}"/>
              </a:ext>
            </a:extLst>
          </p:cNvPr>
          <p:cNvGrpSpPr/>
          <p:nvPr/>
        </p:nvGrpSpPr>
        <p:grpSpPr>
          <a:xfrm>
            <a:off x="1750329" y="2304944"/>
            <a:ext cx="4508694" cy="3036007"/>
            <a:chOff x="1750329" y="2304944"/>
            <a:chExt cx="4508694" cy="303600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D75A18E-4D7B-1A17-B9CE-D555E660B7DB}"/>
                </a:ext>
              </a:extLst>
            </p:cNvPr>
            <p:cNvGrpSpPr/>
            <p:nvPr/>
          </p:nvGrpSpPr>
          <p:grpSpPr>
            <a:xfrm>
              <a:off x="1750329" y="2304944"/>
              <a:ext cx="4508694" cy="674862"/>
              <a:chOff x="1778683" y="2772776"/>
              <a:chExt cx="4508694" cy="6748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D987739-85EA-FBB5-AE25-6EAD2111AE45}"/>
                  </a:ext>
                </a:extLst>
              </p:cNvPr>
              <p:cNvSpPr/>
              <p:nvPr/>
            </p:nvSpPr>
            <p:spPr>
              <a:xfrm>
                <a:off x="1778683" y="2772776"/>
                <a:ext cx="1510321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اولین عدد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6633280-0DD3-DEBE-6C67-A67466C3AE67}"/>
                  </a:ext>
                </a:extLst>
              </p:cNvPr>
              <p:cNvSpPr/>
              <p:nvPr/>
            </p:nvSpPr>
            <p:spPr>
              <a:xfrm>
                <a:off x="3289005" y="2772776"/>
                <a:ext cx="1687027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دومین عدد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20293D7-2F07-693C-E36B-EC00335E476B}"/>
                  </a:ext>
                </a:extLst>
              </p:cNvPr>
              <p:cNvSpPr/>
              <p:nvPr/>
            </p:nvSpPr>
            <p:spPr>
              <a:xfrm>
                <a:off x="4777056" y="2792074"/>
                <a:ext cx="1510321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مجموع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7D6B7E6-BE08-AC84-1560-99A45F55DD22}"/>
                </a:ext>
              </a:extLst>
            </p:cNvPr>
            <p:cNvGrpSpPr/>
            <p:nvPr/>
          </p:nvGrpSpPr>
          <p:grpSpPr>
            <a:xfrm>
              <a:off x="1915886" y="2460951"/>
              <a:ext cx="4124080" cy="2880000"/>
              <a:chOff x="1893941" y="4524817"/>
              <a:chExt cx="4124080" cy="2880000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79CA46E-5AB5-469A-9130-1972F51425AF}"/>
                  </a:ext>
                </a:extLst>
              </p:cNvPr>
              <p:cNvCxnSpPr/>
              <p:nvPr/>
            </p:nvCxnSpPr>
            <p:spPr>
              <a:xfrm>
                <a:off x="3275636" y="4524817"/>
                <a:ext cx="0" cy="288000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7CD987A-6092-153E-7FC2-B22BF42AA9EC}"/>
                  </a:ext>
                </a:extLst>
              </p:cNvPr>
              <p:cNvCxnSpPr/>
              <p:nvPr/>
            </p:nvCxnSpPr>
            <p:spPr>
              <a:xfrm>
                <a:off x="4841355" y="4524817"/>
                <a:ext cx="0" cy="288000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DC2A0C7-CF82-6451-CDB2-883E66349D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941" y="5091075"/>
                <a:ext cx="4124080" cy="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8857BD7-7F32-C097-ADDC-A4F70117ABC9}"/>
              </a:ext>
            </a:extLst>
          </p:cNvPr>
          <p:cNvSpPr/>
          <p:nvPr/>
        </p:nvSpPr>
        <p:spPr>
          <a:xfrm>
            <a:off x="2343469" y="5340951"/>
            <a:ext cx="59508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25A8E8-9C2F-811E-C718-9D47BE1B99C8}"/>
              </a:ext>
            </a:extLst>
          </p:cNvPr>
          <p:cNvSpPr/>
          <p:nvPr/>
        </p:nvSpPr>
        <p:spPr>
          <a:xfrm>
            <a:off x="3806620" y="5347902"/>
            <a:ext cx="40336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62" grpId="0" animBg="1"/>
          <p:bldP spid="19" grpId="0"/>
          <p:bldP spid="19" grpId="1"/>
          <p:bldP spid="39" grpId="0"/>
          <p:bldP spid="3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7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0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62" grpId="0" animBg="1"/>
          <p:bldP spid="19" grpId="0"/>
          <p:bldP spid="19" grpId="1"/>
          <p:bldP spid="39" grpId="0"/>
          <p:bldP spid="39" grpId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495989"/>
            <a:ext cx="8632177" cy="1387934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190667" y="469949"/>
            <a:ext cx="7845478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با رقم های </a:t>
            </a:r>
            <a:r>
              <a:rPr lang="en-US" sz="2400" dirty="0">
                <a:latin typeface="IRANYekanXFaNum" pitchFamily="2" charset="-78"/>
                <a:cs typeface="IRANYekanXFaNum" pitchFamily="2" charset="-78"/>
              </a:rPr>
              <a:t>7,3,6 </a:t>
            </a: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 تمام عدد های سه رقمی ممکن را بنویسید.</a:t>
            </a:r>
          </a:p>
          <a:p>
            <a:pPr algn="r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(در عدد‌های شما می توانید رقم‌های تکراری هم باشد.)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193D69D-3B17-87A2-163C-109218695673}"/>
              </a:ext>
            </a:extLst>
          </p:cNvPr>
          <p:cNvSpPr/>
          <p:nvPr/>
        </p:nvSpPr>
        <p:spPr>
          <a:xfrm>
            <a:off x="780385" y="211666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333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0D52E0-B451-2335-C165-CAD3F2741847}"/>
              </a:ext>
            </a:extLst>
          </p:cNvPr>
          <p:cNvSpPr/>
          <p:nvPr/>
        </p:nvSpPr>
        <p:spPr>
          <a:xfrm>
            <a:off x="780383" y="2499699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335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E215B9-81DE-666B-2E01-14A405E1CC22}"/>
              </a:ext>
            </a:extLst>
          </p:cNvPr>
          <p:cNvSpPr/>
          <p:nvPr/>
        </p:nvSpPr>
        <p:spPr>
          <a:xfrm>
            <a:off x="780383" y="291109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337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92FC0A-0FB1-9AE6-0B56-8F26D8A8185D}"/>
              </a:ext>
            </a:extLst>
          </p:cNvPr>
          <p:cNvSpPr/>
          <p:nvPr/>
        </p:nvSpPr>
        <p:spPr>
          <a:xfrm>
            <a:off x="780383" y="3603329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353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A3B0FD-71CB-ACC4-719A-812AA0998C49}"/>
              </a:ext>
            </a:extLst>
          </p:cNvPr>
          <p:cNvSpPr/>
          <p:nvPr/>
        </p:nvSpPr>
        <p:spPr>
          <a:xfrm>
            <a:off x="780382" y="4006200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355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BC0851-893D-A88B-0327-FAD86C16E4A7}"/>
              </a:ext>
            </a:extLst>
          </p:cNvPr>
          <p:cNvSpPr/>
          <p:nvPr/>
        </p:nvSpPr>
        <p:spPr>
          <a:xfrm>
            <a:off x="780381" y="440907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357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1DC7BB-8B01-FD09-25BB-0E15E7C0E880}"/>
              </a:ext>
            </a:extLst>
          </p:cNvPr>
          <p:cNvSpPr/>
          <p:nvPr/>
        </p:nvSpPr>
        <p:spPr>
          <a:xfrm>
            <a:off x="780383" y="4965489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373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18D220-D25A-4DDC-6C87-D9813651A75E}"/>
              </a:ext>
            </a:extLst>
          </p:cNvPr>
          <p:cNvSpPr/>
          <p:nvPr/>
        </p:nvSpPr>
        <p:spPr>
          <a:xfrm>
            <a:off x="780382" y="5368360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375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064822-F821-0511-CE96-F9153E86A9AD}"/>
              </a:ext>
            </a:extLst>
          </p:cNvPr>
          <p:cNvSpPr/>
          <p:nvPr/>
        </p:nvSpPr>
        <p:spPr>
          <a:xfrm>
            <a:off x="780381" y="5771231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377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8735C5-60EF-0D43-6CEC-E432E050D588}"/>
              </a:ext>
            </a:extLst>
          </p:cNvPr>
          <p:cNvSpPr/>
          <p:nvPr/>
        </p:nvSpPr>
        <p:spPr>
          <a:xfrm>
            <a:off x="2333181" y="205995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533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6FE53B-5258-5E8D-7130-9566EC3CB684}"/>
              </a:ext>
            </a:extLst>
          </p:cNvPr>
          <p:cNvSpPr/>
          <p:nvPr/>
        </p:nvSpPr>
        <p:spPr>
          <a:xfrm>
            <a:off x="2333179" y="244299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535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93C148-FB5B-EAEA-25AA-172A10CA6BC3}"/>
              </a:ext>
            </a:extLst>
          </p:cNvPr>
          <p:cNvSpPr/>
          <p:nvPr/>
        </p:nvSpPr>
        <p:spPr>
          <a:xfrm>
            <a:off x="2333179" y="285438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537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B4C7DF-03B2-92A5-C21E-5A77DB9C6E8E}"/>
              </a:ext>
            </a:extLst>
          </p:cNvPr>
          <p:cNvSpPr/>
          <p:nvPr/>
        </p:nvSpPr>
        <p:spPr>
          <a:xfrm>
            <a:off x="2333179" y="354662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553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89BB45-3F7A-74D9-9521-F7FE9DF2BBA9}"/>
              </a:ext>
            </a:extLst>
          </p:cNvPr>
          <p:cNvSpPr/>
          <p:nvPr/>
        </p:nvSpPr>
        <p:spPr>
          <a:xfrm>
            <a:off x="2333178" y="394949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555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D9E8FD-8AFF-5A80-980A-6BE24AB90CA6}"/>
              </a:ext>
            </a:extLst>
          </p:cNvPr>
          <p:cNvSpPr/>
          <p:nvPr/>
        </p:nvSpPr>
        <p:spPr>
          <a:xfrm>
            <a:off x="2333177" y="435236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557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BE9005F-CBCA-FDCF-37B1-06A5734FE962}"/>
              </a:ext>
            </a:extLst>
          </p:cNvPr>
          <p:cNvSpPr/>
          <p:nvPr/>
        </p:nvSpPr>
        <p:spPr>
          <a:xfrm>
            <a:off x="2333179" y="490878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573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6225E1-07D2-5E15-1C6B-54CD1C4DBC8F}"/>
              </a:ext>
            </a:extLst>
          </p:cNvPr>
          <p:cNvSpPr/>
          <p:nvPr/>
        </p:nvSpPr>
        <p:spPr>
          <a:xfrm>
            <a:off x="2333178" y="531165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575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850CA9-4665-7C69-25AF-E26F6AC7DE2D}"/>
              </a:ext>
            </a:extLst>
          </p:cNvPr>
          <p:cNvSpPr/>
          <p:nvPr/>
        </p:nvSpPr>
        <p:spPr>
          <a:xfrm>
            <a:off x="2333177" y="571452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577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C95B9B-1028-8C98-2CCA-3E5E83698F0B}"/>
              </a:ext>
            </a:extLst>
          </p:cNvPr>
          <p:cNvSpPr/>
          <p:nvPr/>
        </p:nvSpPr>
        <p:spPr>
          <a:xfrm>
            <a:off x="3984409" y="205995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733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FA255E2-6A89-5A0F-5C13-613097EDC2E3}"/>
              </a:ext>
            </a:extLst>
          </p:cNvPr>
          <p:cNvSpPr/>
          <p:nvPr/>
        </p:nvSpPr>
        <p:spPr>
          <a:xfrm>
            <a:off x="3984407" y="244299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735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6A9008E-DA22-8536-FCC2-7ED5EE90DACA}"/>
              </a:ext>
            </a:extLst>
          </p:cNvPr>
          <p:cNvSpPr/>
          <p:nvPr/>
        </p:nvSpPr>
        <p:spPr>
          <a:xfrm>
            <a:off x="3984407" y="285438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737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A962922-CF2C-4FBD-1B28-236AA0689474}"/>
              </a:ext>
            </a:extLst>
          </p:cNvPr>
          <p:cNvSpPr/>
          <p:nvPr/>
        </p:nvSpPr>
        <p:spPr>
          <a:xfrm>
            <a:off x="3984407" y="354662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753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22F356-4598-9FE0-40DC-BF8A726A67BA}"/>
              </a:ext>
            </a:extLst>
          </p:cNvPr>
          <p:cNvSpPr/>
          <p:nvPr/>
        </p:nvSpPr>
        <p:spPr>
          <a:xfrm>
            <a:off x="3984406" y="394949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755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98288C5-4AF4-7BE0-DDEC-8A2B269A2B76}"/>
              </a:ext>
            </a:extLst>
          </p:cNvPr>
          <p:cNvSpPr/>
          <p:nvPr/>
        </p:nvSpPr>
        <p:spPr>
          <a:xfrm>
            <a:off x="3984405" y="435236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757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867902-2B1B-1689-FC1F-51FDE02AF6ED}"/>
              </a:ext>
            </a:extLst>
          </p:cNvPr>
          <p:cNvSpPr/>
          <p:nvPr/>
        </p:nvSpPr>
        <p:spPr>
          <a:xfrm>
            <a:off x="3984407" y="4908782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773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845FB4-21AE-7DD6-386F-A3444BC0E8A3}"/>
              </a:ext>
            </a:extLst>
          </p:cNvPr>
          <p:cNvSpPr/>
          <p:nvPr/>
        </p:nvSpPr>
        <p:spPr>
          <a:xfrm>
            <a:off x="3984406" y="5311653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775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72F8C2-81C3-63F0-F044-B080A0993E4E}"/>
              </a:ext>
            </a:extLst>
          </p:cNvPr>
          <p:cNvSpPr/>
          <p:nvPr/>
        </p:nvSpPr>
        <p:spPr>
          <a:xfrm>
            <a:off x="3984405" y="5714524"/>
            <a:ext cx="8924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777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D76E0E4-F638-D915-D758-EEC11360E367}"/>
              </a:ext>
            </a:extLst>
          </p:cNvPr>
          <p:cNvSpPr/>
          <p:nvPr/>
        </p:nvSpPr>
        <p:spPr>
          <a:xfrm>
            <a:off x="5437216" y="3698270"/>
            <a:ext cx="3444514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000" b="1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27 عدد سه رقمی می‌توان نوشت</a:t>
            </a:r>
            <a:endParaRPr lang="en-US" sz="2000" b="1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4255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8" grpId="0"/>
          <p:bldP spid="29" grpId="0"/>
          <p:bldP spid="30" grpId="0"/>
          <p:bldP spid="32" grpId="0"/>
          <p:bldP spid="33" grpId="0"/>
          <p:bldP spid="34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57" grpId="0"/>
          <p:bldP spid="58" grpId="0"/>
          <p:bldP spid="59" grpId="0"/>
          <p:bldP spid="6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4" fill="hold">
                          <p:stCondLst>
                            <p:cond delay="indefinite"/>
                          </p:stCondLst>
                          <p:childTnLst>
                            <p:par>
                              <p:cTn id="1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8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9" fill="hold">
                          <p:stCondLst>
                            <p:cond delay="indefinite"/>
                          </p:stCondLst>
                          <p:childTnLst>
                            <p:par>
                              <p:cTn id="1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4" fill="hold">
                          <p:stCondLst>
                            <p:cond delay="indefinite"/>
                          </p:stCondLst>
                          <p:childTnLst>
                            <p:par>
                              <p:cTn id="1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8" grpId="0"/>
          <p:bldP spid="29" grpId="0"/>
          <p:bldP spid="30" grpId="0"/>
          <p:bldP spid="32" grpId="0"/>
          <p:bldP spid="33" grpId="0"/>
          <p:bldP spid="34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/>
          <p:bldP spid="54" grpId="0"/>
          <p:bldP spid="55" grpId="0"/>
          <p:bldP spid="56" grpId="0"/>
          <p:bldP spid="57" grpId="0"/>
          <p:bldP spid="58" grpId="0"/>
          <p:bldP spid="59" grpId="0"/>
          <p:bldP spid="60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hands making a peace sign&#10;&#10;AI-generated content may be incorrect." hidden="1">
            <a:extLst>
              <a:ext uri="{FF2B5EF4-FFF2-40B4-BE49-F238E27FC236}">
                <a16:creationId xmlns:a16="http://schemas.microsoft.com/office/drawing/2014/main" id="{DE5A014C-EDCA-295F-BBB8-7C6C069B49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0486" y="2649610"/>
            <a:ext cx="5115847" cy="433000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421329"/>
            <a:ext cx="8632177" cy="1549654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983E7C7-0A06-51B7-C8FA-27F930EB0F5A}"/>
              </a:ext>
            </a:extLst>
          </p:cNvPr>
          <p:cNvSpPr/>
          <p:nvPr/>
        </p:nvSpPr>
        <p:spPr>
          <a:xfrm>
            <a:off x="380707" y="516668"/>
            <a:ext cx="76610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با انگشتان یک دست به چند صورت می توان عدد 2 را نشان داد؟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00003C7-7FDA-78CE-F9E2-3353AF486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4010" y="5475848"/>
            <a:ext cx="1195690" cy="1158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A0A5D7-60F5-64C0-AFD9-A66259EEA27D}"/>
              </a:ext>
            </a:extLst>
          </p:cNvPr>
          <p:cNvGrpSpPr/>
          <p:nvPr/>
        </p:nvGrpSpPr>
        <p:grpSpPr>
          <a:xfrm>
            <a:off x="408681" y="2067671"/>
            <a:ext cx="4151023" cy="4645186"/>
            <a:chOff x="408681" y="2067671"/>
            <a:chExt cx="4151023" cy="464518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EC2CA5F-F6B6-AF12-4D49-042B763B897B}"/>
                </a:ext>
              </a:extLst>
            </p:cNvPr>
            <p:cNvGrpSpPr/>
            <p:nvPr/>
          </p:nvGrpSpPr>
          <p:grpSpPr>
            <a:xfrm>
              <a:off x="408681" y="2124997"/>
              <a:ext cx="4151023" cy="4587860"/>
              <a:chOff x="408681" y="2124997"/>
              <a:chExt cx="4151023" cy="458786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1CC75CC-0556-D2F3-060C-3BF234BCEC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3563" y="2124997"/>
                <a:ext cx="39575" cy="458786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A80F3DD-4D12-07D7-90A1-3BF2DB369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5532" y="2124997"/>
                <a:ext cx="55536" cy="4509022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E549BED-51A5-6C59-A976-368165E431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3350" y="2124997"/>
                <a:ext cx="0" cy="458786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217F676-E069-1736-4A68-FBC99A4887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6245" y="2124997"/>
                <a:ext cx="0" cy="4587860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5262336-591A-A606-C76A-7DDF88CD72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8681" y="2573836"/>
                <a:ext cx="4151023" cy="7912"/>
              </a:xfrm>
              <a:prstGeom prst="line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9CAD417-6E12-35D7-D5A8-92AC377E10CD}"/>
                </a:ext>
              </a:extLst>
            </p:cNvPr>
            <p:cNvGrpSpPr/>
            <p:nvPr/>
          </p:nvGrpSpPr>
          <p:grpSpPr>
            <a:xfrm>
              <a:off x="565018" y="2067671"/>
              <a:ext cx="3647794" cy="488931"/>
              <a:chOff x="565018" y="2067671"/>
              <a:chExt cx="3647794" cy="48893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57E538C-FA98-0228-7F67-0FAF4AF807BE}"/>
                  </a:ext>
                </a:extLst>
              </p:cNvPr>
              <p:cNvSpPr/>
              <p:nvPr/>
            </p:nvSpPr>
            <p:spPr>
              <a:xfrm>
                <a:off x="565018" y="2067671"/>
                <a:ext cx="579796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اول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65D46A5-0271-EEE0-ECC9-9B1F08AA4CCB}"/>
                  </a:ext>
                </a:extLst>
              </p:cNvPr>
              <p:cNvSpPr/>
              <p:nvPr/>
            </p:nvSpPr>
            <p:spPr>
              <a:xfrm>
                <a:off x="1365736" y="2067671"/>
                <a:ext cx="579796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دوم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347CC6-5AC5-7257-4207-2632F3FE7D5F}"/>
                  </a:ext>
                </a:extLst>
              </p:cNvPr>
              <p:cNvSpPr/>
              <p:nvPr/>
            </p:nvSpPr>
            <p:spPr>
              <a:xfrm>
                <a:off x="2001068" y="2080041"/>
                <a:ext cx="579796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سوم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D56AE57-3902-6B8E-B240-58CB405F366E}"/>
                  </a:ext>
                </a:extLst>
              </p:cNvPr>
              <p:cNvSpPr/>
              <p:nvPr/>
            </p:nvSpPr>
            <p:spPr>
              <a:xfrm>
                <a:off x="2722383" y="2080041"/>
                <a:ext cx="659199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چهارم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3F69107-F009-3873-18D8-DF027ABB3437}"/>
                  </a:ext>
                </a:extLst>
              </p:cNvPr>
              <p:cNvSpPr/>
              <p:nvPr/>
            </p:nvSpPr>
            <p:spPr>
              <a:xfrm>
                <a:off x="3553613" y="2088782"/>
                <a:ext cx="659199" cy="46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16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پنجم</a:t>
                </a:r>
                <a:endParaRPr lang="en-US" sz="16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p:grpSp>
      </p:grpSp>
      <p:pic>
        <p:nvPicPr>
          <p:cNvPr id="49" name="Picture 48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EA92C1FC-4BC6-65AF-2173-7FE705768E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4" y="2625081"/>
            <a:ext cx="453515" cy="405506"/>
          </a:xfrm>
          <a:prstGeom prst="rect">
            <a:avLst/>
          </a:prstGeom>
        </p:spPr>
      </p:pic>
      <p:pic>
        <p:nvPicPr>
          <p:cNvPr id="50" name="Picture 49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5F61EF6D-EE6F-2F06-AE6D-5ADA03AA7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82" y="2632731"/>
            <a:ext cx="453515" cy="405506"/>
          </a:xfrm>
          <a:prstGeom prst="rect">
            <a:avLst/>
          </a:prstGeom>
        </p:spPr>
      </p:pic>
      <p:pic>
        <p:nvPicPr>
          <p:cNvPr id="51" name="Picture 50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22761FB8-94E7-7AD3-2A6E-AB39217DF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49" y="3049123"/>
            <a:ext cx="453515" cy="405506"/>
          </a:xfrm>
          <a:prstGeom prst="rect">
            <a:avLst/>
          </a:prstGeom>
        </p:spPr>
      </p:pic>
      <p:pic>
        <p:nvPicPr>
          <p:cNvPr id="53" name="Picture 52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25BCABAF-2807-144A-1BEA-0CD79F129B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49" y="3430443"/>
            <a:ext cx="453515" cy="405506"/>
          </a:xfrm>
          <a:prstGeom prst="rect">
            <a:avLst/>
          </a:prstGeom>
        </p:spPr>
      </p:pic>
      <p:pic>
        <p:nvPicPr>
          <p:cNvPr id="54" name="Picture 53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94DF9069-0EB3-C2B1-8F90-A1F794B44B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4" y="3866683"/>
            <a:ext cx="453515" cy="405506"/>
          </a:xfrm>
          <a:prstGeom prst="rect">
            <a:avLst/>
          </a:prstGeom>
        </p:spPr>
      </p:pic>
      <p:pic>
        <p:nvPicPr>
          <p:cNvPr id="55" name="Picture 54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327965E7-41B7-6D95-04FC-F18E68648B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81" y="4286146"/>
            <a:ext cx="453515" cy="405506"/>
          </a:xfrm>
          <a:prstGeom prst="rect">
            <a:avLst/>
          </a:prstGeom>
        </p:spPr>
      </p:pic>
      <p:pic>
        <p:nvPicPr>
          <p:cNvPr id="56" name="Picture 55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EBFFA1FE-9170-628A-CE0D-8B368A818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81" y="4684645"/>
            <a:ext cx="453515" cy="405506"/>
          </a:xfrm>
          <a:prstGeom prst="rect">
            <a:avLst/>
          </a:prstGeom>
        </p:spPr>
      </p:pic>
      <p:pic>
        <p:nvPicPr>
          <p:cNvPr id="57" name="Picture 56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874F14D6-3E54-7C3E-7C48-7B7A122E3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449" y="3048730"/>
            <a:ext cx="453515" cy="405506"/>
          </a:xfrm>
          <a:prstGeom prst="rect">
            <a:avLst/>
          </a:prstGeom>
        </p:spPr>
      </p:pic>
      <p:pic>
        <p:nvPicPr>
          <p:cNvPr id="61" name="Picture 60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B8B1D569-45A2-59EB-9EA4-FF3238CDC8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935" y="3404821"/>
            <a:ext cx="453515" cy="405506"/>
          </a:xfrm>
          <a:prstGeom prst="rect">
            <a:avLst/>
          </a:prstGeom>
        </p:spPr>
      </p:pic>
      <p:pic>
        <p:nvPicPr>
          <p:cNvPr id="62" name="Picture 61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CC30839B-0D95-2313-5A0D-E52F97634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92" y="3835949"/>
            <a:ext cx="453515" cy="405506"/>
          </a:xfrm>
          <a:prstGeom prst="rect">
            <a:avLst/>
          </a:prstGeom>
        </p:spPr>
      </p:pic>
      <p:pic>
        <p:nvPicPr>
          <p:cNvPr id="63" name="Picture 62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86D961BC-BA48-21F0-077B-448B8ABA2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676" y="4315621"/>
            <a:ext cx="453515" cy="405506"/>
          </a:xfrm>
          <a:prstGeom prst="rect">
            <a:avLst/>
          </a:prstGeom>
        </p:spPr>
      </p:pic>
      <p:pic>
        <p:nvPicPr>
          <p:cNvPr id="64" name="Picture 63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5C5B34E0-8612-F96A-5047-B29E4FA18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04" y="4727157"/>
            <a:ext cx="453515" cy="405506"/>
          </a:xfrm>
          <a:prstGeom prst="rect">
            <a:avLst/>
          </a:prstGeom>
        </p:spPr>
      </p:pic>
      <p:pic>
        <p:nvPicPr>
          <p:cNvPr id="79" name="Picture 78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D58C69A1-5ED9-1AA3-8D1C-8A8AEE24C4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24" y="5189800"/>
            <a:ext cx="453515" cy="405506"/>
          </a:xfrm>
          <a:prstGeom prst="rect">
            <a:avLst/>
          </a:prstGeom>
        </p:spPr>
      </p:pic>
      <p:pic>
        <p:nvPicPr>
          <p:cNvPr id="80" name="Picture 79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6861267C-2B79-6794-BA87-B697BFDB63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91" y="5189800"/>
            <a:ext cx="453515" cy="405506"/>
          </a:xfrm>
          <a:prstGeom prst="rect">
            <a:avLst/>
          </a:prstGeom>
        </p:spPr>
      </p:pic>
      <p:pic>
        <p:nvPicPr>
          <p:cNvPr id="82" name="Picture 81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BDDF3777-81DE-0D42-AAE8-660CE6DCD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51" y="5494632"/>
            <a:ext cx="453515" cy="405506"/>
          </a:xfrm>
          <a:prstGeom prst="rect">
            <a:avLst/>
          </a:prstGeom>
        </p:spPr>
      </p:pic>
      <p:pic>
        <p:nvPicPr>
          <p:cNvPr id="85" name="Picture 84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A4858CE7-84E1-BEDA-D962-8982C36BD7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46" y="5530320"/>
            <a:ext cx="453515" cy="405506"/>
          </a:xfrm>
          <a:prstGeom prst="rect">
            <a:avLst/>
          </a:prstGeom>
        </p:spPr>
      </p:pic>
      <p:pic>
        <p:nvPicPr>
          <p:cNvPr id="86" name="Picture 85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D7C234E3-F691-F08B-EC8E-8EFCC2AA79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92" y="5935826"/>
            <a:ext cx="453515" cy="405506"/>
          </a:xfrm>
          <a:prstGeom prst="rect">
            <a:avLst/>
          </a:prstGeom>
        </p:spPr>
      </p:pic>
      <p:pic>
        <p:nvPicPr>
          <p:cNvPr id="87" name="Picture 86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713F7556-B3C6-6B77-5E80-AF422A3BD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719" y="5927881"/>
            <a:ext cx="453515" cy="405506"/>
          </a:xfrm>
          <a:prstGeom prst="rect">
            <a:avLst/>
          </a:prstGeom>
        </p:spPr>
      </p:pic>
      <p:pic>
        <p:nvPicPr>
          <p:cNvPr id="94" name="Picture 93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F90166CC-127B-8C45-44DA-590C6736B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224" y="6341332"/>
            <a:ext cx="453515" cy="405506"/>
          </a:xfrm>
          <a:prstGeom prst="rect">
            <a:avLst/>
          </a:prstGeom>
        </p:spPr>
      </p:pic>
      <p:pic>
        <p:nvPicPr>
          <p:cNvPr id="95" name="Picture 94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8AC7B7C4-B6B3-616B-D659-0323ADBD0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672" y="6341332"/>
            <a:ext cx="453515" cy="40550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CD8CB6C-498F-4001-2158-E9BE3F0AF7FB}"/>
              </a:ext>
            </a:extLst>
          </p:cNvPr>
          <p:cNvGrpSpPr/>
          <p:nvPr/>
        </p:nvGrpSpPr>
        <p:grpSpPr>
          <a:xfrm>
            <a:off x="4460503" y="2720918"/>
            <a:ext cx="1635497" cy="1533896"/>
            <a:chOff x="4460503" y="2720918"/>
            <a:chExt cx="1635497" cy="1533896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5227347-B8B5-6696-CB40-299D676D4A31}"/>
                </a:ext>
              </a:extLst>
            </p:cNvPr>
            <p:cNvSpPr/>
            <p:nvPr/>
          </p:nvSpPr>
          <p:spPr>
            <a:xfrm>
              <a:off x="4687512" y="2992764"/>
              <a:ext cx="1408488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4 حالت</a:t>
              </a:r>
              <a:endPara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96" name="Right Brace 95">
              <a:extLst>
                <a:ext uri="{FF2B5EF4-FFF2-40B4-BE49-F238E27FC236}">
                  <a16:creationId xmlns:a16="http://schemas.microsoft.com/office/drawing/2014/main" id="{5C0F0774-3B0F-0C01-1353-EA34F130F4E3}"/>
                </a:ext>
              </a:extLst>
            </p:cNvPr>
            <p:cNvSpPr/>
            <p:nvPr/>
          </p:nvSpPr>
          <p:spPr>
            <a:xfrm>
              <a:off x="4460503" y="2720918"/>
              <a:ext cx="296427" cy="1533896"/>
            </a:xfrm>
            <a:prstGeom prst="rightBrace">
              <a:avLst>
                <a:gd name="adj1" fmla="val 84556"/>
                <a:gd name="adj2" fmla="val 50000"/>
              </a:avLst>
            </a:prstGeom>
            <a:ln w="28575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192C402-2C8E-8709-DE2E-BE05B0A79BFB}"/>
              </a:ext>
            </a:extLst>
          </p:cNvPr>
          <p:cNvGrpSpPr/>
          <p:nvPr/>
        </p:nvGrpSpPr>
        <p:grpSpPr>
          <a:xfrm>
            <a:off x="4454529" y="4418927"/>
            <a:ext cx="1641471" cy="1075705"/>
            <a:chOff x="4454529" y="4418927"/>
            <a:chExt cx="1641471" cy="1075705"/>
          </a:xfrm>
        </p:grpSpPr>
        <p:sp>
          <p:nvSpPr>
            <p:cNvPr id="97" name="Right Brace 96">
              <a:extLst>
                <a:ext uri="{FF2B5EF4-FFF2-40B4-BE49-F238E27FC236}">
                  <a16:creationId xmlns:a16="http://schemas.microsoft.com/office/drawing/2014/main" id="{99AC6A39-0D90-36AB-9041-DED0887A79B5}"/>
                </a:ext>
              </a:extLst>
            </p:cNvPr>
            <p:cNvSpPr/>
            <p:nvPr/>
          </p:nvSpPr>
          <p:spPr>
            <a:xfrm>
              <a:off x="4454529" y="4418927"/>
              <a:ext cx="308374" cy="1075705"/>
            </a:xfrm>
            <a:prstGeom prst="rightBrace">
              <a:avLst>
                <a:gd name="adj1" fmla="val 84556"/>
                <a:gd name="adj2" fmla="val 50000"/>
              </a:avLst>
            </a:prstGeom>
            <a:ln w="28575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9A2B613-EF38-09F3-F016-C1A75DB60FB9}"/>
                </a:ext>
              </a:extLst>
            </p:cNvPr>
            <p:cNvSpPr/>
            <p:nvPr/>
          </p:nvSpPr>
          <p:spPr>
            <a:xfrm>
              <a:off x="4687512" y="4440364"/>
              <a:ext cx="1408488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3حالت</a:t>
              </a:r>
              <a:endPara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83C4E51-D073-CDCC-1261-484D5F3E75BF}"/>
              </a:ext>
            </a:extLst>
          </p:cNvPr>
          <p:cNvGrpSpPr/>
          <p:nvPr/>
        </p:nvGrpSpPr>
        <p:grpSpPr>
          <a:xfrm>
            <a:off x="4460503" y="5421923"/>
            <a:ext cx="1580929" cy="779718"/>
            <a:chOff x="4460503" y="5421923"/>
            <a:chExt cx="1580929" cy="779718"/>
          </a:xfrm>
        </p:grpSpPr>
        <p:sp>
          <p:nvSpPr>
            <p:cNvPr id="99" name="Right Brace 98">
              <a:extLst>
                <a:ext uri="{FF2B5EF4-FFF2-40B4-BE49-F238E27FC236}">
                  <a16:creationId xmlns:a16="http://schemas.microsoft.com/office/drawing/2014/main" id="{5F57332A-5ACB-1C81-9F37-3327B707E94A}"/>
                </a:ext>
              </a:extLst>
            </p:cNvPr>
            <p:cNvSpPr/>
            <p:nvPr/>
          </p:nvSpPr>
          <p:spPr>
            <a:xfrm>
              <a:off x="4460503" y="5637309"/>
              <a:ext cx="296427" cy="564332"/>
            </a:xfrm>
            <a:prstGeom prst="rightBrace">
              <a:avLst>
                <a:gd name="adj1" fmla="val 84556"/>
                <a:gd name="adj2" fmla="val 50000"/>
              </a:avLst>
            </a:prstGeom>
            <a:ln w="28575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4C28F4-C4AB-1068-6D95-347F3DE15858}"/>
                </a:ext>
              </a:extLst>
            </p:cNvPr>
            <p:cNvSpPr/>
            <p:nvPr/>
          </p:nvSpPr>
          <p:spPr>
            <a:xfrm>
              <a:off x="4687512" y="5421923"/>
              <a:ext cx="1353920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rPr>
                <a:t>2حالت</a:t>
              </a:r>
              <a:endPara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0FD6EA2-B718-D222-284D-9ACFF34069C4}"/>
              </a:ext>
            </a:extLst>
          </p:cNvPr>
          <p:cNvSpPr/>
          <p:nvPr/>
        </p:nvSpPr>
        <p:spPr>
          <a:xfrm>
            <a:off x="4710993" y="6028764"/>
            <a:ext cx="135392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 حالت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BBF6556-AB4C-11F2-8633-0E6E841413CD}"/>
              </a:ext>
            </a:extLst>
          </p:cNvPr>
          <p:cNvCxnSpPr/>
          <p:nvPr/>
        </p:nvCxnSpPr>
        <p:spPr>
          <a:xfrm>
            <a:off x="4326173" y="6528651"/>
            <a:ext cx="499750" cy="0"/>
          </a:xfrm>
          <a:prstGeom prst="straightConnector1">
            <a:avLst/>
          </a:prstGeom>
          <a:ln w="28575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30E88E0-F2F4-EA50-1493-3A2F457C1584}"/>
              </a:ext>
            </a:extLst>
          </p:cNvPr>
          <p:cNvSpPr/>
          <p:nvPr/>
        </p:nvSpPr>
        <p:spPr>
          <a:xfrm>
            <a:off x="6626980" y="2697209"/>
            <a:ext cx="3526770" cy="294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(1,2)(1,3)(1,4)(1,5)</a:t>
            </a:r>
          </a:p>
          <a:p>
            <a:pPr algn="l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(2,3)(2,4)(2,5)</a:t>
            </a:r>
          </a:p>
          <a:p>
            <a:pPr algn="l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(3,4)(,35)</a:t>
            </a:r>
          </a:p>
          <a:p>
            <a:pPr algn="l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(4,5)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42D877B-9B3F-06F6-AF8D-C5CF7735CA81}"/>
              </a:ext>
            </a:extLst>
          </p:cNvPr>
          <p:cNvSpPr/>
          <p:nvPr/>
        </p:nvSpPr>
        <p:spPr>
          <a:xfrm>
            <a:off x="6393884" y="5982393"/>
            <a:ext cx="4156988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به 10 صورت می توان عدد 2 را نشان داد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3" dur="1000"/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7" fill="hold">
                          <p:stCondLst>
                            <p:cond delay="indefinite"/>
                          </p:stCondLst>
                          <p:childTnLst>
                            <p:par>
                              <p:cTn id="1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2" fill="hold">
                          <p:stCondLst>
                            <p:cond delay="indefinite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500"/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500"/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2" fill="hold">
                          <p:stCondLst>
                            <p:cond delay="indefinite"/>
                          </p:stCondLst>
                          <p:childTnLst>
                            <p:par>
                              <p:cTn id="1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7" fill="hold">
                          <p:stCondLst>
                            <p:cond delay="indefinite"/>
                          </p:stCondLst>
                          <p:childTnLst>
                            <p:par>
                              <p:cTn id="1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1" dur="1000"/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01" grpId="0" build="allAtOnce"/>
          <p:bldP spid="104" grpId="0" uiExpand="1" build="p"/>
          <p:bldP spid="105" grpId="0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4" fill="hold">
                          <p:stCondLst>
                            <p:cond delay="indefinite"/>
                          </p:stCondLst>
                          <p:childTnLst>
                            <p:par>
                              <p:cTn id="1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9" fill="hold">
                          <p:stCondLst>
                            <p:cond delay="indefinite"/>
                          </p:stCondLst>
                          <p:childTnLst>
                            <p:par>
                              <p:cTn id="1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9" fill="hold">
                          <p:stCondLst>
                            <p:cond delay="indefinite"/>
                          </p:stCondLst>
                          <p:childTnLst>
                            <p:par>
                              <p:cTn id="1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3" dur="1000"/>
                                            <p:tgtEl>
                                              <p:spTgt spid="10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7" fill="hold">
                          <p:stCondLst>
                            <p:cond delay="indefinite"/>
                          </p:stCondLst>
                          <p:childTnLst>
                            <p:par>
                              <p:cTn id="1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1" dur="500"/>
                                            <p:tgtEl>
                                              <p:spTgt spid="10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2" fill="hold">
                          <p:stCondLst>
                            <p:cond delay="indefinite"/>
                          </p:stCondLst>
                          <p:childTnLst>
                            <p:par>
                              <p:cTn id="1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6" dur="500"/>
                                            <p:tgtEl>
                                              <p:spTgt spid="10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7" fill="hold">
                          <p:stCondLst>
                            <p:cond delay="indefinite"/>
                          </p:stCondLst>
                          <p:childTnLst>
                            <p:par>
                              <p:cTn id="1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500"/>
                                            <p:tgtEl>
                                              <p:spTgt spid="10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2" fill="hold">
                          <p:stCondLst>
                            <p:cond delay="indefinite"/>
                          </p:stCondLst>
                          <p:childTnLst>
                            <p:par>
                              <p:cTn id="1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6" dur="500"/>
                                            <p:tgtEl>
                                              <p:spTgt spid="10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7" fill="hold">
                          <p:stCondLst>
                            <p:cond delay="indefinite"/>
                          </p:stCondLst>
                          <p:childTnLst>
                            <p:par>
                              <p:cTn id="1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1" dur="1000"/>
                                            <p:tgtEl>
                                              <p:spTgt spid="10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101" grpId="0" build="allAtOnce"/>
          <p:bldP spid="104" grpId="0" uiExpand="1" build="p"/>
          <p:bldP spid="105" grpId="0" build="allAtOnce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7F4D7-AB7E-834B-936E-86C345A8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7574B7-3AE9-BE28-2CCB-53046A3C53F7}"/>
              </a:ext>
            </a:extLst>
          </p:cNvPr>
          <p:cNvSpPr/>
          <p:nvPr/>
        </p:nvSpPr>
        <p:spPr>
          <a:xfrm>
            <a:off x="215642" y="605847"/>
            <a:ext cx="8632177" cy="118061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00AEDB-7657-6E8E-D19A-3674D0B124E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56EBD175-C515-E6BE-9652-BB601EB6CFC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129BCF-EA82-2BE8-8F14-F5F47437AD6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18F08E-D643-D664-DD85-BA906CBA6011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FD30BE-B1D5-2C4F-0A67-440D2D52EF33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7A1D16E-6971-9974-8F06-A09371B6D19A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7E2DBE-F02B-69AE-9D1F-3CE005B19FA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3C1E958-643C-EA84-73E9-A0D73F03E6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FD1F2B79-D3C0-AC0D-1770-3913B7F644C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5AA3B952-CA72-4E11-C5D7-1047B4BAC4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B56C7BC5-F3F3-4A96-AC30-D59EEBC1BF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0B5157-CAB3-EDC1-B5D8-B0E7EB43F95C}"/>
              </a:ext>
            </a:extLst>
          </p:cNvPr>
          <p:cNvSpPr/>
          <p:nvPr/>
        </p:nvSpPr>
        <p:spPr>
          <a:xfrm>
            <a:off x="397372" y="708570"/>
            <a:ext cx="7661072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000" dirty="0">
                <a:latin typeface="IRANYekanXFaNum" pitchFamily="2" charset="-78"/>
                <a:cs typeface="IRANYekanXFaNum" pitchFamily="2" charset="-78"/>
              </a:rPr>
              <a:t>تعداد زیادی سکه 50 تومانی و 100 تومانی داریم. به چند حالت می توان معادل 500 تومان درست کرد؟</a:t>
            </a:r>
            <a:endParaRPr lang="en-US" sz="20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5AE7CE-28F3-2F0E-1F82-C317DB40F851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F6F501A-D34A-4E0A-42BE-1DA706E29E93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9742316-43B0-8A33-EA6D-BB41D171D77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62B622FD-0978-2A02-0471-3857CA653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BE99A4AE-E00A-86B1-F0A3-8CD3DC028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1EF52119-F1C4-3637-6D60-5B513704FBD1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1908AF0C-EC0B-9B85-7670-190619613041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D7217BB-97B5-FF80-2C6C-2238D90FB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55F6442A-440B-D48A-2C0A-9CB10243ACEF}"/>
              </a:ext>
            </a:extLst>
          </p:cNvPr>
          <p:cNvSpPr/>
          <p:nvPr/>
        </p:nvSpPr>
        <p:spPr>
          <a:xfrm>
            <a:off x="3495743" y="2892271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218D8F-B8CA-DADC-1AA1-DBE31C64F968}"/>
              </a:ext>
            </a:extLst>
          </p:cNvPr>
          <p:cNvGrpSpPr/>
          <p:nvPr/>
        </p:nvGrpSpPr>
        <p:grpSpPr>
          <a:xfrm>
            <a:off x="2805011" y="2037362"/>
            <a:ext cx="4690430" cy="4146315"/>
            <a:chOff x="1638943" y="2168218"/>
            <a:chExt cx="4690430" cy="41463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D09B2B1-466C-7F88-9A8D-65A62BBF4639}"/>
                </a:ext>
              </a:extLst>
            </p:cNvPr>
            <p:cNvGrpSpPr/>
            <p:nvPr/>
          </p:nvGrpSpPr>
          <p:grpSpPr>
            <a:xfrm>
              <a:off x="1638943" y="2168218"/>
              <a:ext cx="4690430" cy="655564"/>
              <a:chOff x="1667297" y="2636050"/>
              <a:chExt cx="4690430" cy="65556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81478B4-C458-4DC4-A647-9ADDDD103E09}"/>
                  </a:ext>
                </a:extLst>
              </p:cNvPr>
              <p:cNvSpPr/>
              <p:nvPr/>
            </p:nvSpPr>
            <p:spPr>
              <a:xfrm>
                <a:off x="1667297" y="2772776"/>
                <a:ext cx="1621707" cy="514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سکه 100 تومانی</a:t>
                </a:r>
                <a:endParaRPr lang="en-US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152D69-196A-29BF-3BDF-0BF02F2E49B6}"/>
                  </a:ext>
                </a:extLst>
              </p:cNvPr>
              <p:cNvSpPr/>
              <p:nvPr/>
            </p:nvSpPr>
            <p:spPr>
              <a:xfrm>
                <a:off x="3289005" y="2772776"/>
                <a:ext cx="1687027" cy="514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سکه 50 تومانی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247A91D-F931-0C09-259C-704CB03AC7D1}"/>
                  </a:ext>
                </a:extLst>
              </p:cNvPr>
              <p:cNvSpPr/>
              <p:nvPr/>
            </p:nvSpPr>
            <p:spPr>
              <a:xfrm>
                <a:off x="4847406" y="2636050"/>
                <a:ext cx="1510321" cy="655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1">
                  <a:lnSpc>
                    <a:spcPct val="170000"/>
                  </a:lnSpc>
                </a:pPr>
                <a:r>
                  <a:rPr lang="fa-IR" sz="2400" dirty="0">
                    <a:solidFill>
                      <a:srgbClr val="FF6238"/>
                    </a:solidFill>
                    <a:latin typeface="IRANYekanXFaNum" pitchFamily="2" charset="-78"/>
                    <a:cs typeface="IRANYekanXFaNum" pitchFamily="2" charset="-78"/>
                  </a:rPr>
                  <a:t>مجموع</a:t>
                </a:r>
                <a:endParaRPr lang="en-US" sz="24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4B4D2A-9DC4-355F-6E36-A1FE6C6B7791}"/>
                </a:ext>
              </a:extLst>
            </p:cNvPr>
            <p:cNvGrpSpPr/>
            <p:nvPr/>
          </p:nvGrpSpPr>
          <p:grpSpPr>
            <a:xfrm>
              <a:off x="1915886" y="2460951"/>
              <a:ext cx="4124080" cy="3853582"/>
              <a:chOff x="1893941" y="4524817"/>
              <a:chExt cx="4124080" cy="3853582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7276271-6DFA-03F0-DDD2-A4437CD3D9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8705" y="4524817"/>
                <a:ext cx="36931" cy="3853582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B12F912-BD5C-0C6A-F7CF-C1CC114729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1355" y="4524817"/>
                <a:ext cx="0" cy="3853582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BA6CB08-8C38-AE72-379F-493974E425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3941" y="5091075"/>
                <a:ext cx="4124080" cy="0"/>
              </a:xfrm>
              <a:prstGeom prst="line">
                <a:avLst/>
              </a:prstGeom>
              <a:ln w="571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F7BA235-1300-27DC-87F8-91588DE10833}"/>
              </a:ext>
            </a:extLst>
          </p:cNvPr>
          <p:cNvSpPr/>
          <p:nvPr/>
        </p:nvSpPr>
        <p:spPr>
          <a:xfrm>
            <a:off x="4987915" y="2892271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4B937B-EFE6-FDFD-B50F-F59D3AC632D0}"/>
              </a:ext>
            </a:extLst>
          </p:cNvPr>
          <p:cNvSpPr/>
          <p:nvPr/>
        </p:nvSpPr>
        <p:spPr>
          <a:xfrm>
            <a:off x="3495743" y="3452444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F0514-1607-58E0-C869-617692691CD7}"/>
              </a:ext>
            </a:extLst>
          </p:cNvPr>
          <p:cNvSpPr/>
          <p:nvPr/>
        </p:nvSpPr>
        <p:spPr>
          <a:xfrm>
            <a:off x="4987915" y="3452444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8C56BA-ABF4-B923-E34C-765ED4BA3B64}"/>
              </a:ext>
            </a:extLst>
          </p:cNvPr>
          <p:cNvSpPr/>
          <p:nvPr/>
        </p:nvSpPr>
        <p:spPr>
          <a:xfrm>
            <a:off x="3510393" y="402118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34B637-7078-10F1-A564-DFB3947D1B9A}"/>
              </a:ext>
            </a:extLst>
          </p:cNvPr>
          <p:cNvSpPr/>
          <p:nvPr/>
        </p:nvSpPr>
        <p:spPr>
          <a:xfrm>
            <a:off x="5002565" y="402118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D40420-12AD-00E8-6F17-939DF559ED20}"/>
              </a:ext>
            </a:extLst>
          </p:cNvPr>
          <p:cNvSpPr/>
          <p:nvPr/>
        </p:nvSpPr>
        <p:spPr>
          <a:xfrm>
            <a:off x="3510393" y="4581359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1AA5EB-43FA-EC5E-D8B1-9506FC9DA03B}"/>
              </a:ext>
            </a:extLst>
          </p:cNvPr>
          <p:cNvSpPr/>
          <p:nvPr/>
        </p:nvSpPr>
        <p:spPr>
          <a:xfrm>
            <a:off x="5002565" y="4581359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BB5657-A729-3957-1207-8424848D70B3}"/>
              </a:ext>
            </a:extLst>
          </p:cNvPr>
          <p:cNvSpPr/>
          <p:nvPr/>
        </p:nvSpPr>
        <p:spPr>
          <a:xfrm>
            <a:off x="3510393" y="5049192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7B5AA6-A310-0FBF-3CB4-A88462D0B60C}"/>
              </a:ext>
            </a:extLst>
          </p:cNvPr>
          <p:cNvSpPr/>
          <p:nvPr/>
        </p:nvSpPr>
        <p:spPr>
          <a:xfrm>
            <a:off x="5002565" y="5049192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8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5B0AA3-9A82-6B94-B1DB-481D340506C1}"/>
              </a:ext>
            </a:extLst>
          </p:cNvPr>
          <p:cNvSpPr/>
          <p:nvPr/>
        </p:nvSpPr>
        <p:spPr>
          <a:xfrm>
            <a:off x="3510393" y="557352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AD1731-5ADE-3967-0AE5-4418B192F3F4}"/>
              </a:ext>
            </a:extLst>
          </p:cNvPr>
          <p:cNvSpPr/>
          <p:nvPr/>
        </p:nvSpPr>
        <p:spPr>
          <a:xfrm>
            <a:off x="5002565" y="5573526"/>
            <a:ext cx="51718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57AD59D-96F4-1E2B-E677-1D99A4325140}"/>
              </a:ext>
            </a:extLst>
          </p:cNvPr>
          <p:cNvSpPr/>
          <p:nvPr/>
        </p:nvSpPr>
        <p:spPr>
          <a:xfrm>
            <a:off x="6472067" y="2892271"/>
            <a:ext cx="124358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500+0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E91EADB-26AB-8535-6E98-6C359C1CC994}"/>
              </a:ext>
            </a:extLst>
          </p:cNvPr>
          <p:cNvSpPr/>
          <p:nvPr/>
        </p:nvSpPr>
        <p:spPr>
          <a:xfrm>
            <a:off x="6449027" y="3364138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400+100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4BE430-A460-BA9D-E517-23F05B3B3A4E}"/>
              </a:ext>
            </a:extLst>
          </p:cNvPr>
          <p:cNvSpPr/>
          <p:nvPr/>
        </p:nvSpPr>
        <p:spPr>
          <a:xfrm>
            <a:off x="6424089" y="3967677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300+200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B20B0B-4D1E-579D-46C8-9C8A242A373A}"/>
              </a:ext>
            </a:extLst>
          </p:cNvPr>
          <p:cNvSpPr/>
          <p:nvPr/>
        </p:nvSpPr>
        <p:spPr>
          <a:xfrm>
            <a:off x="6436558" y="4590267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200+300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846210-0237-433B-EC52-57761CC05316}"/>
              </a:ext>
            </a:extLst>
          </p:cNvPr>
          <p:cNvSpPr/>
          <p:nvPr/>
        </p:nvSpPr>
        <p:spPr>
          <a:xfrm>
            <a:off x="6444784" y="5046874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100+400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12DD9A-A817-D1BB-4135-D4C7FA2D78B0}"/>
              </a:ext>
            </a:extLst>
          </p:cNvPr>
          <p:cNvSpPr/>
          <p:nvPr/>
        </p:nvSpPr>
        <p:spPr>
          <a:xfrm>
            <a:off x="6444784" y="5562594"/>
            <a:ext cx="15638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0+500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9A3E9C-D2CB-09FA-9804-7AEF86D74D6D}"/>
              </a:ext>
            </a:extLst>
          </p:cNvPr>
          <p:cNvSpPr/>
          <p:nvPr/>
        </p:nvSpPr>
        <p:spPr>
          <a:xfrm>
            <a:off x="8618259" y="4999820"/>
            <a:ext cx="2799806" cy="985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به 6 حالت می‌توان معادل 500 تومان درست کرد.</a:t>
            </a:r>
            <a:endParaRPr lang="en-US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1349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5" grpId="0"/>
          <p:bldP spid="17" grpId="0"/>
          <p:bldP spid="18" grpId="0"/>
          <p:bldP spid="19" grpId="0"/>
          <p:bldP spid="38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55" grpId="0"/>
          <p:bldP spid="17" grpId="0"/>
          <p:bldP spid="18" grpId="0"/>
          <p:bldP spid="19" grpId="0"/>
          <p:bldP spid="38" grpId="0"/>
          <p:bldP spid="39" grpId="0"/>
          <p:bldP spid="40" grpId="0"/>
          <p:bldP spid="41" grpId="0"/>
          <p:bldP spid="42" grpId="0"/>
          <p:bldP spid="43" grpId="0"/>
          <p:bldP spid="44" grpId="0"/>
          <p:bldP spid="45" grpId="0"/>
          <p:bldP spid="46" grpId="0"/>
          <p:bldP spid="47" grpId="0"/>
          <p:bldP spid="48" grpId="0"/>
          <p:bldP spid="49" grpId="0"/>
          <p:bldP spid="50" grpId="0"/>
          <p:bldP spid="51" grpId="0"/>
          <p:bldP spid="52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359039-092B-B57C-B4B9-22FA702C68FB}"/>
              </a:ext>
            </a:extLst>
          </p:cNvPr>
          <p:cNvSpPr/>
          <p:nvPr/>
        </p:nvSpPr>
        <p:spPr>
          <a:xfrm>
            <a:off x="262351" y="706812"/>
            <a:ext cx="8632177" cy="94311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C760AB-8052-8206-6BB4-AA859645BC06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9" name="Arc 111">
              <a:extLst>
                <a:ext uri="{FF2B5EF4-FFF2-40B4-BE49-F238E27FC236}">
                  <a16:creationId xmlns:a16="http://schemas.microsoft.com/office/drawing/2014/main" id="{5C80231A-121A-6073-AEE7-0C675F686A18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D7861C-6508-61A9-315A-2B5B5857D5D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CE7AFC-DE8B-56BF-1B3F-214691FF0E34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370135-9783-2DDC-6F76-50EB4B2355B0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A690240-4F14-EA82-8585-2130EDB61C2D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511F97-473B-1C83-C998-952CE9BA833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593CB1-7CBE-AFBC-81E2-2E79C0965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6" name="Target">
              <a:extLst>
                <a:ext uri="{FF2B5EF4-FFF2-40B4-BE49-F238E27FC236}">
                  <a16:creationId xmlns:a16="http://schemas.microsoft.com/office/drawing/2014/main" id="{22427BD3-DBE0-2B7F-4E82-FB4661CEB2D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7" name="Freeform 56">
                <a:extLst>
                  <a:ext uri="{FF2B5EF4-FFF2-40B4-BE49-F238E27FC236}">
                    <a16:creationId xmlns:a16="http://schemas.microsoft.com/office/drawing/2014/main" id="{499554C4-5618-D6E7-C3FB-6419CDEDC3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Freeform 57">
                <a:extLst>
                  <a:ext uri="{FF2B5EF4-FFF2-40B4-BE49-F238E27FC236}">
                    <a16:creationId xmlns:a16="http://schemas.microsoft.com/office/drawing/2014/main" id="{8E2969B6-0B34-508A-582A-B5775F78E5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49EAC74-E9EB-CC28-3AA0-E52951D799C6}"/>
              </a:ext>
            </a:extLst>
          </p:cNvPr>
          <p:cNvSpPr/>
          <p:nvPr/>
        </p:nvSpPr>
        <p:spPr>
          <a:xfrm>
            <a:off x="210371" y="810380"/>
            <a:ext cx="76610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در شکل مقابل چند پاره خط وجود دارد؟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C11D02-153D-71B2-25C9-2BE891FD686C}"/>
              </a:ext>
            </a:extLst>
          </p:cNvPr>
          <p:cNvGrpSpPr/>
          <p:nvPr/>
        </p:nvGrpSpPr>
        <p:grpSpPr>
          <a:xfrm>
            <a:off x="7854885" y="319579"/>
            <a:ext cx="1450491" cy="1437002"/>
            <a:chOff x="7854885" y="319579"/>
            <a:chExt cx="1450491" cy="14370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492710-6687-583A-1DBC-309B6C939D35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21" name="Circle B">
                <a:extLst>
                  <a:ext uri="{FF2B5EF4-FFF2-40B4-BE49-F238E27FC236}">
                    <a16:creationId xmlns:a16="http://schemas.microsoft.com/office/drawing/2014/main" id="{5A695C85-981E-57D1-170D-6452B59E4E96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3" name="Oval 73">
                  <a:extLst>
                    <a:ext uri="{FF2B5EF4-FFF2-40B4-BE49-F238E27FC236}">
                      <a16:creationId xmlns:a16="http://schemas.microsoft.com/office/drawing/2014/main" id="{FA6E29B6-B2BE-9F8E-A518-87FD521C0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4" name="Texture">
                  <a:extLst>
                    <a:ext uri="{FF2B5EF4-FFF2-40B4-BE49-F238E27FC236}">
                      <a16:creationId xmlns:a16="http://schemas.microsoft.com/office/drawing/2014/main" id="{3786D0C5-29E9-E7D4-FD6D-50455E8E5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2" name="B">
                <a:extLst>
                  <a:ext uri="{FF2B5EF4-FFF2-40B4-BE49-F238E27FC236}">
                    <a16:creationId xmlns:a16="http://schemas.microsoft.com/office/drawing/2014/main" id="{8AFB282B-8F8D-D010-71FD-B9697800518D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5" name="A">
              <a:extLst>
                <a:ext uri="{FF2B5EF4-FFF2-40B4-BE49-F238E27FC236}">
                  <a16:creationId xmlns:a16="http://schemas.microsoft.com/office/drawing/2014/main" id="{7F964FC6-C49E-E78B-50F5-974F313FF7D4}"/>
                </a:ext>
              </a:extLst>
            </p:cNvPr>
            <p:cNvSpPr txBox="1"/>
            <p:nvPr/>
          </p:nvSpPr>
          <p:spPr>
            <a:xfrm>
              <a:off x="7854885" y="31957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A7196F05-A3D7-A03A-BE6D-7A5C14681C27}"/>
              </a:ext>
            </a:extLst>
          </p:cNvPr>
          <p:cNvSpPr/>
          <p:nvPr/>
        </p:nvSpPr>
        <p:spPr>
          <a:xfrm>
            <a:off x="5551155" y="2705283"/>
            <a:ext cx="290907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(ث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آ)(ت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آ)(پ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آ)(ب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آ)</a:t>
            </a:r>
          </a:p>
          <a:p>
            <a:pPr algn="l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(ث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ب)(ت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ب)(پ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ب)</a:t>
            </a:r>
          </a:p>
          <a:p>
            <a:pPr algn="l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(ث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پ)(ت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پ)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  <a:p>
            <a:pPr algn="l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(ث</a:t>
            </a:r>
            <a:r>
              <a:rPr lang="en-US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,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ت)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17D08E-E9FD-C6ED-5DB2-840821267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603999" y="5536275"/>
            <a:ext cx="1195690" cy="1158171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8DB8B182-168D-980A-1501-34A4A7DDF2B7}"/>
              </a:ext>
            </a:extLst>
          </p:cNvPr>
          <p:cNvGrpSpPr/>
          <p:nvPr/>
        </p:nvGrpSpPr>
        <p:grpSpPr>
          <a:xfrm>
            <a:off x="165314" y="1880876"/>
            <a:ext cx="4303473" cy="857283"/>
            <a:chOff x="216544" y="1818779"/>
            <a:chExt cx="4303473" cy="85728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E49D194-1A2D-04D4-2AEA-3E7EF5C4DC63}"/>
                </a:ext>
              </a:extLst>
            </p:cNvPr>
            <p:cNvGrpSpPr/>
            <p:nvPr/>
          </p:nvGrpSpPr>
          <p:grpSpPr>
            <a:xfrm>
              <a:off x="392311" y="2532062"/>
              <a:ext cx="4090862" cy="144000"/>
              <a:chOff x="392311" y="2532062"/>
              <a:chExt cx="4090862" cy="144000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45E3C95D-E837-9F20-88EF-2E8115986D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2311" y="2615609"/>
                <a:ext cx="4037922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72C9508-C1EE-809F-6BA4-07F4D8CBF570}"/>
                  </a:ext>
                </a:extLst>
              </p:cNvPr>
              <p:cNvSpPr/>
              <p:nvPr/>
            </p:nvSpPr>
            <p:spPr>
              <a:xfrm>
                <a:off x="392935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E031619-028E-805E-FC2E-77C43ABC5868}"/>
                  </a:ext>
                </a:extLst>
              </p:cNvPr>
              <p:cNvSpPr/>
              <p:nvPr/>
            </p:nvSpPr>
            <p:spPr>
              <a:xfrm>
                <a:off x="4339173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F440AD5-4A80-F978-14CD-62ED4BFF122A}"/>
                  </a:ext>
                </a:extLst>
              </p:cNvPr>
              <p:cNvSpPr/>
              <p:nvPr/>
            </p:nvSpPr>
            <p:spPr>
              <a:xfrm>
                <a:off x="3352612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CFF32C5-CB72-4237-A52C-E167CD07084F}"/>
                  </a:ext>
                </a:extLst>
              </p:cNvPr>
              <p:cNvSpPr/>
              <p:nvPr/>
            </p:nvSpPr>
            <p:spPr>
              <a:xfrm>
                <a:off x="2366053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9D83D5-9F5C-0A96-A4E0-703431919C65}"/>
                  </a:ext>
                </a:extLst>
              </p:cNvPr>
              <p:cNvSpPr/>
              <p:nvPr/>
            </p:nvSpPr>
            <p:spPr>
              <a:xfrm>
                <a:off x="1379494" y="2532062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A406D71-3FC1-3D7E-6429-339426F6AF69}"/>
                </a:ext>
              </a:extLst>
            </p:cNvPr>
            <p:cNvSpPr/>
            <p:nvPr/>
          </p:nvSpPr>
          <p:spPr>
            <a:xfrm>
              <a:off x="216544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آ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892EAA1-BF79-5A6A-7CFE-C33FB180CDCF}"/>
                </a:ext>
              </a:extLst>
            </p:cNvPr>
            <p:cNvSpPr/>
            <p:nvPr/>
          </p:nvSpPr>
          <p:spPr>
            <a:xfrm>
              <a:off x="1201990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ب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B3A1F4D-30A3-663B-83BE-8281BEE680EC}"/>
                </a:ext>
              </a:extLst>
            </p:cNvPr>
            <p:cNvSpPr/>
            <p:nvPr/>
          </p:nvSpPr>
          <p:spPr>
            <a:xfrm>
              <a:off x="2187436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پ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6EE20BC-9AAE-20C3-19B1-7822C0BF87CA}"/>
                </a:ext>
              </a:extLst>
            </p:cNvPr>
            <p:cNvSpPr/>
            <p:nvPr/>
          </p:nvSpPr>
          <p:spPr>
            <a:xfrm>
              <a:off x="3172882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ت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BCA01F-48AA-FF6D-F576-D9792A5D3341}"/>
                </a:ext>
              </a:extLst>
            </p:cNvPr>
            <p:cNvSpPr/>
            <p:nvPr/>
          </p:nvSpPr>
          <p:spPr>
            <a:xfrm>
              <a:off x="4158328" y="1818779"/>
              <a:ext cx="361689" cy="655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lang="fa-IR" sz="2400" dirty="0">
                  <a:latin typeface="IRANYekanXFaNum" pitchFamily="2" charset="-78"/>
                  <a:cs typeface="IRANYekanXFaNum" pitchFamily="2" charset="-78"/>
                </a:rPr>
                <a:t>ث</a:t>
              </a:r>
              <a:endParaRPr lang="en-US" sz="2400" dirty="0"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D6F878-6CC3-857E-93BC-63ADC1B5942E}"/>
              </a:ext>
            </a:extLst>
          </p:cNvPr>
          <p:cNvCxnSpPr/>
          <p:nvPr/>
        </p:nvCxnSpPr>
        <p:spPr>
          <a:xfrm>
            <a:off x="413705" y="3000895"/>
            <a:ext cx="98655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2B6407-E9FB-FFD8-C704-90F46D82D8D2}"/>
              </a:ext>
            </a:extLst>
          </p:cNvPr>
          <p:cNvCxnSpPr>
            <a:cxnSpLocks/>
          </p:cNvCxnSpPr>
          <p:nvPr/>
        </p:nvCxnSpPr>
        <p:spPr>
          <a:xfrm>
            <a:off x="413705" y="3200893"/>
            <a:ext cx="1946337" cy="1247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0A9A276-9485-3173-BF56-1AA8703B1055}"/>
              </a:ext>
            </a:extLst>
          </p:cNvPr>
          <p:cNvCxnSpPr>
            <a:cxnSpLocks/>
          </p:cNvCxnSpPr>
          <p:nvPr/>
        </p:nvCxnSpPr>
        <p:spPr>
          <a:xfrm>
            <a:off x="413705" y="3379617"/>
            <a:ext cx="2959677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E2F3C8-CAD7-B6C2-91C1-BAC052FBBCB5}"/>
              </a:ext>
            </a:extLst>
          </p:cNvPr>
          <p:cNvCxnSpPr>
            <a:cxnSpLocks/>
          </p:cNvCxnSpPr>
          <p:nvPr/>
        </p:nvCxnSpPr>
        <p:spPr>
          <a:xfrm>
            <a:off x="413704" y="3545871"/>
            <a:ext cx="394623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E03E481-C0E5-A0B8-4EC3-40099E06E422}"/>
              </a:ext>
            </a:extLst>
          </p:cNvPr>
          <p:cNvCxnSpPr/>
          <p:nvPr/>
        </p:nvCxnSpPr>
        <p:spPr>
          <a:xfrm>
            <a:off x="1376775" y="2988424"/>
            <a:ext cx="986559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51E0A7D-D2B4-8DF9-88B8-B60958B491FE}"/>
              </a:ext>
            </a:extLst>
          </p:cNvPr>
          <p:cNvCxnSpPr>
            <a:cxnSpLocks/>
          </p:cNvCxnSpPr>
          <p:nvPr/>
        </p:nvCxnSpPr>
        <p:spPr>
          <a:xfrm>
            <a:off x="1376775" y="3188422"/>
            <a:ext cx="1946337" cy="1247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70D1962-F8BC-C53C-CB7F-5A0EC70CD4EC}"/>
              </a:ext>
            </a:extLst>
          </p:cNvPr>
          <p:cNvCxnSpPr>
            <a:cxnSpLocks/>
          </p:cNvCxnSpPr>
          <p:nvPr/>
        </p:nvCxnSpPr>
        <p:spPr>
          <a:xfrm>
            <a:off x="1376775" y="3367146"/>
            <a:ext cx="2959677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447892C-FACD-FD93-6F32-981203B1DFF1}"/>
              </a:ext>
            </a:extLst>
          </p:cNvPr>
          <p:cNvCxnSpPr/>
          <p:nvPr/>
        </p:nvCxnSpPr>
        <p:spPr>
          <a:xfrm>
            <a:off x="2360042" y="3000895"/>
            <a:ext cx="98655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8CA3891-44B6-7941-F0E9-0DBA4EBC2E63}"/>
              </a:ext>
            </a:extLst>
          </p:cNvPr>
          <p:cNvCxnSpPr>
            <a:cxnSpLocks/>
          </p:cNvCxnSpPr>
          <p:nvPr/>
        </p:nvCxnSpPr>
        <p:spPr>
          <a:xfrm>
            <a:off x="2360042" y="3200893"/>
            <a:ext cx="1946337" cy="1247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E7FAA9E-0A6F-36D2-9564-620DA584AF99}"/>
              </a:ext>
            </a:extLst>
          </p:cNvPr>
          <p:cNvCxnSpPr/>
          <p:nvPr/>
        </p:nvCxnSpPr>
        <p:spPr>
          <a:xfrm>
            <a:off x="3349893" y="3004898"/>
            <a:ext cx="986559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3924FAD-F428-8841-DB55-5256412FC6D0}"/>
              </a:ext>
            </a:extLst>
          </p:cNvPr>
          <p:cNvSpPr/>
          <p:nvPr/>
        </p:nvSpPr>
        <p:spPr>
          <a:xfrm>
            <a:off x="4468787" y="5419367"/>
            <a:ext cx="4156988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در شکل مقابل 10 پاره خط وجود دارد.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3665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7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2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0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7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7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8" fill="hold">
                          <p:stCondLst>
                            <p:cond delay="indefinite"/>
                          </p:stCondLst>
                          <p:childTnLst>
                            <p:par>
                              <p:cTn id="1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4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1" dur="1000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44" grpId="0" uiExpand="1" build="p"/>
          <p:bldP spid="65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7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0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9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1" fill="hold">
                          <p:stCondLst>
                            <p:cond delay="indefinite"/>
                          </p:stCondLst>
                          <p:childTnLst>
                            <p:par>
                              <p:cTn id="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6" fill="hold">
                          <p:stCondLst>
                            <p:cond delay="indefinite"/>
                          </p:stCondLst>
                          <p:childTnLst>
                            <p:par>
                              <p:cTn id="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1" fill="hold">
                          <p:stCondLst>
                            <p:cond delay="indefinite"/>
                          </p:stCondLst>
                          <p:childTnLst>
                            <p:par>
                              <p:cTn id="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5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2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09" dur="5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6" fill="hold">
                          <p:stCondLst>
                            <p:cond delay="indefinite"/>
                          </p:stCondLst>
                          <p:childTnLst>
                            <p:par>
                              <p:cTn id="1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0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1" fill="hold">
                          <p:stCondLst>
                            <p:cond delay="indefinite"/>
                          </p:stCondLst>
                          <p:childTnLst>
                            <p:par>
                              <p:cTn id="1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5" dur="500"/>
                                            <p:tgtEl>
                                              <p:spTgt spid="4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7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7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8" fill="hold">
                          <p:stCondLst>
                            <p:cond delay="indefinite"/>
                          </p:stCondLst>
                          <p:childTnLst>
                            <p:par>
                              <p:cTn id="1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4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44" presetID="10" presetClass="exit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5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51" dur="1000"/>
                                            <p:tgtEl>
                                              <p:spTgt spid="6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44" grpId="0" uiExpand="1" build="p"/>
          <p:bldP spid="65" grpId="0" build="allAtOnce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BE8A66-06D8-B652-8211-A678612FFAC9}"/>
              </a:ext>
            </a:extLst>
          </p:cNvPr>
          <p:cNvSpPr txBox="1"/>
          <p:nvPr/>
        </p:nvSpPr>
        <p:spPr>
          <a:xfrm>
            <a:off x="356939" y="672864"/>
            <a:ext cx="7615755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مساحت مستطیلی 60 سانتی متر مربع است. محیط آن حداکثر چند سانتی متر می تواند باشد؟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ABDA6C-EEC1-E6CF-8E79-F49A36783150}"/>
              </a:ext>
            </a:extLst>
          </p:cNvPr>
          <p:cNvSpPr/>
          <p:nvPr/>
        </p:nvSpPr>
        <p:spPr>
          <a:xfrm>
            <a:off x="246719" y="363229"/>
            <a:ext cx="8632177" cy="1628394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59B180-745F-CA38-A14B-104577B97D1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7" name="Arc 111">
              <a:extLst>
                <a:ext uri="{FF2B5EF4-FFF2-40B4-BE49-F238E27FC236}">
                  <a16:creationId xmlns:a16="http://schemas.microsoft.com/office/drawing/2014/main" id="{E5DF2C83-F3A8-B2A3-0F9B-A1174D1661A1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FA926C4-295A-355D-C969-6192025B170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526FE4-AE86-C75A-9436-29916BC5F6E9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A1C8FE-A9FD-ECFE-1949-DD81A742C073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F1E538-145A-44A1-4F74-B3B25623ADAC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AA3B28-251B-F3C4-D864-4A7AC5F7257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152C20A-90D8-7448-2B8A-F4C7261762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4" name="Target">
              <a:extLst>
                <a:ext uri="{FF2B5EF4-FFF2-40B4-BE49-F238E27FC236}">
                  <a16:creationId xmlns:a16="http://schemas.microsoft.com/office/drawing/2014/main" id="{89CC4398-7BFE-ACD1-7AD0-D5C108AFA17E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5" name="Freeform 56">
                <a:extLst>
                  <a:ext uri="{FF2B5EF4-FFF2-40B4-BE49-F238E27FC236}">
                    <a16:creationId xmlns:a16="http://schemas.microsoft.com/office/drawing/2014/main" id="{53642EA8-8F66-81DA-385A-C4D710B9B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6" name="Freeform 57">
                <a:extLst>
                  <a:ext uri="{FF2B5EF4-FFF2-40B4-BE49-F238E27FC236}">
                    <a16:creationId xmlns:a16="http://schemas.microsoft.com/office/drawing/2014/main" id="{19F776F6-1C45-BB2D-9092-CE65EA9C4C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4DE40-3EB4-FDBD-490E-D92C60CA5E02}"/>
              </a:ext>
            </a:extLst>
          </p:cNvPr>
          <p:cNvGrpSpPr/>
          <p:nvPr/>
        </p:nvGrpSpPr>
        <p:grpSpPr>
          <a:xfrm>
            <a:off x="7883916" y="345745"/>
            <a:ext cx="1421460" cy="1410836"/>
            <a:chOff x="7883916" y="345745"/>
            <a:chExt cx="1421460" cy="14108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2A835C-592F-524C-0DD7-E30D1A1920C1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19" name="Circle B">
                <a:extLst>
                  <a:ext uri="{FF2B5EF4-FFF2-40B4-BE49-F238E27FC236}">
                    <a16:creationId xmlns:a16="http://schemas.microsoft.com/office/drawing/2014/main" id="{93B45622-35C3-FA6D-EC08-93FD30709C10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1" name="Oval 73">
                  <a:extLst>
                    <a:ext uri="{FF2B5EF4-FFF2-40B4-BE49-F238E27FC236}">
                      <a16:creationId xmlns:a16="http://schemas.microsoft.com/office/drawing/2014/main" id="{53F97A58-9569-215B-7D3B-3F65969A0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2" name="Texture">
                  <a:extLst>
                    <a:ext uri="{FF2B5EF4-FFF2-40B4-BE49-F238E27FC236}">
                      <a16:creationId xmlns:a16="http://schemas.microsoft.com/office/drawing/2014/main" id="{73978001-8A02-80C9-39AC-F3E250DCE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0" name="B">
                <a:extLst>
                  <a:ext uri="{FF2B5EF4-FFF2-40B4-BE49-F238E27FC236}">
                    <a16:creationId xmlns:a16="http://schemas.microsoft.com/office/drawing/2014/main" id="{1D853462-D86A-D664-8D2E-BDFC41F3A20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3" name="A">
              <a:extLst>
                <a:ext uri="{FF2B5EF4-FFF2-40B4-BE49-F238E27FC236}">
                  <a16:creationId xmlns:a16="http://schemas.microsoft.com/office/drawing/2014/main" id="{C06E946D-2A80-422C-10DD-655BEAF642C6}"/>
                </a:ext>
              </a:extLst>
            </p:cNvPr>
            <p:cNvSpPr txBox="1"/>
            <p:nvPr/>
          </p:nvSpPr>
          <p:spPr>
            <a:xfrm>
              <a:off x="7883916" y="345745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6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662E205-980C-40E8-6AA3-34503DAAF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9947678" y="4715477"/>
            <a:ext cx="2043078" cy="197897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E9EA8B9C-EFA5-498F-79A7-EB59A102D075}"/>
              </a:ext>
            </a:extLst>
          </p:cNvPr>
          <p:cNvGrpSpPr/>
          <p:nvPr/>
        </p:nvGrpSpPr>
        <p:grpSpPr>
          <a:xfrm>
            <a:off x="304800" y="2261593"/>
            <a:ext cx="6112042" cy="4299628"/>
            <a:chOff x="304800" y="2261593"/>
            <a:chExt cx="6112042" cy="429962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4E9F09-062B-C80D-6976-D80A87840126}"/>
                </a:ext>
              </a:extLst>
            </p:cNvPr>
            <p:cNvCxnSpPr>
              <a:cxnSpLocks/>
            </p:cNvCxnSpPr>
            <p:nvPr/>
          </p:nvCxnSpPr>
          <p:spPr>
            <a:xfrm>
              <a:off x="1419726" y="2566737"/>
              <a:ext cx="0" cy="3994484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47B3B99-9A28-5D4B-EF53-7AB85FDEE2C4}"/>
                </a:ext>
              </a:extLst>
            </p:cNvPr>
            <p:cNvCxnSpPr>
              <a:cxnSpLocks/>
            </p:cNvCxnSpPr>
            <p:nvPr/>
          </p:nvCxnSpPr>
          <p:spPr>
            <a:xfrm>
              <a:off x="3072063" y="2558716"/>
              <a:ext cx="0" cy="3994484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82428C-92BE-4E65-DC4F-00D104B357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800" y="3240505"/>
              <a:ext cx="6112042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882A417-8648-347A-AAE8-B8C2F8EAC87E}"/>
                </a:ext>
              </a:extLst>
            </p:cNvPr>
            <p:cNvSpPr/>
            <p:nvPr/>
          </p:nvSpPr>
          <p:spPr>
            <a:xfrm>
              <a:off x="304800" y="2296449"/>
              <a:ext cx="1010649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rPr>
                <a:t>عرض</a:t>
              </a:r>
              <a:endParaRPr lang="en-US" sz="28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A366A8-462D-BCCB-4BDF-7038A453FC97}"/>
                </a:ext>
              </a:extLst>
            </p:cNvPr>
            <p:cNvSpPr/>
            <p:nvPr/>
          </p:nvSpPr>
          <p:spPr>
            <a:xfrm>
              <a:off x="1636292" y="2261593"/>
              <a:ext cx="1010649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rPr>
                <a:t>طول</a:t>
              </a:r>
              <a:endParaRPr lang="en-US" sz="28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6EA59FA-9042-E690-1D39-2B033D8CF59E}"/>
                </a:ext>
              </a:extLst>
            </p:cNvPr>
            <p:cNvSpPr/>
            <p:nvPr/>
          </p:nvSpPr>
          <p:spPr>
            <a:xfrm>
              <a:off x="3613725" y="2334172"/>
              <a:ext cx="1279352" cy="749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70000"/>
                </a:lnSpc>
              </a:pPr>
              <a:r>
                <a:rPr lang="fa-IR" sz="2800" dirty="0">
                  <a:solidFill>
                    <a:srgbClr val="FF6238"/>
                  </a:solidFill>
                  <a:latin typeface="IRANYekanXFaNum" pitchFamily="2" charset="-78"/>
                  <a:cs typeface="IRANYekanXFaNum" pitchFamily="2" charset="-78"/>
                </a:rPr>
                <a:t>محیط</a:t>
              </a:r>
              <a:endParaRPr lang="en-US" sz="28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15E5953-AF68-381A-EB2E-9726A245B77A}"/>
              </a:ext>
            </a:extLst>
          </p:cNvPr>
          <p:cNvSpPr/>
          <p:nvPr/>
        </p:nvSpPr>
        <p:spPr>
          <a:xfrm>
            <a:off x="356939" y="3080474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7D756AB-04B6-B819-195F-A753BA33FC10}"/>
              </a:ext>
            </a:extLst>
          </p:cNvPr>
          <p:cNvSpPr/>
          <p:nvPr/>
        </p:nvSpPr>
        <p:spPr>
          <a:xfrm>
            <a:off x="1828802" y="3080474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E37D20-CDCA-813D-DDE1-E0B8DD550682}"/>
              </a:ext>
            </a:extLst>
          </p:cNvPr>
          <p:cNvSpPr/>
          <p:nvPr/>
        </p:nvSpPr>
        <p:spPr>
          <a:xfrm>
            <a:off x="3141029" y="3080474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122=2×(1+60)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8669C80-9559-750F-0E84-A2DDF5441DD9}"/>
              </a:ext>
            </a:extLst>
          </p:cNvPr>
          <p:cNvSpPr/>
          <p:nvPr/>
        </p:nvSpPr>
        <p:spPr>
          <a:xfrm>
            <a:off x="356939" y="3647567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EB95AED-3F72-1BC9-8FD9-4E8ADA5419D1}"/>
              </a:ext>
            </a:extLst>
          </p:cNvPr>
          <p:cNvSpPr/>
          <p:nvPr/>
        </p:nvSpPr>
        <p:spPr>
          <a:xfrm>
            <a:off x="1828802" y="3647567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2942753-CD79-C8C8-FDC3-323B5F751A5C}"/>
              </a:ext>
            </a:extLst>
          </p:cNvPr>
          <p:cNvSpPr/>
          <p:nvPr/>
        </p:nvSpPr>
        <p:spPr>
          <a:xfrm>
            <a:off x="3141029" y="3647567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64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=2×(</a:t>
            </a: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30+2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201CE67-C93C-5AEE-BDA8-7ACA585289BA}"/>
              </a:ext>
            </a:extLst>
          </p:cNvPr>
          <p:cNvSpPr/>
          <p:nvPr/>
        </p:nvSpPr>
        <p:spPr>
          <a:xfrm>
            <a:off x="356939" y="4236971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2D38F8D-D179-D7A8-9C1B-A6B1F15C5C44}"/>
              </a:ext>
            </a:extLst>
          </p:cNvPr>
          <p:cNvSpPr/>
          <p:nvPr/>
        </p:nvSpPr>
        <p:spPr>
          <a:xfrm>
            <a:off x="1828802" y="4236971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C2F2BEC-B8AD-F546-C987-5943924A9002}"/>
              </a:ext>
            </a:extLst>
          </p:cNvPr>
          <p:cNvSpPr/>
          <p:nvPr/>
        </p:nvSpPr>
        <p:spPr>
          <a:xfrm>
            <a:off x="3141029" y="4236971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46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=2×(</a:t>
            </a: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20+3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0A16451-7E41-D477-AF7D-D90D39D6B5B6}"/>
              </a:ext>
            </a:extLst>
          </p:cNvPr>
          <p:cNvSpPr/>
          <p:nvPr/>
        </p:nvSpPr>
        <p:spPr>
          <a:xfrm>
            <a:off x="356939" y="4804064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4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BC0A56C-494C-EC31-124D-E2537BCAF659}"/>
              </a:ext>
            </a:extLst>
          </p:cNvPr>
          <p:cNvSpPr/>
          <p:nvPr/>
        </p:nvSpPr>
        <p:spPr>
          <a:xfrm>
            <a:off x="1828802" y="4804064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15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77E28AA-933B-6D69-97B1-8BA214C6741E}"/>
              </a:ext>
            </a:extLst>
          </p:cNvPr>
          <p:cNvSpPr/>
          <p:nvPr/>
        </p:nvSpPr>
        <p:spPr>
          <a:xfrm>
            <a:off x="3141029" y="4804064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38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=2×(</a:t>
            </a: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15+4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EDD2AD4-EC17-3E0B-447C-601ACF136377}"/>
              </a:ext>
            </a:extLst>
          </p:cNvPr>
          <p:cNvSpPr/>
          <p:nvPr/>
        </p:nvSpPr>
        <p:spPr>
          <a:xfrm>
            <a:off x="356939" y="5435700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6F37EF8-3D8A-57E3-1AA1-3A9AAFC8257A}"/>
              </a:ext>
            </a:extLst>
          </p:cNvPr>
          <p:cNvSpPr/>
          <p:nvPr/>
        </p:nvSpPr>
        <p:spPr>
          <a:xfrm>
            <a:off x="1828802" y="5435700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12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88C6E3F-3EF1-EA8B-84E4-1E16EAAA354B}"/>
              </a:ext>
            </a:extLst>
          </p:cNvPr>
          <p:cNvSpPr/>
          <p:nvPr/>
        </p:nvSpPr>
        <p:spPr>
          <a:xfrm>
            <a:off x="3141029" y="5435700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34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=2×(</a:t>
            </a: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12+5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5D22619-6E51-9EBB-D39A-57BA5CAE1C32}"/>
              </a:ext>
            </a:extLst>
          </p:cNvPr>
          <p:cNvSpPr/>
          <p:nvPr/>
        </p:nvSpPr>
        <p:spPr>
          <a:xfrm>
            <a:off x="356939" y="5996784"/>
            <a:ext cx="477250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1F547CE-8371-5668-05B7-F9D40536CCDB}"/>
              </a:ext>
            </a:extLst>
          </p:cNvPr>
          <p:cNvSpPr/>
          <p:nvPr/>
        </p:nvSpPr>
        <p:spPr>
          <a:xfrm>
            <a:off x="1828802" y="5996784"/>
            <a:ext cx="70585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55B7C8D-A818-DF3F-3042-4CFACDC6CD42}"/>
              </a:ext>
            </a:extLst>
          </p:cNvPr>
          <p:cNvSpPr/>
          <p:nvPr/>
        </p:nvSpPr>
        <p:spPr>
          <a:xfrm>
            <a:off x="3141029" y="5996784"/>
            <a:ext cx="226193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32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=2×(</a:t>
            </a: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10+6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)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100" name="Picture 99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9BF85394-6F62-27A7-8B19-4005DED6C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28" y="3223406"/>
            <a:ext cx="551538" cy="49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38" grpId="0"/>
          <p:bldP spid="43" grpId="0"/>
          <p:bldP spid="47" grpId="0"/>
          <p:bldP spid="84" grpId="0"/>
          <p:bldP spid="85" grpId="0"/>
          <p:bldP spid="86" grpId="0"/>
          <p:bldP spid="87" grpId="0"/>
          <p:bldP spid="88" grpId="0"/>
          <p:bldP spid="89" grpId="0"/>
          <p:bldP spid="90" grpId="0"/>
          <p:bldP spid="91" grpId="0"/>
          <p:bldP spid="92" grpId="0"/>
          <p:bldP spid="93" grpId="0"/>
          <p:bldP spid="94" grpId="0"/>
          <p:bldP spid="95" grpId="0"/>
          <p:bldP spid="96" grpId="0"/>
          <p:bldP spid="97" grpId="0"/>
          <p:bldP spid="9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4" fill="hold">
                          <p:stCondLst>
                            <p:cond delay="indefinite"/>
                          </p:stCondLst>
                          <p:childTnLst>
                            <p:par>
                              <p:cTn id="10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9" fill="hold">
                          <p:stCondLst>
                            <p:cond delay="indefinite"/>
                          </p:stCondLst>
                          <p:childTnLst>
                            <p:par>
                              <p:cTn id="1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3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4" fill="hold">
                          <p:stCondLst>
                            <p:cond delay="indefinite"/>
                          </p:stCondLst>
                          <p:childTnLst>
                            <p:par>
                              <p:cTn id="1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4" fill="hold">
                          <p:stCondLst>
                            <p:cond delay="indefinite"/>
                          </p:stCondLst>
                          <p:childTnLst>
                            <p:par>
                              <p:cTn id="1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8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9" fill="hold">
                          <p:stCondLst>
                            <p:cond delay="indefinite"/>
                          </p:stCondLst>
                          <p:childTnLst>
                            <p:par>
                              <p:cTn id="13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4" fill="hold">
                          <p:stCondLst>
                            <p:cond delay="indefinite"/>
                          </p:stCondLst>
                          <p:childTnLst>
                            <p:par>
                              <p:cTn id="13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38" grpId="0"/>
          <p:bldP spid="43" grpId="0"/>
          <p:bldP spid="47" grpId="0"/>
          <p:bldP spid="84" grpId="0"/>
          <p:bldP spid="85" grpId="0"/>
          <p:bldP spid="86" grpId="0"/>
          <p:bldP spid="87" grpId="0"/>
          <p:bldP spid="88" grpId="0"/>
          <p:bldP spid="89" grpId="0"/>
          <p:bldP spid="90" grpId="0"/>
          <p:bldP spid="91" grpId="0"/>
          <p:bldP spid="92" grpId="0"/>
          <p:bldP spid="93" grpId="0"/>
          <p:bldP spid="94" grpId="0"/>
          <p:bldP spid="95" grpId="0"/>
          <p:bldP spid="96" grpId="0"/>
          <p:bldP spid="97" grpId="0"/>
          <p:bldP spid="98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1800" dirty="0"/>
              <a:t>برای حل بعضی از مسئله ها باید همه حالت های ممکن را بنویسید.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برای اینکه هیچ حالتی از قلم نیفتد، لازم است آنها را با </a:t>
            </a:r>
            <a:r>
              <a:rPr lang="fa-IR" b="1" dirty="0">
                <a:highlight>
                  <a:srgbClr val="FFFF00"/>
                </a:highlight>
              </a:rPr>
              <a:t>نظم، الگو و ترتیبی </a:t>
            </a:r>
            <a:r>
              <a:rPr lang="fa-IR" dirty="0"/>
              <a:t>مشخص بنویسید.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fa-IR" dirty="0"/>
              <a:t>الگوسازی به شما کمک می کند تا مطمئن شوید همه حالتها را نوشته اید. بنابراین در مسئله هایی که لازم است  همه جواب ها و پاسخهای ممکن را بنویسید، می توانید از این راهبرد استفاده کنید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باتوجه به نظم و ترتیبی که می سازید، به این راهبرد، </a:t>
            </a:r>
            <a:r>
              <a:rPr lang="fa-IR" b="1" dirty="0">
                <a:highlight>
                  <a:srgbClr val="FFFF00"/>
                </a:highlight>
              </a:rPr>
              <a:t>تفکر نظامدار</a:t>
            </a:r>
            <a:r>
              <a:rPr lang="fa-IR" b="1" dirty="0"/>
              <a:t> </a:t>
            </a:r>
            <a:r>
              <a:rPr lang="fa-IR" dirty="0"/>
              <a:t>نیز میگویند. </a:t>
            </a:r>
            <a:br>
              <a:rPr lang="fa-I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8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655</Words>
  <Application>Microsoft Office PowerPoint</Application>
  <PresentationFormat>Widescreen</PresentationFormat>
  <Paragraphs>158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22</cp:revision>
  <dcterms:created xsi:type="dcterms:W3CDTF">2025-10-07T12:35:10Z</dcterms:created>
  <dcterms:modified xsi:type="dcterms:W3CDTF">2026-03-31T13:04:56Z</dcterms:modified>
</cp:coreProperties>
</file>