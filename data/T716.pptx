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75" r:id="rId4"/>
    <p:sldId id="260" r:id="rId5"/>
    <p:sldId id="268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FF6238"/>
    <a:srgbClr val="3970A4"/>
    <a:srgbClr val="99FFCC"/>
    <a:srgbClr val="FEF3E6"/>
    <a:srgbClr val="FFF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0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6000" dirty="0">
                <a:solidFill>
                  <a:srgbClr val="99FFCC"/>
                </a:solidFill>
                <a:latin typeface="IRANYekanXFaNum Heavy" pitchFamily="2" charset="-78"/>
                <a:cs typeface="IRANYekanXFaNum Heavy" pitchFamily="2" charset="-78"/>
              </a:rPr>
              <a:t>فصل اول: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راهـبردهای</a:t>
            </a:r>
          </a:p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حـل مسـئله</a:t>
            </a:r>
            <a:endParaRPr lang="en-US" sz="8800" dirty="0">
              <a:solidFill>
                <a:schemeClr val="bg1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0D0C55-22AD-C92B-15CD-DD2764B5B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7F41C3-638D-B006-F8B8-6031ABE85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15" name="Connector D">
            <a:extLst>
              <a:ext uri="{FF2B5EF4-FFF2-40B4-BE49-F238E27FC236}">
                <a16:creationId xmlns:a16="http://schemas.microsoft.com/office/drawing/2014/main" id="{A586E0C7-46BD-345F-7C2F-8FCDD5C786BB}"/>
              </a:ext>
            </a:extLst>
          </p:cNvPr>
          <p:cNvGrpSpPr/>
          <p:nvPr/>
        </p:nvGrpSpPr>
        <p:grpSpPr>
          <a:xfrm flipH="1">
            <a:off x="5439210" y="4122523"/>
            <a:ext cx="1652526" cy="663196"/>
            <a:chOff x="3908440" y="4075035"/>
            <a:chExt cx="1652526" cy="663196"/>
          </a:xfrm>
        </p:grpSpPr>
        <p:sp>
          <p:nvSpPr>
            <p:cNvPr id="16" name="Freeform 69">
              <a:extLst>
                <a:ext uri="{FF2B5EF4-FFF2-40B4-BE49-F238E27FC236}">
                  <a16:creationId xmlns:a16="http://schemas.microsoft.com/office/drawing/2014/main" id="{B51589FF-CB6E-BAA6-8628-F8A9A597B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812" y="4142718"/>
              <a:ext cx="1517154" cy="595513"/>
            </a:xfrm>
            <a:custGeom>
              <a:avLst/>
              <a:gdLst>
                <a:gd name="T0" fmla="*/ 0 w 1955"/>
                <a:gd name="T1" fmla="*/ 0 h 430"/>
                <a:gd name="T2" fmla="*/ 799 w 1955"/>
                <a:gd name="T3" fmla="*/ 0 h 430"/>
                <a:gd name="T4" fmla="*/ 1227 w 1955"/>
                <a:gd name="T5" fmla="*/ 430 h 430"/>
                <a:gd name="T6" fmla="*/ 1955 w 1955"/>
                <a:gd name="T7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55" h="430">
                  <a:moveTo>
                    <a:pt x="0" y="0"/>
                  </a:moveTo>
                  <a:lnTo>
                    <a:pt x="799" y="0"/>
                  </a:lnTo>
                  <a:lnTo>
                    <a:pt x="1227" y="430"/>
                  </a:lnTo>
                  <a:lnTo>
                    <a:pt x="1955" y="430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8" name="Oval 70">
              <a:extLst>
                <a:ext uri="{FF2B5EF4-FFF2-40B4-BE49-F238E27FC236}">
                  <a16:creationId xmlns:a16="http://schemas.microsoft.com/office/drawing/2014/main" id="{8D0B4A83-A2DE-0FF5-1928-2DA9F6865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8440" y="4075035"/>
              <a:ext cx="135371" cy="135976"/>
            </a:xfrm>
            <a:prstGeom prst="ellipse">
              <a:avLst/>
            </a:prstGeom>
            <a:noFill/>
            <a:ln w="25400" cap="flat">
              <a:solidFill>
                <a:srgbClr val="5E6C8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9" name="Oval 71">
              <a:extLst>
                <a:ext uri="{FF2B5EF4-FFF2-40B4-BE49-F238E27FC236}">
                  <a16:creationId xmlns:a16="http://schemas.microsoft.com/office/drawing/2014/main" id="{83ADDDC7-5130-9B76-6CB2-4850D3DF6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686" y="4112505"/>
              <a:ext cx="60434" cy="6164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1BCB952-64C1-9F75-BB45-5701862A53F6}"/>
              </a:ext>
            </a:extLst>
          </p:cNvPr>
          <p:cNvGrpSpPr/>
          <p:nvPr/>
        </p:nvGrpSpPr>
        <p:grpSpPr>
          <a:xfrm flipH="1">
            <a:off x="6952744" y="1783124"/>
            <a:ext cx="3288064" cy="3291752"/>
            <a:chOff x="3708875" y="2192339"/>
            <a:chExt cx="2468966" cy="2471737"/>
          </a:xfrm>
        </p:grpSpPr>
        <p:sp>
          <p:nvSpPr>
            <p:cNvPr id="49" name="Part D">
              <a:extLst>
                <a:ext uri="{FF2B5EF4-FFF2-40B4-BE49-F238E27FC236}">
                  <a16:creationId xmlns:a16="http://schemas.microsoft.com/office/drawing/2014/main" id="{C9EFF4A3-550F-4E42-DEA0-B2E1325FC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3444876"/>
              <a:ext cx="1177925" cy="585788"/>
            </a:xfrm>
            <a:custGeom>
              <a:avLst/>
              <a:gdLst/>
              <a:ahLst/>
              <a:cxnLst>
                <a:cxn ang="0">
                  <a:pos x="821" y="0"/>
                </a:cxn>
                <a:cxn ang="0">
                  <a:pos x="0" y="0"/>
                </a:cxn>
                <a:cxn ang="0">
                  <a:pos x="711" y="410"/>
                </a:cxn>
                <a:cxn ang="0">
                  <a:pos x="821" y="0"/>
                </a:cxn>
              </a:cxnLst>
              <a:rect l="0" t="0" r="r" b="b"/>
              <a:pathLst>
                <a:path w="821" h="410">
                  <a:moveTo>
                    <a:pt x="8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11" y="410"/>
                    <a:pt x="711" y="410"/>
                    <a:pt x="711" y="410"/>
                  </a:cubicBezTo>
                  <a:cubicBezTo>
                    <a:pt x="779" y="289"/>
                    <a:pt x="819" y="149"/>
                    <a:pt x="821" y="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0" name="Part C">
              <a:extLst>
                <a:ext uri="{FF2B5EF4-FFF2-40B4-BE49-F238E27FC236}">
                  <a16:creationId xmlns:a16="http://schemas.microsoft.com/office/drawing/2014/main" id="{54B0C89E-67AF-4ED6-295F-F58D3266B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2824164"/>
              <a:ext cx="1177925" cy="585788"/>
            </a:xfrm>
            <a:custGeom>
              <a:avLst/>
              <a:gdLst/>
              <a:ahLst/>
              <a:cxnLst>
                <a:cxn ang="0">
                  <a:pos x="711" y="0"/>
                </a:cxn>
                <a:cxn ang="0">
                  <a:pos x="0" y="410"/>
                </a:cxn>
                <a:cxn ang="0">
                  <a:pos x="821" y="410"/>
                </a:cxn>
                <a:cxn ang="0">
                  <a:pos x="711" y="0"/>
                </a:cxn>
              </a:cxnLst>
              <a:rect l="0" t="0" r="r" b="b"/>
              <a:pathLst>
                <a:path w="821" h="410">
                  <a:moveTo>
                    <a:pt x="711" y="0"/>
                  </a:moveTo>
                  <a:cubicBezTo>
                    <a:pt x="0" y="410"/>
                    <a:pt x="0" y="410"/>
                    <a:pt x="0" y="410"/>
                  </a:cubicBezTo>
                  <a:cubicBezTo>
                    <a:pt x="821" y="410"/>
                    <a:pt x="821" y="410"/>
                    <a:pt x="821" y="410"/>
                  </a:cubicBezTo>
                  <a:cubicBezTo>
                    <a:pt x="819" y="261"/>
                    <a:pt x="779" y="121"/>
                    <a:pt x="711" y="0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1" name="Part F">
              <a:extLst>
                <a:ext uri="{FF2B5EF4-FFF2-40B4-BE49-F238E27FC236}">
                  <a16:creationId xmlns:a16="http://schemas.microsoft.com/office/drawing/2014/main" id="{E2DF8F84-EEE7-1878-A988-5B7B42DB3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3492501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711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148" y="818"/>
                    <a:pt x="288" y="779"/>
                    <a:pt x="410" y="7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2" name="Part A">
              <a:extLst>
                <a:ext uri="{FF2B5EF4-FFF2-40B4-BE49-F238E27FC236}">
                  <a16:creationId xmlns:a16="http://schemas.microsoft.com/office/drawing/2014/main" id="{D4746318-94C4-BFCD-C36D-61BE47460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2192339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109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410" y="109"/>
                    <a:pt x="410" y="109"/>
                    <a:pt x="410" y="109"/>
                  </a:cubicBezTo>
                  <a:cubicBezTo>
                    <a:pt x="288" y="41"/>
                    <a:pt x="148" y="2"/>
                    <a:pt x="0" y="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3" name="Part E">
              <a:extLst>
                <a:ext uri="{FF2B5EF4-FFF2-40B4-BE49-F238E27FC236}">
                  <a16:creationId xmlns:a16="http://schemas.microsoft.com/office/drawing/2014/main" id="{CE059AD6-5581-84E1-73AE-ED72FEBB5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3475039"/>
              <a:ext cx="1020763" cy="1016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711"/>
                </a:cxn>
                <a:cxn ang="0">
                  <a:pos x="711" y="410"/>
                </a:cxn>
                <a:cxn ang="0">
                  <a:pos x="0" y="0"/>
                </a:cxn>
              </a:cxnLst>
              <a:rect l="0" t="0" r="r" b="b"/>
              <a:pathLst>
                <a:path w="711" h="711">
                  <a:moveTo>
                    <a:pt x="0" y="0"/>
                  </a:moveTo>
                  <a:cubicBezTo>
                    <a:pt x="411" y="711"/>
                    <a:pt x="411" y="711"/>
                    <a:pt x="411" y="711"/>
                  </a:cubicBezTo>
                  <a:cubicBezTo>
                    <a:pt x="534" y="637"/>
                    <a:pt x="637" y="533"/>
                    <a:pt x="711" y="41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4" name="Part B">
              <a:extLst>
                <a:ext uri="{FF2B5EF4-FFF2-40B4-BE49-F238E27FC236}">
                  <a16:creationId xmlns:a16="http://schemas.microsoft.com/office/drawing/2014/main" id="{135F624E-F655-A0BA-9077-F0EFB4F5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2365376"/>
              <a:ext cx="1020763" cy="1014413"/>
            </a:xfrm>
            <a:custGeom>
              <a:avLst/>
              <a:gdLst/>
              <a:ahLst/>
              <a:cxnLst>
                <a:cxn ang="0">
                  <a:pos x="411" y="0"/>
                </a:cxn>
                <a:cxn ang="0">
                  <a:pos x="0" y="711"/>
                </a:cxn>
                <a:cxn ang="0">
                  <a:pos x="711" y="301"/>
                </a:cxn>
                <a:cxn ang="0">
                  <a:pos x="411" y="0"/>
                </a:cxn>
              </a:cxnLst>
              <a:rect l="0" t="0" r="r" b="b"/>
              <a:pathLst>
                <a:path w="711" h="711">
                  <a:moveTo>
                    <a:pt x="411" y="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711" y="301"/>
                    <a:pt x="711" y="301"/>
                    <a:pt x="711" y="301"/>
                  </a:cubicBezTo>
                  <a:cubicBezTo>
                    <a:pt x="637" y="178"/>
                    <a:pt x="534" y="74"/>
                    <a:pt x="411" y="0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5" name="Big shape">
              <a:extLst>
                <a:ext uri="{FF2B5EF4-FFF2-40B4-BE49-F238E27FC236}">
                  <a16:creationId xmlns:a16="http://schemas.microsoft.com/office/drawing/2014/main" id="{C6B77940-B966-F0DE-1BBF-B2B46A60A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875" y="2192530"/>
              <a:ext cx="1220153" cy="2471128"/>
            </a:xfrm>
            <a:custGeom>
              <a:avLst/>
              <a:gdLst>
                <a:gd name="T0" fmla="*/ 854 w 854"/>
                <a:gd name="T1" fmla="*/ 865 h 1730"/>
                <a:gd name="T2" fmla="*/ 854 w 854"/>
                <a:gd name="T3" fmla="*/ 0 h 1730"/>
                <a:gd name="T4" fmla="*/ 0 w 854"/>
                <a:gd name="T5" fmla="*/ 865 h 1730"/>
                <a:gd name="T6" fmla="*/ 854 w 854"/>
                <a:gd name="T7" fmla="*/ 1730 h 1730"/>
                <a:gd name="T8" fmla="*/ 854 w 854"/>
                <a:gd name="T9" fmla="*/ 865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1730">
                  <a:moveTo>
                    <a:pt x="854" y="865"/>
                  </a:moveTo>
                  <a:cubicBezTo>
                    <a:pt x="854" y="0"/>
                    <a:pt x="854" y="0"/>
                    <a:pt x="854" y="0"/>
                  </a:cubicBezTo>
                  <a:cubicBezTo>
                    <a:pt x="381" y="6"/>
                    <a:pt x="0" y="391"/>
                    <a:pt x="0" y="865"/>
                  </a:cubicBezTo>
                  <a:cubicBezTo>
                    <a:pt x="0" y="1339"/>
                    <a:pt x="381" y="1724"/>
                    <a:pt x="854" y="1730"/>
                  </a:cubicBezTo>
                  <a:lnTo>
                    <a:pt x="854" y="86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A1B7">
                    <a:shade val="30000"/>
                    <a:satMod val="115000"/>
                  </a:srgbClr>
                </a:gs>
                <a:gs pos="50000">
                  <a:srgbClr val="91A1B7">
                    <a:shade val="67500"/>
                    <a:satMod val="115000"/>
                  </a:srgbClr>
                </a:gs>
                <a:gs pos="100000">
                  <a:srgbClr val="91A1B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56" name="Main circle">
            <a:extLst>
              <a:ext uri="{FF2B5EF4-FFF2-40B4-BE49-F238E27FC236}">
                <a16:creationId xmlns:a16="http://schemas.microsoft.com/office/drawing/2014/main" id="{32F27A1A-9BE1-32E1-3C7D-9AAAD1CAADB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66371" y="1895287"/>
            <a:ext cx="3064784" cy="306720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rgbClr val="D8D9D9"/>
              </a:gs>
            </a:gsLst>
            <a:lin ang="2700000" scaled="1"/>
            <a:tileRect/>
          </a:gradFill>
          <a:ln>
            <a:noFill/>
          </a:ln>
          <a:effectLst>
            <a:outerShdw blurRad="381000" dist="177800" dir="2700000" algn="tl" rotWithShape="0">
              <a:prstClr val="black">
                <a:alpha val="7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Lato" panose="020F0502020204030203" pitchFamily="34" charset="0"/>
              <a:cs typeface="IRANYekanX ExtraBlack" pitchFamily="2" charset="-7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84C77A-9FFE-5238-44BE-A9078AF1AB2F}"/>
              </a:ext>
            </a:extLst>
          </p:cNvPr>
          <p:cNvSpPr txBox="1"/>
          <p:nvPr/>
        </p:nvSpPr>
        <p:spPr>
          <a:xfrm>
            <a:off x="7347049" y="2472338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فصل اول: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2D784A5-0BCD-925C-CDF5-715F171B591D}"/>
              </a:ext>
            </a:extLst>
          </p:cNvPr>
          <p:cNvSpPr/>
          <p:nvPr/>
        </p:nvSpPr>
        <p:spPr>
          <a:xfrm>
            <a:off x="7258716" y="3207377"/>
            <a:ext cx="26516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راهبردهای</a:t>
            </a:r>
          </a:p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حل مسئله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9A567B9-2561-C8FA-DC79-BC0B5A64DCF9}"/>
              </a:ext>
            </a:extLst>
          </p:cNvPr>
          <p:cNvGrpSpPr/>
          <p:nvPr/>
        </p:nvGrpSpPr>
        <p:grpSpPr>
          <a:xfrm>
            <a:off x="1371601" y="-194802"/>
            <a:ext cx="7034040" cy="4818642"/>
            <a:chOff x="1371601" y="-194802"/>
            <a:chExt cx="7034040" cy="4818642"/>
          </a:xfrm>
        </p:grpSpPr>
        <p:grpSp>
          <p:nvGrpSpPr>
            <p:cNvPr id="7" name="Connector D">
              <a:extLst>
                <a:ext uri="{FF2B5EF4-FFF2-40B4-BE49-F238E27FC236}">
                  <a16:creationId xmlns:a16="http://schemas.microsoft.com/office/drawing/2014/main" id="{393E0E1E-D6D8-56C7-E0E1-E97ECD014AEB}"/>
                </a:ext>
              </a:extLst>
            </p:cNvPr>
            <p:cNvGrpSpPr/>
            <p:nvPr/>
          </p:nvGrpSpPr>
          <p:grpSpPr>
            <a:xfrm flipH="1">
              <a:off x="4665183" y="2841951"/>
              <a:ext cx="2306782" cy="449798"/>
              <a:chOff x="3908440" y="4075035"/>
              <a:chExt cx="2330038" cy="400536"/>
            </a:xfrm>
          </p:grpSpPr>
          <p:sp>
            <p:nvSpPr>
              <p:cNvPr id="8" name="Freeform 69">
                <a:extLst>
                  <a:ext uri="{FF2B5EF4-FFF2-40B4-BE49-F238E27FC236}">
                    <a16:creationId xmlns:a16="http://schemas.microsoft.com/office/drawing/2014/main" id="{82DDEC3B-4D71-44C5-AE95-EF643B289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1" y="4142719"/>
                <a:ext cx="2194667" cy="332852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9" name="Oval 70">
                <a:extLst>
                  <a:ext uri="{FF2B5EF4-FFF2-40B4-BE49-F238E27FC236}">
                    <a16:creationId xmlns:a16="http://schemas.microsoft.com/office/drawing/2014/main" id="{58444A85-4565-EB91-234E-31B499113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4075035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0" name="Oval 71">
                <a:extLst>
                  <a:ext uri="{FF2B5EF4-FFF2-40B4-BE49-F238E27FC236}">
                    <a16:creationId xmlns:a16="http://schemas.microsoft.com/office/drawing/2014/main" id="{154BFB5E-387F-7BE3-EDB8-A4D5C48E4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4112505"/>
                <a:ext cx="60434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11" name="Connector D">
              <a:extLst>
                <a:ext uri="{FF2B5EF4-FFF2-40B4-BE49-F238E27FC236}">
                  <a16:creationId xmlns:a16="http://schemas.microsoft.com/office/drawing/2014/main" id="{3AB87CFD-0C32-520B-53BB-7D0D11FBEE48}"/>
                </a:ext>
              </a:extLst>
            </p:cNvPr>
            <p:cNvGrpSpPr/>
            <p:nvPr/>
          </p:nvGrpSpPr>
          <p:grpSpPr>
            <a:xfrm flipH="1">
              <a:off x="5017030" y="3473328"/>
              <a:ext cx="1903258" cy="458325"/>
              <a:chOff x="3908440" y="4075035"/>
              <a:chExt cx="2330038" cy="400536"/>
            </a:xfrm>
          </p:grpSpPr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3D58E38F-BE16-65F7-3EE7-EA0D01B667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1" y="4142719"/>
                <a:ext cx="2194667" cy="332852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Oval 70">
                <a:extLst>
                  <a:ext uri="{FF2B5EF4-FFF2-40B4-BE49-F238E27FC236}">
                    <a16:creationId xmlns:a16="http://schemas.microsoft.com/office/drawing/2014/main" id="{E0A39DFA-695D-36BF-419E-797B5CD43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4075035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4" name="Oval 71">
                <a:extLst>
                  <a:ext uri="{FF2B5EF4-FFF2-40B4-BE49-F238E27FC236}">
                    <a16:creationId xmlns:a16="http://schemas.microsoft.com/office/drawing/2014/main" id="{92D0EE7F-B455-BDE1-3C0D-B279733FE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4112505"/>
                <a:ext cx="60434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20" name="Connector B">
              <a:extLst>
                <a:ext uri="{FF2B5EF4-FFF2-40B4-BE49-F238E27FC236}">
                  <a16:creationId xmlns:a16="http://schemas.microsoft.com/office/drawing/2014/main" id="{981DF1F3-4EE3-2DC9-F426-1DC603B7A5DF}"/>
                </a:ext>
              </a:extLst>
            </p:cNvPr>
            <p:cNvGrpSpPr/>
            <p:nvPr/>
          </p:nvGrpSpPr>
          <p:grpSpPr>
            <a:xfrm flipH="1">
              <a:off x="6163434" y="1436128"/>
              <a:ext cx="1487644" cy="481092"/>
              <a:chOff x="3908440" y="2300061"/>
              <a:chExt cx="1487644" cy="481092"/>
            </a:xfrm>
          </p:grpSpPr>
          <p:sp>
            <p:nvSpPr>
              <p:cNvPr id="21" name="Freeform 63">
                <a:extLst>
                  <a:ext uri="{FF2B5EF4-FFF2-40B4-BE49-F238E27FC236}">
                    <a16:creationId xmlns:a16="http://schemas.microsoft.com/office/drawing/2014/main" id="{1B38774A-881A-8F9B-8013-81CA9E59C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4" y="2300061"/>
                <a:ext cx="1352270" cy="414009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430"/>
                    </a:moveTo>
                    <a:lnTo>
                      <a:pt x="799" y="430"/>
                    </a:lnTo>
                    <a:lnTo>
                      <a:pt x="1227" y="0"/>
                    </a:lnTo>
                    <a:lnTo>
                      <a:pt x="1955" y="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2" name="Oval 64">
                <a:extLst>
                  <a:ext uri="{FF2B5EF4-FFF2-40B4-BE49-F238E27FC236}">
                    <a16:creationId xmlns:a16="http://schemas.microsoft.com/office/drawing/2014/main" id="{20980FBE-7393-BACE-8D4C-3B2E5BCF5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2645177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3" name="Oval 65">
                <a:extLst>
                  <a:ext uri="{FF2B5EF4-FFF2-40B4-BE49-F238E27FC236}">
                    <a16:creationId xmlns:a16="http://schemas.microsoft.com/office/drawing/2014/main" id="{AA9B4B80-D5CD-B81C-96E1-2DF78C009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2685028"/>
                <a:ext cx="60434" cy="610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24" name="Connector A">
              <a:extLst>
                <a:ext uri="{FF2B5EF4-FFF2-40B4-BE49-F238E27FC236}">
                  <a16:creationId xmlns:a16="http://schemas.microsoft.com/office/drawing/2014/main" id="{F003E04C-F75B-2CC5-8B27-0256E17F80F1}"/>
                </a:ext>
              </a:extLst>
            </p:cNvPr>
            <p:cNvGrpSpPr/>
            <p:nvPr/>
          </p:nvGrpSpPr>
          <p:grpSpPr>
            <a:xfrm flipH="1">
              <a:off x="6701866" y="539495"/>
              <a:ext cx="1703775" cy="1214949"/>
              <a:chOff x="3383877" y="1044662"/>
              <a:chExt cx="1703775" cy="1214949"/>
            </a:xfrm>
          </p:grpSpPr>
          <p:sp>
            <p:nvSpPr>
              <p:cNvPr id="25" name="Freeform 60">
                <a:extLst>
                  <a:ext uri="{FF2B5EF4-FFF2-40B4-BE49-F238E27FC236}">
                    <a16:creationId xmlns:a16="http://schemas.microsoft.com/office/drawing/2014/main" id="{EAD8E691-310C-7224-A724-F3A6FB3DAF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041" y="1044662"/>
                <a:ext cx="1569611" cy="1147867"/>
              </a:xfrm>
              <a:custGeom>
                <a:avLst/>
                <a:gdLst>
                  <a:gd name="T0" fmla="*/ 0 w 2773"/>
                  <a:gd name="T1" fmla="*/ 1196 h 1196"/>
                  <a:gd name="T2" fmla="*/ 646 w 2773"/>
                  <a:gd name="T3" fmla="*/ 1196 h 1196"/>
                  <a:gd name="T4" fmla="*/ 1842 w 2773"/>
                  <a:gd name="T5" fmla="*/ 0 h 1196"/>
                  <a:gd name="T6" fmla="*/ 2773 w 2773"/>
                  <a:gd name="T7" fmla="*/ 0 h 1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73" h="1196">
                    <a:moveTo>
                      <a:pt x="0" y="1196"/>
                    </a:moveTo>
                    <a:lnTo>
                      <a:pt x="646" y="1196"/>
                    </a:lnTo>
                    <a:lnTo>
                      <a:pt x="1842" y="0"/>
                    </a:lnTo>
                    <a:lnTo>
                      <a:pt x="2773" y="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6" name="Oval 61">
                <a:extLst>
                  <a:ext uri="{FF2B5EF4-FFF2-40B4-BE49-F238E27FC236}">
                    <a16:creationId xmlns:a16="http://schemas.microsoft.com/office/drawing/2014/main" id="{AC61A542-D6F0-6022-BD60-C9FEA8D12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3877" y="2124240"/>
                <a:ext cx="134162" cy="135371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7" name="Oval 62">
                <a:extLst>
                  <a:ext uri="{FF2B5EF4-FFF2-40B4-BE49-F238E27FC236}">
                    <a16:creationId xmlns:a16="http://schemas.microsoft.com/office/drawing/2014/main" id="{4DB371C4-4F2E-DDF3-177B-8BB63254A6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3727" y="2163485"/>
                <a:ext cx="59829" cy="616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40" name="Connector D">
              <a:extLst>
                <a:ext uri="{FF2B5EF4-FFF2-40B4-BE49-F238E27FC236}">
                  <a16:creationId xmlns:a16="http://schemas.microsoft.com/office/drawing/2014/main" id="{63B9C3D3-D171-0BF1-19A9-59E7743C6762}"/>
                </a:ext>
              </a:extLst>
            </p:cNvPr>
            <p:cNvGrpSpPr/>
            <p:nvPr/>
          </p:nvGrpSpPr>
          <p:grpSpPr>
            <a:xfrm flipH="1">
              <a:off x="5433544" y="2270178"/>
              <a:ext cx="1839839" cy="168811"/>
              <a:chOff x="3908440" y="4075035"/>
              <a:chExt cx="1839839" cy="168811"/>
            </a:xfrm>
          </p:grpSpPr>
          <p:sp>
            <p:nvSpPr>
              <p:cNvPr id="41" name="Freeform 69">
                <a:extLst>
                  <a:ext uri="{FF2B5EF4-FFF2-40B4-BE49-F238E27FC236}">
                    <a16:creationId xmlns:a16="http://schemas.microsoft.com/office/drawing/2014/main" id="{19CBF3E9-1032-9925-9650-626F357C2A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2" y="4142719"/>
                <a:ext cx="1704467" cy="101127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2" name="Oval 70">
                <a:extLst>
                  <a:ext uri="{FF2B5EF4-FFF2-40B4-BE49-F238E27FC236}">
                    <a16:creationId xmlns:a16="http://schemas.microsoft.com/office/drawing/2014/main" id="{9B3CDA63-C2BD-F84F-F22C-77A5B9F70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4075035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3" name="Oval 71">
                <a:extLst>
                  <a:ext uri="{FF2B5EF4-FFF2-40B4-BE49-F238E27FC236}">
                    <a16:creationId xmlns:a16="http://schemas.microsoft.com/office/drawing/2014/main" id="{B7B92D04-E6C8-B589-6386-3771F1BDA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4112505"/>
                <a:ext cx="60434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BE6EB21-A8CB-1B29-2217-3E84DBC5A899}"/>
                </a:ext>
              </a:extLst>
            </p:cNvPr>
            <p:cNvGrpSpPr/>
            <p:nvPr/>
          </p:nvGrpSpPr>
          <p:grpSpPr>
            <a:xfrm>
              <a:off x="4841042" y="-194802"/>
              <a:ext cx="2000331" cy="1446550"/>
              <a:chOff x="7803739" y="878197"/>
              <a:chExt cx="1469629" cy="1216215"/>
            </a:xfrm>
          </p:grpSpPr>
          <p:sp>
            <p:nvSpPr>
              <p:cNvPr id="83" name="Freeform 83">
                <a:extLst>
                  <a:ext uri="{FF2B5EF4-FFF2-40B4-BE49-F238E27FC236}">
                    <a16:creationId xmlns:a16="http://schemas.microsoft.com/office/drawing/2014/main" id="{C361E55C-35D8-70D3-E0EE-D08E35C1C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3739" y="1148135"/>
                <a:ext cx="1319802" cy="62384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رسم شکل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84" name="A">
                <a:extLst>
                  <a:ext uri="{FF2B5EF4-FFF2-40B4-BE49-F238E27FC236}">
                    <a16:creationId xmlns:a16="http://schemas.microsoft.com/office/drawing/2014/main" id="{F870DFCC-87C2-7B88-BBE0-2F27BF926001}"/>
                  </a:ext>
                </a:extLst>
              </p:cNvPr>
              <p:cNvSpPr txBox="1"/>
              <p:nvPr/>
            </p:nvSpPr>
            <p:spPr>
              <a:xfrm>
                <a:off x="9077306" y="878197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1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F2D3789-F862-7176-23B9-044237D7CC50}"/>
                </a:ext>
              </a:extLst>
            </p:cNvPr>
            <p:cNvGrpSpPr/>
            <p:nvPr/>
          </p:nvGrpSpPr>
          <p:grpSpPr>
            <a:xfrm>
              <a:off x="4219704" y="648221"/>
              <a:ext cx="2127686" cy="1446550"/>
              <a:chOff x="7803739" y="882620"/>
              <a:chExt cx="1563196" cy="1216215"/>
            </a:xfrm>
          </p:grpSpPr>
          <p:sp>
            <p:nvSpPr>
              <p:cNvPr id="86" name="Freeform 83">
                <a:extLst>
                  <a:ext uri="{FF2B5EF4-FFF2-40B4-BE49-F238E27FC236}">
                    <a16:creationId xmlns:a16="http://schemas.microsoft.com/office/drawing/2014/main" id="{9F169561-EC2E-2259-B65A-6A389E01C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3739" y="1148135"/>
                <a:ext cx="1319802" cy="623844"/>
              </a:xfrm>
              <a:prstGeom prst="roundRect">
                <a:avLst/>
              </a:prstGeom>
              <a:solidFill>
                <a:srgbClr val="E8782D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الگو سازی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87" name="A">
                <a:extLst>
                  <a:ext uri="{FF2B5EF4-FFF2-40B4-BE49-F238E27FC236}">
                    <a16:creationId xmlns:a16="http://schemas.microsoft.com/office/drawing/2014/main" id="{539EBFF2-D9E7-F8A8-9407-B41C1B3937F6}"/>
                  </a:ext>
                </a:extLst>
              </p:cNvPr>
              <p:cNvSpPr txBox="1"/>
              <p:nvPr/>
            </p:nvSpPr>
            <p:spPr>
              <a:xfrm>
                <a:off x="9170873" y="88262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2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C56CAE4-D2F5-7022-F8C5-AAC0774DA2EF}"/>
                </a:ext>
              </a:extLst>
            </p:cNvPr>
            <p:cNvGrpSpPr/>
            <p:nvPr/>
          </p:nvGrpSpPr>
          <p:grpSpPr>
            <a:xfrm>
              <a:off x="1371601" y="1491244"/>
              <a:ext cx="4344071" cy="1446550"/>
              <a:chOff x="6220080" y="901710"/>
              <a:chExt cx="3191558" cy="1216215"/>
            </a:xfrm>
          </p:grpSpPr>
          <p:sp>
            <p:nvSpPr>
              <p:cNvPr id="89" name="Freeform 83">
                <a:extLst>
                  <a:ext uri="{FF2B5EF4-FFF2-40B4-BE49-F238E27FC236}">
                    <a16:creationId xmlns:a16="http://schemas.microsoft.com/office/drawing/2014/main" id="{B5649E13-0DFB-1E93-5363-9DFE2165E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0080" y="1148135"/>
                <a:ext cx="2903461" cy="623844"/>
              </a:xfrm>
              <a:prstGeom prst="roundRect">
                <a:avLst/>
              </a:prstGeom>
              <a:solidFill>
                <a:srgbClr val="F2B600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حذف حالت‌های نامطلوب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90" name="A">
                <a:extLst>
                  <a:ext uri="{FF2B5EF4-FFF2-40B4-BE49-F238E27FC236}">
                    <a16:creationId xmlns:a16="http://schemas.microsoft.com/office/drawing/2014/main" id="{BFA12E28-5620-DDF7-7933-FED1FDA866F9}"/>
                  </a:ext>
                </a:extLst>
              </p:cNvPr>
              <p:cNvSpPr txBox="1"/>
              <p:nvPr/>
            </p:nvSpPr>
            <p:spPr>
              <a:xfrm>
                <a:off x="9215576" y="90171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3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5C843EDC-29FF-06C4-DD2B-4040C7FE13F1}"/>
                </a:ext>
              </a:extLst>
            </p:cNvPr>
            <p:cNvGrpSpPr/>
            <p:nvPr/>
          </p:nvGrpSpPr>
          <p:grpSpPr>
            <a:xfrm>
              <a:off x="2970351" y="2334267"/>
              <a:ext cx="1992559" cy="1446550"/>
              <a:chOff x="7947719" y="901710"/>
              <a:chExt cx="1463919" cy="1216215"/>
            </a:xfrm>
          </p:grpSpPr>
          <p:sp>
            <p:nvSpPr>
              <p:cNvPr id="92" name="Freeform 83">
                <a:extLst>
                  <a:ext uri="{FF2B5EF4-FFF2-40B4-BE49-F238E27FC236}">
                    <a16:creationId xmlns:a16="http://schemas.microsoft.com/office/drawing/2014/main" id="{53FCE28D-B0BD-4DAB-7A22-CB848654B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7719" y="1148135"/>
                <a:ext cx="1175822" cy="623844"/>
              </a:xfrm>
              <a:prstGeom prst="roundRect">
                <a:avLst/>
              </a:prstGeom>
              <a:solidFill>
                <a:srgbClr val="4D8FCB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الگو یابی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93" name="A">
                <a:extLst>
                  <a:ext uri="{FF2B5EF4-FFF2-40B4-BE49-F238E27FC236}">
                    <a16:creationId xmlns:a16="http://schemas.microsoft.com/office/drawing/2014/main" id="{ED9121D2-8F2E-D6A9-857A-21EADCC4587F}"/>
                  </a:ext>
                </a:extLst>
              </p:cNvPr>
              <p:cNvSpPr txBox="1"/>
              <p:nvPr/>
            </p:nvSpPr>
            <p:spPr>
              <a:xfrm>
                <a:off x="9215576" y="90171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4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B50A10B1-1C4A-D188-F253-02BCC1EF18BD}"/>
                </a:ext>
              </a:extLst>
            </p:cNvPr>
            <p:cNvGrpSpPr/>
            <p:nvPr/>
          </p:nvGrpSpPr>
          <p:grpSpPr>
            <a:xfrm>
              <a:off x="1880457" y="3177290"/>
              <a:ext cx="3082453" cy="1446550"/>
              <a:chOff x="7071705" y="926028"/>
              <a:chExt cx="2264656" cy="1216215"/>
            </a:xfrm>
          </p:grpSpPr>
          <p:sp>
            <p:nvSpPr>
              <p:cNvPr id="99" name="Freeform 83">
                <a:extLst>
                  <a:ext uri="{FF2B5EF4-FFF2-40B4-BE49-F238E27FC236}">
                    <a16:creationId xmlns:a16="http://schemas.microsoft.com/office/drawing/2014/main" id="{3A675085-E9F6-7576-0AAA-84C144CE3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1705" y="1148135"/>
                <a:ext cx="2051836" cy="623844"/>
              </a:xfrm>
              <a:prstGeom prst="roundRect">
                <a:avLst/>
              </a:prstGeom>
              <a:solidFill>
                <a:srgbClr val="7F6000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حدس و آزمایش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100" name="A">
                <a:extLst>
                  <a:ext uri="{FF2B5EF4-FFF2-40B4-BE49-F238E27FC236}">
                    <a16:creationId xmlns:a16="http://schemas.microsoft.com/office/drawing/2014/main" id="{CF6B391F-C0F7-8F70-3755-FD1D9303D5CF}"/>
                  </a:ext>
                </a:extLst>
              </p:cNvPr>
              <p:cNvSpPr txBox="1"/>
              <p:nvPr/>
            </p:nvSpPr>
            <p:spPr>
              <a:xfrm>
                <a:off x="9140299" y="926028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5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83C33DE-89E9-7A29-1EA5-1673435685E5}"/>
              </a:ext>
            </a:extLst>
          </p:cNvPr>
          <p:cNvGrpSpPr/>
          <p:nvPr/>
        </p:nvGrpSpPr>
        <p:grpSpPr>
          <a:xfrm>
            <a:off x="3425451" y="4020313"/>
            <a:ext cx="2290221" cy="1446550"/>
            <a:chOff x="7644046" y="933269"/>
            <a:chExt cx="1682609" cy="1216215"/>
          </a:xfrm>
        </p:grpSpPr>
        <p:sp>
          <p:nvSpPr>
            <p:cNvPr id="102" name="Freeform 83">
              <a:extLst>
                <a:ext uri="{FF2B5EF4-FFF2-40B4-BE49-F238E27FC236}">
                  <a16:creationId xmlns:a16="http://schemas.microsoft.com/office/drawing/2014/main" id="{79DBBF4B-DDD8-C106-1283-6CBE17952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4046" y="1148135"/>
              <a:ext cx="1479495" cy="623844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زیر مسئله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103" name="A">
              <a:extLst>
                <a:ext uri="{FF2B5EF4-FFF2-40B4-BE49-F238E27FC236}">
                  <a16:creationId xmlns:a16="http://schemas.microsoft.com/office/drawing/2014/main" id="{8A1DC5A2-4282-7199-A4D8-519C23997A79}"/>
                </a:ext>
              </a:extLst>
            </p:cNvPr>
            <p:cNvSpPr txBox="1"/>
            <p:nvPr/>
          </p:nvSpPr>
          <p:spPr>
            <a:xfrm>
              <a:off x="9130593" y="933269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6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2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5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"/>
                            </p:stCondLst>
                            <p:childTnLst>
                              <p:par>
                                <p:cTn id="37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034AB-5A55-5407-F2D1-6AA434C4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E035A8B-DD5A-008C-9A4B-25241F47DC2C}"/>
              </a:ext>
            </a:extLst>
          </p:cNvPr>
          <p:cNvGrpSpPr/>
          <p:nvPr/>
        </p:nvGrpSpPr>
        <p:grpSpPr>
          <a:xfrm>
            <a:off x="9358418" y="0"/>
            <a:ext cx="2290221" cy="1446550"/>
            <a:chOff x="7644046" y="933269"/>
            <a:chExt cx="1682609" cy="1216215"/>
          </a:xfrm>
        </p:grpSpPr>
        <p:sp>
          <p:nvSpPr>
            <p:cNvPr id="102" name="Freeform 83">
              <a:extLst>
                <a:ext uri="{FF2B5EF4-FFF2-40B4-BE49-F238E27FC236}">
                  <a16:creationId xmlns:a16="http://schemas.microsoft.com/office/drawing/2014/main" id="{2D179D3B-16BA-28CB-D339-1ED898601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4046" y="1148135"/>
              <a:ext cx="1479495" cy="623844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زیر مسئله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103" name="A">
              <a:extLst>
                <a:ext uri="{FF2B5EF4-FFF2-40B4-BE49-F238E27FC236}">
                  <a16:creationId xmlns:a16="http://schemas.microsoft.com/office/drawing/2014/main" id="{0A8B7D12-2604-6BA0-A4D1-3699E946F855}"/>
                </a:ext>
              </a:extLst>
            </p:cNvPr>
            <p:cNvSpPr txBox="1"/>
            <p:nvPr/>
          </p:nvSpPr>
          <p:spPr>
            <a:xfrm>
              <a:off x="9130593" y="933269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6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FC2A1-39A6-20A0-A5A7-EEAB02040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52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404847"/>
            <a:ext cx="8632177" cy="1897376"/>
          </a:xfrm>
          <a:prstGeom prst="roundRect">
            <a:avLst>
              <a:gd name="adj" fmla="val 2646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307727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پس انداز هفتگی محمد، 300هزار تومان است. او حساب کرده 5 هفته پس انداز او نصف قیمت کیفی است که دوست دارد بخرد، قیمت کیف چقدر است؟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CCB0158-12FF-0990-5767-5482D37C2297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الف) پس انداز 5 هفته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52579-181C-BFA9-6902-0A5F0B7C5562}"/>
              </a:ext>
            </a:extLst>
          </p:cNvPr>
          <p:cNvSpPr/>
          <p:nvPr/>
        </p:nvSpPr>
        <p:spPr>
          <a:xfrm>
            <a:off x="351016" y="4555778"/>
            <a:ext cx="77860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ب) اگر این عدد نصف قیمت کیف باشه، قیمت کیف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/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/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0558DE1-7343-FBF5-DB6C-CCA81679F23E}"/>
              </a:ext>
            </a:extLst>
          </p:cNvPr>
          <p:cNvSpPr/>
          <p:nvPr/>
        </p:nvSpPr>
        <p:spPr>
          <a:xfrm>
            <a:off x="4181552" y="5597768"/>
            <a:ext cx="1084250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تومان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" grpId="0"/>
          <p:bldP spid="5" grpId="0"/>
          <p:bldP spid="6" grpId="0"/>
          <p:bldP spid="7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" grpId="0"/>
          <p:bldP spid="5" grpId="0"/>
          <p:bldP spid="6" grpId="0"/>
          <p:bldP spid="7" grpId="0"/>
          <p:bldP spid="8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225440"/>
            <a:ext cx="8632177" cy="2584783"/>
          </a:xfrm>
          <a:prstGeom prst="roundRect">
            <a:avLst>
              <a:gd name="adj" fmla="val 19633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168806" y="234310"/>
            <a:ext cx="7845478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مهرداد 120 هزار توان پول داشت. او 3 دفتر به قیمت هر جلد 15 هزار، 4 خودکار هر یک به قیمت 8 هزار  تومان و 3 مداد هر یک به قیمت 6 هزار تومان بود خرید. باقیمناده پول او چند تومان است؟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76F08D-B003-1A06-0D30-0B75161ED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FC68F22-B450-8DD3-9266-68573219767E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الف) مبلغ کل دفتر ها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44F0B8-540B-70AF-F461-F6871701E83C}"/>
                  </a:ext>
                </a:extLst>
              </p:cNvPr>
              <p:cNvSpPr/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44F0B8-540B-70AF-F461-F6871701E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E5EC8D4C-8EE8-B69B-7F86-A0F85736C8B4}"/>
              </a:ext>
            </a:extLst>
          </p:cNvPr>
          <p:cNvSpPr/>
          <p:nvPr/>
        </p:nvSpPr>
        <p:spPr>
          <a:xfrm>
            <a:off x="4522110" y="37223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ب) مبلغ کل خودکار ها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2FE44A1-5D25-5F83-D030-1BD3FE6E496A}"/>
                  </a:ext>
                </a:extLst>
              </p:cNvPr>
              <p:cNvSpPr/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8000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2FE44A1-5D25-5F83-D030-1BD3FE6E4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C60115A2-F1E4-6D3F-C631-F4B943F2F597}"/>
              </a:ext>
            </a:extLst>
          </p:cNvPr>
          <p:cNvSpPr/>
          <p:nvPr/>
        </p:nvSpPr>
        <p:spPr>
          <a:xfrm>
            <a:off x="4522110" y="45416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ج) مبلغ کل  مدادها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5EF9252-6FEC-AE1F-C521-412317E091E3}"/>
                  </a:ext>
                </a:extLst>
              </p:cNvPr>
              <p:cNvSpPr/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6000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18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5EF9252-6FEC-AE1F-C521-412317E09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89E04608-C540-BE30-B342-710F519A7929}"/>
              </a:ext>
            </a:extLst>
          </p:cNvPr>
          <p:cNvSpPr/>
          <p:nvPr/>
        </p:nvSpPr>
        <p:spPr>
          <a:xfrm>
            <a:off x="4522110" y="5247478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د) در کل چقدر خرج کرده؟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99FFEC8-3CD7-204B-2295-5D877AE426AB}"/>
                  </a:ext>
                </a:extLst>
              </p:cNvPr>
              <p:cNvSpPr/>
              <p:nvPr/>
            </p:nvSpPr>
            <p:spPr>
              <a:xfrm>
                <a:off x="182712" y="5168225"/>
                <a:ext cx="5154059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32000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18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99FFEC8-3CD7-204B-2295-5D877AE426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168225"/>
                <a:ext cx="5154059" cy="7201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E8FEE872-DB95-EF68-D297-545534458D7D}"/>
              </a:ext>
            </a:extLst>
          </p:cNvPr>
          <p:cNvSpPr/>
          <p:nvPr/>
        </p:nvSpPr>
        <p:spPr>
          <a:xfrm>
            <a:off x="4522110" y="5991616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هـ) باقی مانده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491C67-601B-521A-0E69-A27DE0629E0D}"/>
                  </a:ext>
                </a:extLst>
              </p:cNvPr>
              <p:cNvSpPr/>
              <p:nvPr/>
            </p:nvSpPr>
            <p:spPr>
              <a:xfrm>
                <a:off x="182712" y="5912363"/>
                <a:ext cx="449735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491C67-601B-521A-0E69-A27DE0629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912363"/>
                <a:ext cx="4497353" cy="7201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554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5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6" fill="hold">
                          <p:stCondLst>
                            <p:cond delay="indefinite"/>
                          </p:stCondLst>
                          <p:childTnLst>
                            <p:par>
                              <p:cTn id="6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6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7" fill="hold">
                          <p:stCondLst>
                            <p:cond delay="indefinite"/>
                          </p:stCondLst>
                          <p:childTnLst>
                            <p:par>
                              <p:cTn id="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5" grpId="0"/>
          <p:bldP spid="28" grpId="0"/>
          <p:bldP spid="29" grpId="0"/>
          <p:bldP spid="30" grpId="0"/>
          <p:bldP spid="32" grpId="0"/>
          <p:bldP spid="33" grpId="0"/>
          <p:bldP spid="34" grpId="0"/>
          <p:bldP spid="35" grpId="0"/>
          <p:bldP spid="38" grpId="0"/>
          <p:bldP spid="3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5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6" fill="hold">
                          <p:stCondLst>
                            <p:cond delay="indefinite"/>
                          </p:stCondLst>
                          <p:childTnLst>
                            <p:par>
                              <p:cTn id="6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6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7" fill="hold">
                          <p:stCondLst>
                            <p:cond delay="indefinite"/>
                          </p:stCondLst>
                          <p:childTnLst>
                            <p:par>
                              <p:cTn id="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5" grpId="0"/>
          <p:bldP spid="28" grpId="0"/>
          <p:bldP spid="29" grpId="0"/>
          <p:bldP spid="30" grpId="0"/>
          <p:bldP spid="32" grpId="0"/>
          <p:bldP spid="33" grpId="0"/>
          <p:bldP spid="34" grpId="0"/>
          <p:bldP spid="35" grpId="0"/>
          <p:bldP spid="38" grpId="0"/>
          <p:bldP spid="39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73C8-ABF3-0C0F-AF45-D12D0D82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hands making a peace sign&#10;&#10;AI-generated content may be incorrect." hidden="1">
            <a:extLst>
              <a:ext uri="{FF2B5EF4-FFF2-40B4-BE49-F238E27FC236}">
                <a16:creationId xmlns:a16="http://schemas.microsoft.com/office/drawing/2014/main" id="{DE5A014C-EDCA-295F-BBB8-7C6C069B49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486" y="2649610"/>
            <a:ext cx="5115847" cy="433000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E09B2-06B3-C89B-10DA-73D81864DCEE}"/>
              </a:ext>
            </a:extLst>
          </p:cNvPr>
          <p:cNvSpPr/>
          <p:nvPr/>
        </p:nvSpPr>
        <p:spPr>
          <a:xfrm>
            <a:off x="215642" y="387798"/>
            <a:ext cx="8632177" cy="2457377"/>
          </a:xfrm>
          <a:prstGeom prst="roundRect">
            <a:avLst>
              <a:gd name="adj" fmla="val 25945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0E0315-878C-5B93-5A57-84CA42B924F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3A7497F8-18F5-6781-C6FF-F7581717E4E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C83EAA-2B55-B984-2EFC-5323D83D75A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49B815-B47E-C5B2-F4D8-2EFF33EDFC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F369DB-265C-B32C-7618-C94F37CD3F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EA4A30-8885-E74A-C330-D5A0DE27B19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46549-F2AA-4261-3006-3E936566270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A9C145-5C35-D153-86D9-0D4BA53E0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6EBB67E7-D9C0-8664-540F-13061F1ECF7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A45AF95-E602-AE84-915A-6579A5CE21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02975AE8-4E8F-30F9-5038-04C24DD3A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3E7C7-0A06-51B7-C8FA-27F930EB0F5A}"/>
              </a:ext>
            </a:extLst>
          </p:cNvPr>
          <p:cNvSpPr/>
          <p:nvPr/>
        </p:nvSpPr>
        <p:spPr>
          <a:xfrm>
            <a:off x="368997" y="523371"/>
            <a:ext cx="766107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سیم نازکی را به شکل یک مثلث متساوی الاضلاع در آورده ایم، و اندازه هر ضلع مثلث 12 سانتی متر شد. اگر هیمن </a:t>
            </a:r>
            <a:r>
              <a:rPr lang="fa-IR" sz="2400">
                <a:latin typeface="IRANYekanXFaNum" pitchFamily="2" charset="-78"/>
                <a:cs typeface="IRANYekanXFaNum" pitchFamily="2" charset="-78"/>
              </a:rPr>
              <a:t>سیم را </a:t>
            </a: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به شکل مربع درآوریم؛ مساحت مربع چند سانتی متر مربع خواهد بود؟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00003C7-7FDA-78CE-F9E2-3353AF486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4010" y="5475848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07F22-1C8A-F47B-807A-1BF09D2829A8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0A3959-7005-D743-5F33-9C17567194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EB606F07-64C2-4AF8-A458-448DEB9B66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0799FD0-EC7F-9301-CD11-BA6F535A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2761ABD8-51FC-5B6F-87BE-7736C94A6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8BC639AC-604D-774D-E473-75494F118FE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7CA04C87-2237-1E21-D1DA-196FDE853EFB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A8EF802-64B8-7BA7-A3F4-8A2EB9558479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الف) طول سیم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2D09433-309B-5DC3-5125-776E8399FB3C}"/>
                  </a:ext>
                </a:extLst>
              </p:cNvPr>
              <p:cNvSpPr/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36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2D09433-309B-5DC3-5125-776E8399FB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E8111E42-EF2A-BC5E-F562-19A9B557621B}"/>
              </a:ext>
            </a:extLst>
          </p:cNvPr>
          <p:cNvSpPr/>
          <p:nvPr/>
        </p:nvSpPr>
        <p:spPr>
          <a:xfrm>
            <a:off x="4522110" y="37223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ب) طول ضلع مربع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A7E4A11-A66B-8F8D-AD16-823D9C45383B}"/>
                  </a:ext>
                </a:extLst>
              </p:cNvPr>
              <p:cNvSpPr/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6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÷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A7E4A11-A66B-8F8D-AD16-823D9C453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AE4E2C0-88AB-3DA4-2E47-9BDEE5FE90F2}"/>
              </a:ext>
            </a:extLst>
          </p:cNvPr>
          <p:cNvSpPr/>
          <p:nvPr/>
        </p:nvSpPr>
        <p:spPr>
          <a:xfrm>
            <a:off x="4522110" y="45416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ج) مساحت مربع چقدر میشه؟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CBBBCAC-802F-F309-2FCE-89575DAF49A9}"/>
                  </a:ext>
                </a:extLst>
              </p:cNvPr>
              <p:cNvSpPr/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81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CBBBCAC-802F-F309-2FCE-89575DAF49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C5C08DBE-EA46-F532-0FF8-960E90F93958}"/>
              </a:ext>
            </a:extLst>
          </p:cNvPr>
          <p:cNvSpPr/>
          <p:nvPr/>
        </p:nvSpPr>
        <p:spPr>
          <a:xfrm>
            <a:off x="1804111" y="4519842"/>
            <a:ext cx="1795299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سانتی متر مربع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7009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6" fill="hold">
                          <p:stCondLst>
                            <p:cond delay="indefinite"/>
                          </p:stCondLst>
                          <p:childTnLst>
                            <p:par>
                              <p:cTn id="6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7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6" grpId="0"/>
          <p:bldP spid="7" grpId="0"/>
          <p:bldP spid="8" grpId="0"/>
          <p:bldP spid="9" grpId="0"/>
          <p:bldP spid="11" grpId="0"/>
          <p:bldP spid="14" grpId="0"/>
          <p:bldP spid="1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6" fill="hold">
                          <p:stCondLst>
                            <p:cond delay="indefinite"/>
                          </p:stCondLst>
                          <p:childTnLst>
                            <p:par>
                              <p:cTn id="6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7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6" grpId="0"/>
          <p:bldP spid="7" grpId="0"/>
          <p:bldP spid="8" grpId="0"/>
          <p:bldP spid="9" grpId="0"/>
          <p:bldP spid="11" grpId="0"/>
          <p:bldP spid="14" grpId="0"/>
          <p:bldP spid="15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268</Words>
  <Application>Microsoft Office PowerPoint</Application>
  <PresentationFormat>Widescreen</PresentationFormat>
  <Paragraphs>52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IRANYekanX ExtraBlack</vt:lpstr>
      <vt:lpstr>IRANYekanXFaNum</vt:lpstr>
      <vt:lpstr>IRANYekanXFaNum ExtraBold</vt:lpstr>
      <vt:lpstr>IRANYekanXFaNum Heavy</vt:lpstr>
      <vt:lpstr>IRANYekanXVFaNum DemiBold</vt:lpstr>
      <vt:lpstr>Lato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ali yosefzade</cp:lastModifiedBy>
  <cp:revision>23</cp:revision>
  <dcterms:created xsi:type="dcterms:W3CDTF">2025-10-07T12:35:10Z</dcterms:created>
  <dcterms:modified xsi:type="dcterms:W3CDTF">2026-04-06T06:18:26Z</dcterms:modified>
</cp:coreProperties>
</file>