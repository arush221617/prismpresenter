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8" r:id="rId5"/>
    <p:sldId id="270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99FFCC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1" y="2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D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9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راهـبردهای</a:t>
            </a:r>
          </a:p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حـل مسـئله</a:t>
            </a:r>
            <a:endParaRPr lang="en-US" sz="8800" dirty="0">
              <a:solidFill>
                <a:schemeClr val="bg1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0D0C55-22AD-C92B-15CD-DD2764B5B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FF4CA18-231C-91FD-6DD1-413F63C86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92191074-CA54-1392-DFE2-F198E4A768B4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61" name="Part D">
              <a:extLst>
                <a:ext uri="{FF2B5EF4-FFF2-40B4-BE49-F238E27FC236}">
                  <a16:creationId xmlns:a16="http://schemas.microsoft.com/office/drawing/2014/main" id="{6937E25D-62E3-26BA-F562-E6B6940B4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2" name="Part C">
              <a:extLst>
                <a:ext uri="{FF2B5EF4-FFF2-40B4-BE49-F238E27FC236}">
                  <a16:creationId xmlns:a16="http://schemas.microsoft.com/office/drawing/2014/main" id="{BA1350E7-895A-165C-EF07-514613E49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3" name="Part F">
              <a:extLst>
                <a:ext uri="{FF2B5EF4-FFF2-40B4-BE49-F238E27FC236}">
                  <a16:creationId xmlns:a16="http://schemas.microsoft.com/office/drawing/2014/main" id="{FEBDE86D-27A5-6527-088C-0716ADAB0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4" name="Part A">
              <a:extLst>
                <a:ext uri="{FF2B5EF4-FFF2-40B4-BE49-F238E27FC236}">
                  <a16:creationId xmlns:a16="http://schemas.microsoft.com/office/drawing/2014/main" id="{5713D940-04E1-31DB-534D-DD6916E31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5" name="Part E">
              <a:extLst>
                <a:ext uri="{FF2B5EF4-FFF2-40B4-BE49-F238E27FC236}">
                  <a16:creationId xmlns:a16="http://schemas.microsoft.com/office/drawing/2014/main" id="{39D2B4DB-1336-284F-08F1-8FCD03F37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6" name="Part B">
              <a:extLst>
                <a:ext uri="{FF2B5EF4-FFF2-40B4-BE49-F238E27FC236}">
                  <a16:creationId xmlns:a16="http://schemas.microsoft.com/office/drawing/2014/main" id="{A5AA1E66-2D83-F627-2D86-96559424C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7" name="Big shape">
              <a:extLst>
                <a:ext uri="{FF2B5EF4-FFF2-40B4-BE49-F238E27FC236}">
                  <a16:creationId xmlns:a16="http://schemas.microsoft.com/office/drawing/2014/main" id="{D537A4E8-536B-4D6F-E8F0-E22703B40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68" name="Main circle">
            <a:extLst>
              <a:ext uri="{FF2B5EF4-FFF2-40B4-BE49-F238E27FC236}">
                <a16:creationId xmlns:a16="http://schemas.microsoft.com/office/drawing/2014/main" id="{7AEA303D-9032-1676-85FE-A367C60ACC6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62269E-C814-3CD2-CD64-AA029F592A38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فصل اول: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10DB396-7008-6358-A303-2BE4FB6D6ECE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راهبردهای</a:t>
            </a:r>
          </a:p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حل مسئله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C26DFB6-D2AC-8DB6-A7D5-96C6D068C9BA}"/>
              </a:ext>
            </a:extLst>
          </p:cNvPr>
          <p:cNvGrpSpPr/>
          <p:nvPr/>
        </p:nvGrpSpPr>
        <p:grpSpPr>
          <a:xfrm>
            <a:off x="1404105" y="3801297"/>
            <a:ext cx="5671543" cy="1446550"/>
            <a:chOff x="1404105" y="3801297"/>
            <a:chExt cx="5671543" cy="1446550"/>
          </a:xfrm>
        </p:grpSpPr>
        <p:grpSp>
          <p:nvGrpSpPr>
            <p:cNvPr id="36" name="Connector D">
              <a:extLst>
                <a:ext uri="{FF2B5EF4-FFF2-40B4-BE49-F238E27FC236}">
                  <a16:creationId xmlns:a16="http://schemas.microsoft.com/office/drawing/2014/main" id="{7DC06B08-D830-8AAA-79AE-D54ACB263524}"/>
                </a:ext>
              </a:extLst>
            </p:cNvPr>
            <p:cNvGrpSpPr/>
            <p:nvPr/>
          </p:nvGrpSpPr>
          <p:grpSpPr>
            <a:xfrm flipH="1">
              <a:off x="5138966" y="4256684"/>
              <a:ext cx="1936682" cy="458326"/>
              <a:chOff x="3867521" y="4075034"/>
              <a:chExt cx="2370957" cy="400537"/>
            </a:xfrm>
          </p:grpSpPr>
          <p:sp>
            <p:nvSpPr>
              <p:cNvPr id="37" name="Freeform 69">
                <a:extLst>
                  <a:ext uri="{FF2B5EF4-FFF2-40B4-BE49-F238E27FC236}">
                    <a16:creationId xmlns:a16="http://schemas.microsoft.com/office/drawing/2014/main" id="{938CCEE1-B762-27F6-FF5F-EB6C691536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1" y="4142719"/>
                <a:ext cx="2194667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8" name="Oval 70">
                <a:extLst>
                  <a:ext uri="{FF2B5EF4-FFF2-40B4-BE49-F238E27FC236}">
                    <a16:creationId xmlns:a16="http://schemas.microsoft.com/office/drawing/2014/main" id="{574045CA-8826-C399-C939-59727568D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7521" y="4075034"/>
                <a:ext cx="176290" cy="125843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9" name="Oval 71">
                <a:extLst>
                  <a:ext uri="{FF2B5EF4-FFF2-40B4-BE49-F238E27FC236}">
                    <a16:creationId xmlns:a16="http://schemas.microsoft.com/office/drawing/2014/main" id="{1A421E50-481F-4400-795F-4FE0F279F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314" y="4110126"/>
                <a:ext cx="88145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EC668C6-9B4D-CB28-946B-58C98CB00543}"/>
                </a:ext>
              </a:extLst>
            </p:cNvPr>
            <p:cNvGrpSpPr/>
            <p:nvPr/>
          </p:nvGrpSpPr>
          <p:grpSpPr>
            <a:xfrm>
              <a:off x="1404105" y="3801297"/>
              <a:ext cx="4344071" cy="1446550"/>
              <a:chOff x="6220080" y="901710"/>
              <a:chExt cx="3191558" cy="1216215"/>
            </a:xfrm>
          </p:grpSpPr>
          <p:sp>
            <p:nvSpPr>
              <p:cNvPr id="78" name="Freeform 83">
                <a:extLst>
                  <a:ext uri="{FF2B5EF4-FFF2-40B4-BE49-F238E27FC236}">
                    <a16:creationId xmlns:a16="http://schemas.microsoft.com/office/drawing/2014/main" id="{F04B4951-4CF0-2B98-9876-49361C9C3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0080" y="1148135"/>
                <a:ext cx="2903461" cy="623844"/>
              </a:xfrm>
              <a:prstGeom prst="roundRect">
                <a:avLst/>
              </a:prstGeom>
              <a:solidFill>
                <a:srgbClr val="F2B600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حذف حالت‌های نامطلوب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79" name="A">
                <a:extLst>
                  <a:ext uri="{FF2B5EF4-FFF2-40B4-BE49-F238E27FC236}">
                    <a16:creationId xmlns:a16="http://schemas.microsoft.com/office/drawing/2014/main" id="{0C218C27-D1D9-4954-D0AE-11A82624A73D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3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799D216-1BA4-04BB-6ED5-A792CCD29DED}"/>
              </a:ext>
            </a:extLst>
          </p:cNvPr>
          <p:cNvGrpSpPr/>
          <p:nvPr/>
        </p:nvGrpSpPr>
        <p:grpSpPr>
          <a:xfrm>
            <a:off x="3360244" y="962484"/>
            <a:ext cx="3836391" cy="2752507"/>
            <a:chOff x="3360244" y="962484"/>
            <a:chExt cx="3836391" cy="2752507"/>
          </a:xfrm>
        </p:grpSpPr>
        <p:grpSp>
          <p:nvGrpSpPr>
            <p:cNvPr id="44" name="Connector B">
              <a:extLst>
                <a:ext uri="{FF2B5EF4-FFF2-40B4-BE49-F238E27FC236}">
                  <a16:creationId xmlns:a16="http://schemas.microsoft.com/office/drawing/2014/main" id="{459AD6BB-654F-F1F5-21A8-D74A9BECD466}"/>
                </a:ext>
              </a:extLst>
            </p:cNvPr>
            <p:cNvGrpSpPr/>
            <p:nvPr/>
          </p:nvGrpSpPr>
          <p:grpSpPr>
            <a:xfrm flipH="1">
              <a:off x="5365797" y="2941871"/>
              <a:ext cx="1487644" cy="481092"/>
              <a:chOff x="3908440" y="2300061"/>
              <a:chExt cx="1487644" cy="481092"/>
            </a:xfrm>
          </p:grpSpPr>
          <p:sp>
            <p:nvSpPr>
              <p:cNvPr id="45" name="Freeform 63">
                <a:extLst>
                  <a:ext uri="{FF2B5EF4-FFF2-40B4-BE49-F238E27FC236}">
                    <a16:creationId xmlns:a16="http://schemas.microsoft.com/office/drawing/2014/main" id="{905F9BBC-8B6E-910E-13D1-9B257C78F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4" y="2300061"/>
                <a:ext cx="1352270" cy="414009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430"/>
                    </a:moveTo>
                    <a:lnTo>
                      <a:pt x="799" y="430"/>
                    </a:lnTo>
                    <a:lnTo>
                      <a:pt x="1227" y="0"/>
                    </a:lnTo>
                    <a:lnTo>
                      <a:pt x="1955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6" name="Oval 64">
                <a:extLst>
                  <a:ext uri="{FF2B5EF4-FFF2-40B4-BE49-F238E27FC236}">
                    <a16:creationId xmlns:a16="http://schemas.microsoft.com/office/drawing/2014/main" id="{59BD6EFA-4ABF-0C02-FEB6-1F4933A09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2645177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7" name="Oval 65">
                <a:extLst>
                  <a:ext uri="{FF2B5EF4-FFF2-40B4-BE49-F238E27FC236}">
                    <a16:creationId xmlns:a16="http://schemas.microsoft.com/office/drawing/2014/main" id="{33B41517-BDC3-D01B-E488-18F4920EA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6325" y="2683667"/>
                <a:ext cx="60434" cy="610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28D2409-6853-3641-5946-57ABDFCD6954}"/>
                </a:ext>
              </a:extLst>
            </p:cNvPr>
            <p:cNvGrpSpPr/>
            <p:nvPr/>
          </p:nvGrpSpPr>
          <p:grpSpPr>
            <a:xfrm>
              <a:off x="3360244" y="2268441"/>
              <a:ext cx="2127686" cy="1446550"/>
              <a:chOff x="7803739" y="882620"/>
              <a:chExt cx="1563196" cy="1216215"/>
            </a:xfrm>
          </p:grpSpPr>
          <p:sp>
            <p:nvSpPr>
              <p:cNvPr id="75" name="Freeform 83">
                <a:extLst>
                  <a:ext uri="{FF2B5EF4-FFF2-40B4-BE49-F238E27FC236}">
                    <a16:creationId xmlns:a16="http://schemas.microsoft.com/office/drawing/2014/main" id="{28901F57-F17A-3E51-C191-366C1695C7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solidFill>
                <a:srgbClr val="E8782D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سازی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76" name="A">
                <a:extLst>
                  <a:ext uri="{FF2B5EF4-FFF2-40B4-BE49-F238E27FC236}">
                    <a16:creationId xmlns:a16="http://schemas.microsoft.com/office/drawing/2014/main" id="{F3D9087A-3D44-88A2-C391-F804364E657E}"/>
                  </a:ext>
                </a:extLst>
              </p:cNvPr>
              <p:cNvSpPr txBox="1"/>
              <p:nvPr/>
            </p:nvSpPr>
            <p:spPr>
              <a:xfrm>
                <a:off x="9170873" y="88262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2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95" name="Connector D">
              <a:extLst>
                <a:ext uri="{FF2B5EF4-FFF2-40B4-BE49-F238E27FC236}">
                  <a16:creationId xmlns:a16="http://schemas.microsoft.com/office/drawing/2014/main" id="{E5E440D5-38E0-95E3-88D8-E58D856ED40C}"/>
                </a:ext>
              </a:extLst>
            </p:cNvPr>
            <p:cNvGrpSpPr/>
            <p:nvPr/>
          </p:nvGrpSpPr>
          <p:grpSpPr>
            <a:xfrm flipH="1" flipV="1">
              <a:off x="5259953" y="1906093"/>
              <a:ext cx="1936682" cy="458326"/>
              <a:chOff x="3867521" y="4075034"/>
              <a:chExt cx="2370957" cy="400537"/>
            </a:xfrm>
          </p:grpSpPr>
          <p:sp>
            <p:nvSpPr>
              <p:cNvPr id="96" name="Freeform 69">
                <a:extLst>
                  <a:ext uri="{FF2B5EF4-FFF2-40B4-BE49-F238E27FC236}">
                    <a16:creationId xmlns:a16="http://schemas.microsoft.com/office/drawing/2014/main" id="{436F1BBE-EFAB-41C4-BD97-F650FE447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1" y="4142719"/>
                <a:ext cx="2194667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97" name="Oval 70">
                <a:extLst>
                  <a:ext uri="{FF2B5EF4-FFF2-40B4-BE49-F238E27FC236}">
                    <a16:creationId xmlns:a16="http://schemas.microsoft.com/office/drawing/2014/main" id="{C87C82FB-C0D4-DBE7-E820-B036D0B61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7521" y="4075034"/>
                <a:ext cx="176290" cy="125843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98" name="Oval 71">
                <a:extLst>
                  <a:ext uri="{FF2B5EF4-FFF2-40B4-BE49-F238E27FC236}">
                    <a16:creationId xmlns:a16="http://schemas.microsoft.com/office/drawing/2014/main" id="{8DD8FD23-AE5A-FC36-16B3-A61ECE0CD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314" y="4110126"/>
                <a:ext cx="88145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6B0B1F0-BA56-B32C-2602-008FD8ADBE50}"/>
                </a:ext>
              </a:extLst>
            </p:cNvPr>
            <p:cNvGrpSpPr/>
            <p:nvPr/>
          </p:nvGrpSpPr>
          <p:grpSpPr>
            <a:xfrm>
              <a:off x="3559519" y="962484"/>
              <a:ext cx="2000331" cy="1446550"/>
              <a:chOff x="7803739" y="878197"/>
              <a:chExt cx="1469629" cy="1216215"/>
            </a:xfrm>
          </p:grpSpPr>
          <p:sp>
            <p:nvSpPr>
              <p:cNvPr id="72" name="Freeform 83">
                <a:extLst>
                  <a:ext uri="{FF2B5EF4-FFF2-40B4-BE49-F238E27FC236}">
                    <a16:creationId xmlns:a16="http://schemas.microsoft.com/office/drawing/2014/main" id="{1F1C4D3F-7CD1-C03C-0FBE-34E40095D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رسم شکل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73" name="A">
                <a:extLst>
                  <a:ext uri="{FF2B5EF4-FFF2-40B4-BE49-F238E27FC236}">
                    <a16:creationId xmlns:a16="http://schemas.microsoft.com/office/drawing/2014/main" id="{1414623C-0932-1E32-1778-78A6B97EC848}"/>
                  </a:ext>
                </a:extLst>
              </p:cNvPr>
              <p:cNvSpPr txBox="1"/>
              <p:nvPr/>
            </p:nvSpPr>
            <p:spPr>
              <a:xfrm>
                <a:off x="9077306" y="878197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1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2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مجموع سن سه نفر 14 سال و حاصل ضرب سن آنها 70 سال است. سن بزرگترین نفر چقدر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F6C45E-4E06-7585-90BE-49BDAF899657}"/>
              </a:ext>
            </a:extLst>
          </p:cNvPr>
          <p:cNvGrpSpPr/>
          <p:nvPr/>
        </p:nvGrpSpPr>
        <p:grpSpPr>
          <a:xfrm>
            <a:off x="94674" y="1922017"/>
            <a:ext cx="6080436" cy="3956753"/>
            <a:chOff x="182712" y="2572776"/>
            <a:chExt cx="6080436" cy="395675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278AD3F-35AB-2C0A-1688-FF16C29CCD8E}"/>
                </a:ext>
              </a:extLst>
            </p:cNvPr>
            <p:cNvCxnSpPr>
              <a:cxnSpLocks/>
            </p:cNvCxnSpPr>
            <p:nvPr/>
          </p:nvCxnSpPr>
          <p:spPr>
            <a:xfrm>
              <a:off x="1661652" y="2901425"/>
              <a:ext cx="0" cy="3628104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B899ACD-7395-A7BA-F046-D454819E381D}"/>
                </a:ext>
              </a:extLst>
            </p:cNvPr>
            <p:cNvCxnSpPr>
              <a:cxnSpLocks/>
            </p:cNvCxnSpPr>
            <p:nvPr/>
          </p:nvCxnSpPr>
          <p:spPr>
            <a:xfrm>
              <a:off x="3074640" y="2901425"/>
              <a:ext cx="0" cy="3628104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477854-4FA8-13E3-C379-216044E35B5C}"/>
                </a:ext>
              </a:extLst>
            </p:cNvPr>
            <p:cNvCxnSpPr>
              <a:cxnSpLocks/>
            </p:cNvCxnSpPr>
            <p:nvPr/>
          </p:nvCxnSpPr>
          <p:spPr>
            <a:xfrm>
              <a:off x="4699821" y="2901425"/>
              <a:ext cx="0" cy="3628104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6DCD92-598C-C272-2CAE-2CC51E8D59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712" y="3429000"/>
              <a:ext cx="608043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8A31AF-0480-663A-07FD-283F568E276F}"/>
                </a:ext>
              </a:extLst>
            </p:cNvPr>
            <p:cNvSpPr/>
            <p:nvPr/>
          </p:nvSpPr>
          <p:spPr>
            <a:xfrm>
              <a:off x="307655" y="2572776"/>
              <a:ext cx="1229054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نفر اول</a:t>
              </a:r>
              <a:endPara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C30EC7-409E-3D65-7729-8CC5A7AAAA27}"/>
                </a:ext>
              </a:extLst>
            </p:cNvPr>
            <p:cNvSpPr/>
            <p:nvPr/>
          </p:nvSpPr>
          <p:spPr>
            <a:xfrm>
              <a:off x="1661651" y="2626170"/>
              <a:ext cx="1353995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نفر دوم</a:t>
              </a:r>
              <a:endPara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A1E8D2-FC4A-BC8B-3B3B-9130C3CB95AE}"/>
                </a:ext>
              </a:extLst>
            </p:cNvPr>
            <p:cNvSpPr/>
            <p:nvPr/>
          </p:nvSpPr>
          <p:spPr>
            <a:xfrm>
              <a:off x="3140588" y="2626436"/>
              <a:ext cx="1455175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نفر سوم</a:t>
              </a:r>
              <a:endPara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69E340-226C-E0C9-4A95-B1B34B714BC7}"/>
                </a:ext>
              </a:extLst>
            </p:cNvPr>
            <p:cNvSpPr/>
            <p:nvPr/>
          </p:nvSpPr>
          <p:spPr>
            <a:xfrm>
              <a:off x="4680154" y="2618662"/>
              <a:ext cx="1455175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مجموع</a:t>
              </a:r>
              <a:endPara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43C498C-D46B-5EB9-D90E-F2B8C048FFD0}"/>
              </a:ext>
            </a:extLst>
          </p:cNvPr>
          <p:cNvSpPr/>
          <p:nvPr/>
        </p:nvSpPr>
        <p:spPr>
          <a:xfrm>
            <a:off x="490956" y="2778241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E4DB53-6848-E64C-17D1-4BD260F37CA0}"/>
              </a:ext>
            </a:extLst>
          </p:cNvPr>
          <p:cNvSpPr/>
          <p:nvPr/>
        </p:nvSpPr>
        <p:spPr>
          <a:xfrm>
            <a:off x="1969896" y="2778241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064A48-4CF4-A054-53D9-356B3CAC54FF}"/>
              </a:ext>
            </a:extLst>
          </p:cNvPr>
          <p:cNvSpPr/>
          <p:nvPr/>
        </p:nvSpPr>
        <p:spPr>
          <a:xfrm>
            <a:off x="3434289" y="2778241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CB017-1EF6-109D-FCA5-6A0ED0AF7F7C}"/>
              </a:ext>
            </a:extLst>
          </p:cNvPr>
          <p:cNvSpPr/>
          <p:nvPr/>
        </p:nvSpPr>
        <p:spPr>
          <a:xfrm>
            <a:off x="4508227" y="2778241"/>
            <a:ext cx="2169427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1+1+70=72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72361C-0C11-D3E6-3C33-4898111EF6C1}"/>
              </a:ext>
            </a:extLst>
          </p:cNvPr>
          <p:cNvSpPr/>
          <p:nvPr/>
        </p:nvSpPr>
        <p:spPr>
          <a:xfrm>
            <a:off x="490956" y="3432566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317E4C-45FD-2DF4-7548-0E7B463B473B}"/>
              </a:ext>
            </a:extLst>
          </p:cNvPr>
          <p:cNvSpPr/>
          <p:nvPr/>
        </p:nvSpPr>
        <p:spPr>
          <a:xfrm>
            <a:off x="1969896" y="3432566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747C9C-D1C7-9D84-53CE-2EEF0210F275}"/>
              </a:ext>
            </a:extLst>
          </p:cNvPr>
          <p:cNvSpPr/>
          <p:nvPr/>
        </p:nvSpPr>
        <p:spPr>
          <a:xfrm>
            <a:off x="3434289" y="3432566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9D4081-3792-BF7D-3561-F0797FDE1561}"/>
              </a:ext>
            </a:extLst>
          </p:cNvPr>
          <p:cNvSpPr/>
          <p:nvPr/>
        </p:nvSpPr>
        <p:spPr>
          <a:xfrm>
            <a:off x="4508227" y="3437773"/>
            <a:ext cx="2169427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1+2+35=38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A6E76E-A592-91DE-6F76-0645E1DEA6CD}"/>
              </a:ext>
            </a:extLst>
          </p:cNvPr>
          <p:cNvSpPr/>
          <p:nvPr/>
        </p:nvSpPr>
        <p:spPr>
          <a:xfrm>
            <a:off x="490956" y="4088129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29AB08-AF77-4750-AA4C-593738E2AEEF}"/>
              </a:ext>
            </a:extLst>
          </p:cNvPr>
          <p:cNvSpPr/>
          <p:nvPr/>
        </p:nvSpPr>
        <p:spPr>
          <a:xfrm>
            <a:off x="1969896" y="4088129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99169E-8890-5B5B-2505-0BCE9C675A80}"/>
              </a:ext>
            </a:extLst>
          </p:cNvPr>
          <p:cNvSpPr/>
          <p:nvPr/>
        </p:nvSpPr>
        <p:spPr>
          <a:xfrm>
            <a:off x="3434289" y="4088129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14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8DDB53-9EBA-3273-4347-D42BAC3B3783}"/>
              </a:ext>
            </a:extLst>
          </p:cNvPr>
          <p:cNvSpPr/>
          <p:nvPr/>
        </p:nvSpPr>
        <p:spPr>
          <a:xfrm>
            <a:off x="4508227" y="4083504"/>
            <a:ext cx="2169427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1+5+14=20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BE7C95-735B-5A00-1043-69EC7DDB7587}"/>
              </a:ext>
            </a:extLst>
          </p:cNvPr>
          <p:cNvSpPr/>
          <p:nvPr/>
        </p:nvSpPr>
        <p:spPr>
          <a:xfrm>
            <a:off x="490956" y="4739766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36C398-012F-C6C4-D6B3-C1741FB86C2F}"/>
              </a:ext>
            </a:extLst>
          </p:cNvPr>
          <p:cNvSpPr/>
          <p:nvPr/>
        </p:nvSpPr>
        <p:spPr>
          <a:xfrm>
            <a:off x="1969896" y="4739766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9CCD57-7F54-ABE1-B0B2-6667996921A1}"/>
              </a:ext>
            </a:extLst>
          </p:cNvPr>
          <p:cNvSpPr/>
          <p:nvPr/>
        </p:nvSpPr>
        <p:spPr>
          <a:xfrm>
            <a:off x="3434289" y="4749598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6F78BB-7DDD-2609-6C24-3B13B8E8356C}"/>
              </a:ext>
            </a:extLst>
          </p:cNvPr>
          <p:cNvSpPr/>
          <p:nvPr/>
        </p:nvSpPr>
        <p:spPr>
          <a:xfrm>
            <a:off x="4508227" y="4744973"/>
            <a:ext cx="2169427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1+7+10=18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1DA2C6-2EC5-AB45-06A0-32E7DB44AE3E}"/>
              </a:ext>
            </a:extLst>
          </p:cNvPr>
          <p:cNvSpPr/>
          <p:nvPr/>
        </p:nvSpPr>
        <p:spPr>
          <a:xfrm>
            <a:off x="490956" y="5393123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31AB1D-704F-2A2D-915D-DD049B6AB326}"/>
              </a:ext>
            </a:extLst>
          </p:cNvPr>
          <p:cNvSpPr/>
          <p:nvPr/>
        </p:nvSpPr>
        <p:spPr>
          <a:xfrm>
            <a:off x="1969896" y="5393123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5D07DC-61B2-5809-9D4E-A0FB6C90102B}"/>
              </a:ext>
            </a:extLst>
          </p:cNvPr>
          <p:cNvSpPr/>
          <p:nvPr/>
        </p:nvSpPr>
        <p:spPr>
          <a:xfrm>
            <a:off x="3434289" y="5402955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BA3FF4C-2C0D-2165-A9FF-3FB3F5CBF6A2}"/>
              </a:ext>
            </a:extLst>
          </p:cNvPr>
          <p:cNvSpPr/>
          <p:nvPr/>
        </p:nvSpPr>
        <p:spPr>
          <a:xfrm>
            <a:off x="4508227" y="5398330"/>
            <a:ext cx="2169427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2+5+7=14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27960DE-3C4D-2ED2-C512-6E899DD97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210" y="2959540"/>
            <a:ext cx="396000" cy="396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14B82B6-644A-AE98-6B43-1EAE79FAB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210" y="3599787"/>
            <a:ext cx="396000" cy="396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FC4590F-DC9B-0651-205C-AE6C99BAA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210" y="4337584"/>
            <a:ext cx="396000" cy="396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672051C-75B1-53DB-FEF0-A1C9155C3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210" y="4977831"/>
            <a:ext cx="396000" cy="3960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34C9A4A-9C95-2CD0-E26B-1EA66B5138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210" y="5514737"/>
            <a:ext cx="483146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4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4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4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5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13" grpId="0" build="allAtOnce"/>
          <p:bldP spid="14" grpId="0" build="allAtOnce"/>
          <p:bldP spid="15" grpId="0" build="allAtOnce"/>
          <p:bldP spid="16" grpId="0" build="allAtOnce"/>
          <p:bldP spid="17" grpId="0" build="allAtOnce"/>
          <p:bldP spid="18" grpId="0" build="allAtOnce"/>
          <p:bldP spid="19" grpId="0" build="allAtOnce"/>
          <p:bldP spid="41" grpId="0" build="allAtOnce"/>
          <p:bldP spid="43" grpId="0" build="allAtOnce"/>
          <p:bldP spid="44" grpId="0" build="allAtOnce"/>
          <p:bldP spid="45" grpId="0" build="allAtOnce"/>
          <p:bldP spid="46" grpId="0" build="allAtOnce"/>
          <p:bldP spid="47" grpId="0" build="allAtOnce"/>
          <p:bldP spid="48" grpId="0" build="allAtOnce"/>
          <p:bldP spid="49" grpId="0" build="allAtOnce"/>
          <p:bldP spid="50" grpId="0" build="allAtOnce"/>
          <p:bldP spid="51" grpId="0" build="allAtOnce"/>
          <p:bldP spid="52" grpId="0" build="allAtOnce"/>
          <p:bldP spid="53" grpId="0" build="allAtOnce"/>
          <p:bldP spid="54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4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4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4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5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13" grpId="0" build="allAtOnce"/>
          <p:bldP spid="14" grpId="0" build="allAtOnce"/>
          <p:bldP spid="15" grpId="0" build="allAtOnce"/>
          <p:bldP spid="16" grpId="0" build="allAtOnce"/>
          <p:bldP spid="17" grpId="0" build="allAtOnce"/>
          <p:bldP spid="18" grpId="0" build="allAtOnce"/>
          <p:bldP spid="19" grpId="0" build="allAtOnce"/>
          <p:bldP spid="41" grpId="0" build="allAtOnce"/>
          <p:bldP spid="43" grpId="0" build="allAtOnce"/>
          <p:bldP spid="44" grpId="0" build="allAtOnce"/>
          <p:bldP spid="45" grpId="0" build="allAtOnce"/>
          <p:bldP spid="46" grpId="0" build="allAtOnce"/>
          <p:bldP spid="47" grpId="0" build="allAtOnce"/>
          <p:bldP spid="48" grpId="0" build="allAtOnce"/>
          <p:bldP spid="49" grpId="0" build="allAtOnce"/>
          <p:bldP spid="50" grpId="0" build="allAtOnce"/>
          <p:bldP spid="51" grpId="0" build="allAtOnce"/>
          <p:bldP spid="52" grpId="0" build="allAtOnce"/>
          <p:bldP spid="53" grpId="0" build="allAtOnce"/>
          <p:bldP spid="54" grpId="0" build="allAtOnce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668300"/>
            <a:ext cx="8632177" cy="1326380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423500" y="604464"/>
            <a:ext cx="7646905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مجموع 3 عدد 11 و حاصل ضرب آنها 40 است.</a:t>
            </a:r>
          </a:p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آن 3 عدد را بیابید.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C6D5B98-F5F0-D588-351E-D6461DE098F3}"/>
              </a:ext>
            </a:extLst>
          </p:cNvPr>
          <p:cNvGrpSpPr/>
          <p:nvPr/>
        </p:nvGrpSpPr>
        <p:grpSpPr>
          <a:xfrm>
            <a:off x="94674" y="1899079"/>
            <a:ext cx="6109930" cy="4639374"/>
            <a:chOff x="94674" y="1899079"/>
            <a:chExt cx="6109930" cy="463937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578C894-5C33-68FC-1FFC-521D0233D1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3613" y="2181842"/>
              <a:ext cx="1" cy="4356611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26EA136-43FF-8C97-5C27-2C0AAFD78499}"/>
                </a:ext>
              </a:extLst>
            </p:cNvPr>
            <p:cNvCxnSpPr>
              <a:cxnSpLocks/>
            </p:cNvCxnSpPr>
            <p:nvPr/>
          </p:nvCxnSpPr>
          <p:spPr>
            <a:xfrm>
              <a:off x="2986602" y="2181842"/>
              <a:ext cx="0" cy="4356611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C1AA7C5-C89D-16DA-85A9-D7B7D7B31C91}"/>
                </a:ext>
              </a:extLst>
            </p:cNvPr>
            <p:cNvCxnSpPr>
              <a:cxnSpLocks/>
            </p:cNvCxnSpPr>
            <p:nvPr/>
          </p:nvCxnSpPr>
          <p:spPr>
            <a:xfrm>
              <a:off x="4611783" y="2181842"/>
              <a:ext cx="0" cy="4356611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46861B4-E062-B31D-2F11-5A7253528F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74" y="2709417"/>
              <a:ext cx="6080436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7D78551-9FEA-99C9-9C0C-DFF85AD66382}"/>
                </a:ext>
              </a:extLst>
            </p:cNvPr>
            <p:cNvSpPr/>
            <p:nvPr/>
          </p:nvSpPr>
          <p:spPr>
            <a:xfrm>
              <a:off x="219616" y="1912185"/>
              <a:ext cx="1373665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70000"/>
                </a:lnSpc>
              </a:pPr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عدد اول</a:t>
              </a:r>
              <a:endPara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94CEE1A-B57F-20D9-19BA-97568B607654}"/>
                </a:ext>
              </a:extLst>
            </p:cNvPr>
            <p:cNvSpPr/>
            <p:nvPr/>
          </p:nvSpPr>
          <p:spPr>
            <a:xfrm>
              <a:off x="1573613" y="1906587"/>
              <a:ext cx="1455175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70000"/>
                </a:lnSpc>
              </a:pPr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عدد دوم</a:t>
              </a:r>
              <a:endPara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06D90C-1C34-433F-374C-26C7EF7BBEF1}"/>
                </a:ext>
              </a:extLst>
            </p:cNvPr>
            <p:cNvSpPr/>
            <p:nvPr/>
          </p:nvSpPr>
          <p:spPr>
            <a:xfrm>
              <a:off x="3052550" y="1906853"/>
              <a:ext cx="1576659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70000"/>
                </a:lnSpc>
              </a:pPr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عدد سوم</a:t>
              </a:r>
              <a:endPara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D6CA97-DD75-75F6-72F3-130E19AB0426}"/>
                </a:ext>
              </a:extLst>
            </p:cNvPr>
            <p:cNvSpPr/>
            <p:nvPr/>
          </p:nvSpPr>
          <p:spPr>
            <a:xfrm>
              <a:off x="4749429" y="1899079"/>
              <a:ext cx="1455175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70000"/>
                </a:lnSpc>
              </a:pPr>
              <a:r>
                <a:rPr lang="fa-IR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rPr>
                <a:t>مجموع</a:t>
              </a:r>
              <a:endPara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F6AA556-6F41-9057-D2EA-48ED7545C1C8}"/>
              </a:ext>
            </a:extLst>
          </p:cNvPr>
          <p:cNvSpPr/>
          <p:nvPr/>
        </p:nvSpPr>
        <p:spPr>
          <a:xfrm>
            <a:off x="490956" y="2709417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AC0BD8F-DFDC-0F13-61F2-D386A3304FC9}"/>
              </a:ext>
            </a:extLst>
          </p:cNvPr>
          <p:cNvSpPr/>
          <p:nvPr/>
        </p:nvSpPr>
        <p:spPr>
          <a:xfrm>
            <a:off x="1959936" y="2709417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81553F-890F-F299-A566-4227AD0C2708}"/>
              </a:ext>
            </a:extLst>
          </p:cNvPr>
          <p:cNvSpPr/>
          <p:nvPr/>
        </p:nvSpPr>
        <p:spPr>
          <a:xfrm>
            <a:off x="3428916" y="2709417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ECBA5E-8B3E-3B3B-481C-6825DEE59026}"/>
              </a:ext>
            </a:extLst>
          </p:cNvPr>
          <p:cNvSpPr/>
          <p:nvPr/>
        </p:nvSpPr>
        <p:spPr>
          <a:xfrm>
            <a:off x="5058682" y="2716871"/>
            <a:ext cx="701707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726F25-206D-245A-5F57-C9B5F293A96A}"/>
              </a:ext>
            </a:extLst>
          </p:cNvPr>
          <p:cNvSpPr/>
          <p:nvPr/>
        </p:nvSpPr>
        <p:spPr>
          <a:xfrm>
            <a:off x="490956" y="3315816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B0A33A-4ECC-5992-1682-8E0858B5895B}"/>
              </a:ext>
            </a:extLst>
          </p:cNvPr>
          <p:cNvSpPr/>
          <p:nvPr/>
        </p:nvSpPr>
        <p:spPr>
          <a:xfrm>
            <a:off x="1969896" y="3315816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E5DD31-35D6-3D01-F4A1-5C037596FC29}"/>
              </a:ext>
            </a:extLst>
          </p:cNvPr>
          <p:cNvSpPr/>
          <p:nvPr/>
        </p:nvSpPr>
        <p:spPr>
          <a:xfrm>
            <a:off x="3434289" y="3315816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03CFF7-69B9-12BC-23CC-1E8E92BB1392}"/>
              </a:ext>
            </a:extLst>
          </p:cNvPr>
          <p:cNvSpPr/>
          <p:nvPr/>
        </p:nvSpPr>
        <p:spPr>
          <a:xfrm>
            <a:off x="5090399" y="3321780"/>
            <a:ext cx="70170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256979-3283-570A-BD3E-0250D309D7BA}"/>
              </a:ext>
            </a:extLst>
          </p:cNvPr>
          <p:cNvSpPr/>
          <p:nvPr/>
        </p:nvSpPr>
        <p:spPr>
          <a:xfrm>
            <a:off x="490956" y="3922215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0EA334F-82C8-57F7-BFCA-8142E4D3C66D}"/>
              </a:ext>
            </a:extLst>
          </p:cNvPr>
          <p:cNvSpPr/>
          <p:nvPr/>
        </p:nvSpPr>
        <p:spPr>
          <a:xfrm>
            <a:off x="1969896" y="3922215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31E0BF-484E-27B2-5709-681033A75C23}"/>
              </a:ext>
            </a:extLst>
          </p:cNvPr>
          <p:cNvSpPr/>
          <p:nvPr/>
        </p:nvSpPr>
        <p:spPr>
          <a:xfrm>
            <a:off x="3414625" y="3922215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697B5D-37C3-A34D-493B-353DDB347202}"/>
              </a:ext>
            </a:extLst>
          </p:cNvPr>
          <p:cNvSpPr/>
          <p:nvPr/>
        </p:nvSpPr>
        <p:spPr>
          <a:xfrm>
            <a:off x="5070735" y="3926689"/>
            <a:ext cx="70170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879875-184D-9582-C481-3814F2CED34C}"/>
              </a:ext>
            </a:extLst>
          </p:cNvPr>
          <p:cNvSpPr/>
          <p:nvPr/>
        </p:nvSpPr>
        <p:spPr>
          <a:xfrm>
            <a:off x="490956" y="452861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45A5C0D-727E-55A4-CDC7-1ADABD7489F2}"/>
              </a:ext>
            </a:extLst>
          </p:cNvPr>
          <p:cNvSpPr/>
          <p:nvPr/>
        </p:nvSpPr>
        <p:spPr>
          <a:xfrm>
            <a:off x="1969896" y="452861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1F29841-6419-4F26-2837-ED9662B3F2BE}"/>
              </a:ext>
            </a:extLst>
          </p:cNvPr>
          <p:cNvSpPr/>
          <p:nvPr/>
        </p:nvSpPr>
        <p:spPr>
          <a:xfrm>
            <a:off x="3404793" y="4528614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E370811-1066-5D3D-4BB4-F971A95A93F7}"/>
              </a:ext>
            </a:extLst>
          </p:cNvPr>
          <p:cNvSpPr/>
          <p:nvPr/>
        </p:nvSpPr>
        <p:spPr>
          <a:xfrm>
            <a:off x="5090399" y="4531598"/>
            <a:ext cx="70170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C401FA8-F378-469C-F202-32AC250A715A}"/>
              </a:ext>
            </a:extLst>
          </p:cNvPr>
          <p:cNvSpPr/>
          <p:nvPr/>
        </p:nvSpPr>
        <p:spPr>
          <a:xfrm>
            <a:off x="488734" y="5135013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3E819C1-0471-33C8-57DC-1D1955755374}"/>
              </a:ext>
            </a:extLst>
          </p:cNvPr>
          <p:cNvSpPr/>
          <p:nvPr/>
        </p:nvSpPr>
        <p:spPr>
          <a:xfrm>
            <a:off x="1967674" y="5135013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27D456-813E-7F86-9142-2B6139D60368}"/>
              </a:ext>
            </a:extLst>
          </p:cNvPr>
          <p:cNvSpPr/>
          <p:nvPr/>
        </p:nvSpPr>
        <p:spPr>
          <a:xfrm>
            <a:off x="3412403" y="5135013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D1D6AD4-9BD2-B750-6CDD-DBC94730B0D5}"/>
              </a:ext>
            </a:extLst>
          </p:cNvPr>
          <p:cNvSpPr/>
          <p:nvPr/>
        </p:nvSpPr>
        <p:spPr>
          <a:xfrm>
            <a:off x="5098009" y="5136507"/>
            <a:ext cx="70170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AB0F0C6-8275-473D-498E-2959D3524910}"/>
              </a:ext>
            </a:extLst>
          </p:cNvPr>
          <p:cNvSpPr/>
          <p:nvPr/>
        </p:nvSpPr>
        <p:spPr>
          <a:xfrm>
            <a:off x="488734" y="574141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0782D1-5C5B-5809-039D-30875CB7E4FB}"/>
              </a:ext>
            </a:extLst>
          </p:cNvPr>
          <p:cNvSpPr/>
          <p:nvPr/>
        </p:nvSpPr>
        <p:spPr>
          <a:xfrm>
            <a:off x="1967674" y="574141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DC6CAA7-36B3-547B-5395-BA2DC2E13FE3}"/>
              </a:ext>
            </a:extLst>
          </p:cNvPr>
          <p:cNvSpPr/>
          <p:nvPr/>
        </p:nvSpPr>
        <p:spPr>
          <a:xfrm>
            <a:off x="3402571" y="5741414"/>
            <a:ext cx="70092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B565A3F-89E8-0571-B702-16AF3DD2C180}"/>
              </a:ext>
            </a:extLst>
          </p:cNvPr>
          <p:cNvSpPr/>
          <p:nvPr/>
        </p:nvSpPr>
        <p:spPr>
          <a:xfrm>
            <a:off x="5068513" y="5741414"/>
            <a:ext cx="70170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42554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37" grpId="0"/>
          <p:bldP spid="38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57" grpId="0"/>
          <p:bldP spid="58" grpId="0"/>
          <p:bldP spid="59" grpId="0"/>
          <p:bldP spid="60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37" grpId="0"/>
          <p:bldP spid="38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57" grpId="0"/>
          <p:bldP spid="58" grpId="0"/>
          <p:bldP spid="59" grpId="0"/>
          <p:bldP spid="60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443127"/>
            <a:ext cx="8632177" cy="150605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E7C7-0A06-51B7-C8FA-27F930EB0F5A}"/>
              </a:ext>
            </a:extLst>
          </p:cNvPr>
          <p:cNvSpPr/>
          <p:nvPr/>
        </p:nvSpPr>
        <p:spPr>
          <a:xfrm>
            <a:off x="400158" y="528691"/>
            <a:ext cx="76610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با ارقام 7، 0 و 5 چند عدد سه رقمی می‌توان ساخت که بر 2 و 5 بخش پذیر باشد.(تکرار ارقام مجاز است)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0003C7-7FDA-78CE-F9E2-3353AF486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E5227347-B8B5-6696-CB40-299D676D4A31}"/>
              </a:ext>
            </a:extLst>
          </p:cNvPr>
          <p:cNvSpPr/>
          <p:nvPr/>
        </p:nvSpPr>
        <p:spPr>
          <a:xfrm>
            <a:off x="1531475" y="2235374"/>
            <a:ext cx="74897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500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A6FBD-68D1-D7D9-85B2-5FFF46411439}"/>
              </a:ext>
            </a:extLst>
          </p:cNvPr>
          <p:cNvSpPr/>
          <p:nvPr/>
        </p:nvSpPr>
        <p:spPr>
          <a:xfrm>
            <a:off x="1501978" y="2656442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505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F38C81-04D3-C493-AB6C-98F21FA7B2DE}"/>
              </a:ext>
            </a:extLst>
          </p:cNvPr>
          <p:cNvSpPr/>
          <p:nvPr/>
        </p:nvSpPr>
        <p:spPr>
          <a:xfrm>
            <a:off x="1501978" y="3077510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507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93E04C-C699-3EA5-21B1-C92A0E672FD1}"/>
              </a:ext>
            </a:extLst>
          </p:cNvPr>
          <p:cNvSpPr/>
          <p:nvPr/>
        </p:nvSpPr>
        <p:spPr>
          <a:xfrm>
            <a:off x="1482315" y="3604683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550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D76797-0C81-5445-FBF7-38BA95D8186E}"/>
              </a:ext>
            </a:extLst>
          </p:cNvPr>
          <p:cNvSpPr/>
          <p:nvPr/>
        </p:nvSpPr>
        <p:spPr>
          <a:xfrm>
            <a:off x="1521643" y="4025751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555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A0CB22-0E75-FC80-1F9A-FE4485587703}"/>
              </a:ext>
            </a:extLst>
          </p:cNvPr>
          <p:cNvSpPr/>
          <p:nvPr/>
        </p:nvSpPr>
        <p:spPr>
          <a:xfrm>
            <a:off x="1511811" y="4446819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557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F024DB-B4EC-F01B-22FF-14CD5B08C97C}"/>
              </a:ext>
            </a:extLst>
          </p:cNvPr>
          <p:cNvSpPr/>
          <p:nvPr/>
        </p:nvSpPr>
        <p:spPr>
          <a:xfrm>
            <a:off x="1501980" y="5007188"/>
            <a:ext cx="78893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570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A3FD44-C707-8C58-4A9E-A2FBB95A46C4}"/>
              </a:ext>
            </a:extLst>
          </p:cNvPr>
          <p:cNvSpPr/>
          <p:nvPr/>
        </p:nvSpPr>
        <p:spPr>
          <a:xfrm>
            <a:off x="1521643" y="5428256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575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9CAD97-9EBE-7E80-D549-AC472E52EFCD}"/>
              </a:ext>
            </a:extLst>
          </p:cNvPr>
          <p:cNvSpPr/>
          <p:nvPr/>
        </p:nvSpPr>
        <p:spPr>
          <a:xfrm>
            <a:off x="1501979" y="5849324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577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87285D-41C3-D8E9-A51A-62A42CF3F9D7}"/>
              </a:ext>
            </a:extLst>
          </p:cNvPr>
          <p:cNvSpPr/>
          <p:nvPr/>
        </p:nvSpPr>
        <p:spPr>
          <a:xfrm>
            <a:off x="3910882" y="2235374"/>
            <a:ext cx="748970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700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606D562-2655-95B8-353D-EBA3398D1024}"/>
              </a:ext>
            </a:extLst>
          </p:cNvPr>
          <p:cNvSpPr/>
          <p:nvPr/>
        </p:nvSpPr>
        <p:spPr>
          <a:xfrm>
            <a:off x="3861721" y="2656442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705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46F1C3E-5B66-D42B-CC63-E3BDDAAE1371}"/>
              </a:ext>
            </a:extLst>
          </p:cNvPr>
          <p:cNvSpPr/>
          <p:nvPr/>
        </p:nvSpPr>
        <p:spPr>
          <a:xfrm>
            <a:off x="3861721" y="3077510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707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CCB689-C203-2D1A-2A81-CB864A77DBB9}"/>
              </a:ext>
            </a:extLst>
          </p:cNvPr>
          <p:cNvSpPr/>
          <p:nvPr/>
        </p:nvSpPr>
        <p:spPr>
          <a:xfrm>
            <a:off x="3861722" y="3604683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750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9B9E45-CA7B-2BDB-CEA9-DF83AD29013C}"/>
              </a:ext>
            </a:extLst>
          </p:cNvPr>
          <p:cNvSpPr/>
          <p:nvPr/>
        </p:nvSpPr>
        <p:spPr>
          <a:xfrm>
            <a:off x="3891218" y="4025751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755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776E02F-B979-5A4D-2263-5DB6CA44D575}"/>
              </a:ext>
            </a:extLst>
          </p:cNvPr>
          <p:cNvSpPr/>
          <p:nvPr/>
        </p:nvSpPr>
        <p:spPr>
          <a:xfrm>
            <a:off x="3881386" y="4446819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757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BC2865-2422-3EA9-786F-1727C02B9E4A}"/>
              </a:ext>
            </a:extLst>
          </p:cNvPr>
          <p:cNvSpPr/>
          <p:nvPr/>
        </p:nvSpPr>
        <p:spPr>
          <a:xfrm>
            <a:off x="3881387" y="5007188"/>
            <a:ext cx="78893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770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A922B1-04ED-B96E-7E24-24E17DE8C02A}"/>
              </a:ext>
            </a:extLst>
          </p:cNvPr>
          <p:cNvSpPr/>
          <p:nvPr/>
        </p:nvSpPr>
        <p:spPr>
          <a:xfrm>
            <a:off x="3901050" y="5428256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775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10505A0-78DC-645A-EC6C-14066E45BC2A}"/>
              </a:ext>
            </a:extLst>
          </p:cNvPr>
          <p:cNvSpPr/>
          <p:nvPr/>
        </p:nvSpPr>
        <p:spPr>
          <a:xfrm>
            <a:off x="3881386" y="5849324"/>
            <a:ext cx="8184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777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00753-017E-79D4-4550-7EB12E021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445" y="2365326"/>
            <a:ext cx="483146" cy="43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2EAF91-5030-BA4F-28C6-6EE47FD4F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445" y="3716465"/>
            <a:ext cx="483146" cy="43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DEEF27-BC1E-27A7-86A3-AD9E3F30E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936" y="5172572"/>
            <a:ext cx="483146" cy="43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19503D-C68E-2B9C-B2B5-540D87735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323" y="2405010"/>
            <a:ext cx="483146" cy="43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DFE867-022C-1679-B528-81DBA25C3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323" y="3756149"/>
            <a:ext cx="483146" cy="43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08009D-2913-F0F9-189D-8AC035829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814" y="5212256"/>
            <a:ext cx="483146" cy="43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DFC9EA-5FBA-76EE-176A-8AE16B9658F7}"/>
              </a:ext>
            </a:extLst>
          </p:cNvPr>
          <p:cNvSpPr txBox="1"/>
          <p:nvPr/>
        </p:nvSpPr>
        <p:spPr>
          <a:xfrm>
            <a:off x="8984049" y="5024349"/>
            <a:ext cx="282000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چه اعدادی بر 2 بخش پذیرند</a:t>
            </a:r>
            <a:endParaRPr lang="ar-DZ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410E564-BCBC-775A-5DA9-25DFA2A4ED14}"/>
              </a:ext>
            </a:extLst>
          </p:cNvPr>
          <p:cNvCxnSpPr/>
          <p:nvPr/>
        </p:nvCxnSpPr>
        <p:spPr>
          <a:xfrm flipH="1">
            <a:off x="8381487" y="5176283"/>
            <a:ext cx="521110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D43CD5A-54EE-A6CC-5FD3-67C7BA26DA63}"/>
              </a:ext>
            </a:extLst>
          </p:cNvPr>
          <p:cNvSpPr txBox="1"/>
          <p:nvPr/>
        </p:nvSpPr>
        <p:spPr>
          <a:xfrm>
            <a:off x="5660148" y="5009694"/>
            <a:ext cx="269496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رقم یکان آن </a:t>
            </a:r>
            <a:r>
              <a:rPr lang="en-US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0,2,4,6,8 </a:t>
            </a:r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باشد.</a:t>
            </a:r>
            <a:endParaRPr lang="ar-DZ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99D16B-F0B5-5D18-32CB-475C7B4A9669}"/>
              </a:ext>
            </a:extLst>
          </p:cNvPr>
          <p:cNvSpPr txBox="1"/>
          <p:nvPr/>
        </p:nvSpPr>
        <p:spPr>
          <a:xfrm>
            <a:off x="8956977" y="5479992"/>
            <a:ext cx="284885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چه اعدادی بر 5 بخش پذیرند</a:t>
            </a:r>
            <a:endParaRPr lang="ar-DZ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11CB43D-15C5-7AE9-2899-B7FDE1F20DC9}"/>
              </a:ext>
            </a:extLst>
          </p:cNvPr>
          <p:cNvCxnSpPr/>
          <p:nvPr/>
        </p:nvCxnSpPr>
        <p:spPr>
          <a:xfrm flipH="1">
            <a:off x="8378478" y="5631926"/>
            <a:ext cx="521110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BA3DAC8-6512-B3C0-60F5-DACFA69D8125}"/>
              </a:ext>
            </a:extLst>
          </p:cNvPr>
          <p:cNvSpPr txBox="1"/>
          <p:nvPr/>
        </p:nvSpPr>
        <p:spPr>
          <a:xfrm>
            <a:off x="5948898" y="5465337"/>
            <a:ext cx="241925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رقم یکان آن </a:t>
            </a:r>
            <a:r>
              <a:rPr lang="en-US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0 </a:t>
            </a:r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یا 5</a:t>
            </a:r>
            <a:r>
              <a:rPr lang="en-US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 </a:t>
            </a:r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باشد.</a:t>
            </a:r>
            <a:endParaRPr lang="ar-DZ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009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3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9" fill="hold">
                          <p:stCondLst>
                            <p:cond delay="indefinite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4" fill="hold">
                          <p:stCondLst>
                            <p:cond delay="indefinite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9" fill="hold">
                          <p:stCondLst>
                            <p:cond delay="indefinite"/>
                          </p:stCondLst>
                          <p:childTnLst>
                            <p:par>
                              <p:cTn id="1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3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4" fill="hold">
                          <p:stCondLst>
                            <p:cond delay="indefinite"/>
                          </p:stCondLst>
                          <p:childTnLst>
                            <p:par>
                              <p:cTn id="1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77" grpId="0"/>
          <p:bldP spid="3" grpId="0"/>
          <p:bldP spid="4" grpId="0"/>
          <p:bldP spid="13" grpId="0"/>
          <p:bldP spid="14" grpId="0"/>
          <p:bldP spid="15" grpId="0"/>
          <p:bldP spid="17" grpId="0"/>
          <p:bldP spid="18" grpId="0"/>
          <p:bldP spid="38" grpId="0"/>
          <p:bldP spid="42" grpId="0"/>
          <p:bldP spid="44" grpId="0"/>
          <p:bldP spid="45" grpId="0"/>
          <p:bldP spid="46" grpId="0"/>
          <p:bldP spid="47" grpId="0"/>
          <p:bldP spid="49" grpId="0"/>
          <p:bldP spid="50" grpId="0"/>
          <p:bldP spid="51" grpId="0"/>
          <p:bldP spid="53" grpId="0"/>
          <p:bldP spid="19" grpId="0"/>
          <p:bldP spid="41" grpId="0"/>
          <p:bldP spid="48" grpId="0"/>
          <p:bldP spid="5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3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9" fill="hold">
                          <p:stCondLst>
                            <p:cond delay="indefinite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4" fill="hold">
                          <p:stCondLst>
                            <p:cond delay="indefinite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9" fill="hold">
                          <p:stCondLst>
                            <p:cond delay="indefinite"/>
                          </p:stCondLst>
                          <p:childTnLst>
                            <p:par>
                              <p:cTn id="1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3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4" fill="hold">
                          <p:stCondLst>
                            <p:cond delay="indefinite"/>
                          </p:stCondLst>
                          <p:childTnLst>
                            <p:par>
                              <p:cTn id="1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77" grpId="0"/>
          <p:bldP spid="3" grpId="0"/>
          <p:bldP spid="4" grpId="0"/>
          <p:bldP spid="13" grpId="0"/>
          <p:bldP spid="14" grpId="0"/>
          <p:bldP spid="15" grpId="0"/>
          <p:bldP spid="17" grpId="0"/>
          <p:bldP spid="18" grpId="0"/>
          <p:bldP spid="38" grpId="0"/>
          <p:bldP spid="42" grpId="0"/>
          <p:bldP spid="44" grpId="0"/>
          <p:bldP spid="45" grpId="0"/>
          <p:bldP spid="46" grpId="0"/>
          <p:bldP spid="47" grpId="0"/>
          <p:bldP spid="49" grpId="0"/>
          <p:bldP spid="50" grpId="0"/>
          <p:bldP spid="51" grpId="0"/>
          <p:bldP spid="53" grpId="0"/>
          <p:bldP spid="19" grpId="0"/>
          <p:bldP spid="41" grpId="0"/>
          <p:bldP spid="48" grpId="0"/>
          <p:bldP spid="54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8F758-10E8-11A1-6F0B-718088AC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543869-232A-7FAD-7C8B-BC0E006070BF}"/>
              </a:ext>
            </a:extLst>
          </p:cNvPr>
          <p:cNvSpPr/>
          <p:nvPr/>
        </p:nvSpPr>
        <p:spPr>
          <a:xfrm>
            <a:off x="215642" y="443127"/>
            <a:ext cx="8632177" cy="150605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9C9B57-F63F-9B8D-E036-029341101F6F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4ADE33CB-6304-1309-83C4-8F9A61DEB81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7C6E8EF-DC6D-4FEC-D43D-BDB4DC5BA587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2A1B1C-06C4-D243-00B5-AF61A68E83F6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8F82600-5294-E1AB-25EB-B4F4A475FFDE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A12A7A7-4983-7535-0D5F-25A5DAC07AC2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9D0240-F807-2D3B-7F2F-3F21C482901C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1996956-DDA7-CF59-E972-DEAF42017D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0838CDB4-83B6-8C55-3288-C567B36A0060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9F0B802D-7A0A-D4CD-C8FD-726A4CAD9B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769E9CD3-8EFD-2F01-67DB-BA130762DE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AE8F788C-3576-25DF-2786-F6546FA010BB}"/>
              </a:ext>
            </a:extLst>
          </p:cNvPr>
          <p:cNvSpPr/>
          <p:nvPr/>
        </p:nvSpPr>
        <p:spPr>
          <a:xfrm>
            <a:off x="400158" y="528691"/>
            <a:ext cx="76610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با ارقام 7، 0 و 5 چند عدد سه رقمی می‌توان ساخت که بر 2 و 5 بخش پذیر باشد.(تکرار ارقام مجاز است)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28A058D-43BC-6778-3960-7C8CC3BB0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1BB65F8-8FED-53CA-7623-C9E74F4C049F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B95B1F7-59E6-D441-85C4-6941F036DCFF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CC267D9B-D419-F10C-75BD-BD5A656E720C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A31C02B-CEDA-F755-55E8-6C7F279CF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D910FAC-0C75-D121-0DCD-0F353F2431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C24C4408-E184-6885-71F5-BB73BB4D39B0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2A07302E-EB29-B1DA-98DC-55B6EE7CA2D6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8295B065-96C8-A3C5-4B22-5F6DA902169B}"/>
              </a:ext>
            </a:extLst>
          </p:cNvPr>
          <p:cNvSpPr/>
          <p:nvPr/>
        </p:nvSpPr>
        <p:spPr>
          <a:xfrm>
            <a:off x="2833288" y="2770626"/>
            <a:ext cx="1122289" cy="84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500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156DBD-A2B6-358B-1E99-52FBC434FB38}"/>
              </a:ext>
            </a:extLst>
          </p:cNvPr>
          <p:cNvSpPr/>
          <p:nvPr/>
        </p:nvSpPr>
        <p:spPr>
          <a:xfrm>
            <a:off x="2784129" y="3426190"/>
            <a:ext cx="1226378" cy="84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550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616D8B-4C1E-F19F-648E-3002E768672A}"/>
              </a:ext>
            </a:extLst>
          </p:cNvPr>
          <p:cNvSpPr/>
          <p:nvPr/>
        </p:nvSpPr>
        <p:spPr>
          <a:xfrm>
            <a:off x="2803794" y="4081754"/>
            <a:ext cx="1182178" cy="84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570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D88EEE-1FA0-C2A5-7380-32BD9DFB69A1}"/>
              </a:ext>
            </a:extLst>
          </p:cNvPr>
          <p:cNvSpPr/>
          <p:nvPr/>
        </p:nvSpPr>
        <p:spPr>
          <a:xfrm>
            <a:off x="3906410" y="2770626"/>
            <a:ext cx="1122289" cy="84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700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48AED2-024E-7F52-84AF-00660AA75390}"/>
              </a:ext>
            </a:extLst>
          </p:cNvPr>
          <p:cNvSpPr/>
          <p:nvPr/>
        </p:nvSpPr>
        <p:spPr>
          <a:xfrm>
            <a:off x="3857251" y="3426190"/>
            <a:ext cx="1226378" cy="84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750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8F1937-E86E-7DBD-BC0D-DD58724F9D77}"/>
              </a:ext>
            </a:extLst>
          </p:cNvPr>
          <p:cNvSpPr/>
          <p:nvPr/>
        </p:nvSpPr>
        <p:spPr>
          <a:xfrm>
            <a:off x="3876916" y="4081754"/>
            <a:ext cx="1182178" cy="84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32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770</a:t>
            </a:r>
            <a:endParaRPr lang="en-US" sz="32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6D0A5-6193-DDF1-C127-181A3BA7C069}"/>
              </a:ext>
            </a:extLst>
          </p:cNvPr>
          <p:cNvSpPr txBox="1"/>
          <p:nvPr/>
        </p:nvSpPr>
        <p:spPr>
          <a:xfrm>
            <a:off x="9060845" y="5138927"/>
            <a:ext cx="282000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چه اعدادی بر 2 بخش پذیرند</a:t>
            </a:r>
            <a:endParaRPr lang="ar-DZ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7F448D-753C-9379-C711-0431DE04FC5C}"/>
              </a:ext>
            </a:extLst>
          </p:cNvPr>
          <p:cNvCxnSpPr/>
          <p:nvPr/>
        </p:nvCxnSpPr>
        <p:spPr>
          <a:xfrm flipH="1">
            <a:off x="8458283" y="5290861"/>
            <a:ext cx="521110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0904D2-F534-3AD6-562C-798ABD2E4D23}"/>
              </a:ext>
            </a:extLst>
          </p:cNvPr>
          <p:cNvSpPr txBox="1"/>
          <p:nvPr/>
        </p:nvSpPr>
        <p:spPr>
          <a:xfrm>
            <a:off x="5736944" y="5124272"/>
            <a:ext cx="269496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رقم یکان آن </a:t>
            </a:r>
            <a:r>
              <a:rPr lang="en-US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0,2,4,6,8 </a:t>
            </a:r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باشد.</a:t>
            </a:r>
            <a:endParaRPr lang="ar-DZ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9A034-6ACE-F9BB-A298-487499C6B7B3}"/>
              </a:ext>
            </a:extLst>
          </p:cNvPr>
          <p:cNvSpPr txBox="1"/>
          <p:nvPr/>
        </p:nvSpPr>
        <p:spPr>
          <a:xfrm>
            <a:off x="9033773" y="5594570"/>
            <a:ext cx="284885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چه اعدادی بر 5 بخش پذیرند</a:t>
            </a:r>
            <a:endParaRPr lang="ar-DZ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4A5486-666D-715E-BD1F-C545BA8B5837}"/>
              </a:ext>
            </a:extLst>
          </p:cNvPr>
          <p:cNvCxnSpPr/>
          <p:nvPr/>
        </p:nvCxnSpPr>
        <p:spPr>
          <a:xfrm flipH="1">
            <a:off x="8455274" y="5746504"/>
            <a:ext cx="521110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0C8E02-AA1F-1E2B-1571-9F974F837BEC}"/>
              </a:ext>
            </a:extLst>
          </p:cNvPr>
          <p:cNvSpPr txBox="1"/>
          <p:nvPr/>
        </p:nvSpPr>
        <p:spPr>
          <a:xfrm>
            <a:off x="6025694" y="5579915"/>
            <a:ext cx="241925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رقم یکان آن </a:t>
            </a:r>
            <a:r>
              <a:rPr lang="en-US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0 </a:t>
            </a:r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یا 5</a:t>
            </a:r>
            <a:r>
              <a:rPr lang="en-US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 </a:t>
            </a:r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باشد.</a:t>
            </a:r>
            <a:endParaRPr lang="ar-DZ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15706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35BB3-8458-CCA7-737E-83A663F7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199966-30F3-9952-2DF2-9826D5E57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81A791D9-FDCC-65EE-D118-57262339BBA5}"/>
              </a:ext>
            </a:extLst>
          </p:cNvPr>
          <p:cNvGrpSpPr/>
          <p:nvPr/>
        </p:nvGrpSpPr>
        <p:grpSpPr>
          <a:xfrm>
            <a:off x="7048292" y="2553610"/>
            <a:ext cx="2052682" cy="1656000"/>
            <a:chOff x="7903547" y="773817"/>
            <a:chExt cx="1508091" cy="1392314"/>
          </a:xfrm>
        </p:grpSpPr>
        <p:sp>
          <p:nvSpPr>
            <p:cNvPr id="78" name="Freeform 83">
              <a:extLst>
                <a:ext uri="{FF2B5EF4-FFF2-40B4-BE49-F238E27FC236}">
                  <a16:creationId xmlns:a16="http://schemas.microsoft.com/office/drawing/2014/main" id="{3DC7CCD4-DE8B-DC6E-9FBB-FEF6A765C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3547" y="773817"/>
              <a:ext cx="1193478" cy="1392314"/>
            </a:xfrm>
            <a:prstGeom prst="roundRect">
              <a:avLst/>
            </a:prstGeom>
            <a:solidFill>
              <a:srgbClr val="F2B600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4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حذف حالت‌های نامطلوب</a:t>
              </a:r>
              <a:endParaRPr lang="ru-RU" sz="24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9" name="A">
              <a:extLst>
                <a:ext uri="{FF2B5EF4-FFF2-40B4-BE49-F238E27FC236}">
                  <a16:creationId xmlns:a16="http://schemas.microsoft.com/office/drawing/2014/main" id="{A463C854-5A2D-D29F-2447-480D275CCD62}"/>
                </a:ext>
              </a:extLst>
            </p:cNvPr>
            <p:cNvSpPr txBox="1"/>
            <p:nvPr/>
          </p:nvSpPr>
          <p:spPr>
            <a:xfrm>
              <a:off x="9215576" y="90171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D63D40-5827-AE19-54FC-6BC37B5BFDCB}"/>
              </a:ext>
            </a:extLst>
          </p:cNvPr>
          <p:cNvGrpSpPr/>
          <p:nvPr/>
        </p:nvGrpSpPr>
        <p:grpSpPr>
          <a:xfrm>
            <a:off x="5897550" y="2122389"/>
            <a:ext cx="987860" cy="810000"/>
            <a:chOff x="8141840" y="2433180"/>
            <a:chExt cx="987860" cy="810000"/>
          </a:xfrm>
        </p:grpSpPr>
        <p:sp>
          <p:nvSpPr>
            <p:cNvPr id="13" name="Line">
              <a:extLst>
                <a:ext uri="{FF2B5EF4-FFF2-40B4-BE49-F238E27FC236}">
                  <a16:creationId xmlns:a16="http://schemas.microsoft.com/office/drawing/2014/main" id="{4176EF39-76FA-D028-92A8-5AF419D4BD7C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4DADE51-06FF-2D60-C60E-387A8F057553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FDD7C72-4A16-4ECC-E54C-D2FD03A418D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4E3061-0158-AAB0-A695-A71CCFA0E47B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0F47E2-C53C-76C5-9188-487E6B630DE2}"/>
              </a:ext>
            </a:extLst>
          </p:cNvPr>
          <p:cNvGrpSpPr/>
          <p:nvPr/>
        </p:nvGrpSpPr>
        <p:grpSpPr>
          <a:xfrm flipV="1">
            <a:off x="5935074" y="3963104"/>
            <a:ext cx="987860" cy="810000"/>
            <a:chOff x="8141840" y="2433180"/>
            <a:chExt cx="987860" cy="810000"/>
          </a:xfrm>
        </p:grpSpPr>
        <p:sp>
          <p:nvSpPr>
            <p:cNvPr id="19" name="Line">
              <a:extLst>
                <a:ext uri="{FF2B5EF4-FFF2-40B4-BE49-F238E27FC236}">
                  <a16:creationId xmlns:a16="http://schemas.microsoft.com/office/drawing/2014/main" id="{B4FFCE5A-329A-3180-CDB9-0EFE5822F306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266B093-B4AC-565F-66E0-C5B1641F448A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09BB151-A120-B2FD-CA39-2FBB44F402E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D0F6262-6A33-27F5-B506-969A739606BC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B00360F-719C-A3BB-BF3A-6DF4F9721FD2}"/>
              </a:ext>
            </a:extLst>
          </p:cNvPr>
          <p:cNvSpPr txBox="1"/>
          <p:nvPr/>
        </p:nvSpPr>
        <p:spPr>
          <a:xfrm>
            <a:off x="479787" y="1793674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1800" dirty="0"/>
              <a:t>رعایت نظم و ترتیب در این روش مثل روش اگوسازی مهم و ضروری است.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02FD6-1CA4-99E8-DB25-91D0DB0D6C2C}"/>
              </a:ext>
            </a:extLst>
          </p:cNvPr>
          <p:cNvSpPr txBox="1"/>
          <p:nvPr/>
        </p:nvSpPr>
        <p:spPr>
          <a:xfrm>
            <a:off x="479787" y="3029031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برای اینکه هیچ حالتی از قلم نیفتد، لازم است آنها را با </a:t>
            </a:r>
            <a:r>
              <a:rPr lang="fa-IR" b="1" dirty="0">
                <a:highlight>
                  <a:srgbClr val="FFFF00"/>
                </a:highlight>
              </a:rPr>
              <a:t>نظم، الگو و ترتیبی </a:t>
            </a:r>
            <a:r>
              <a:rPr lang="fa-IR" dirty="0"/>
              <a:t>مشخص بنویسید.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FF82B-73FF-1600-6805-760193407DAB}"/>
              </a:ext>
            </a:extLst>
          </p:cNvPr>
          <p:cNvSpPr txBox="1"/>
          <p:nvPr/>
        </p:nvSpPr>
        <p:spPr>
          <a:xfrm>
            <a:off x="328863" y="4264389"/>
            <a:ext cx="5590479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lang="fa-IR" dirty="0"/>
              <a:t>تفاوت این روش با روش الگو سازی در این است که برای پیدا کردن پاسخ لازم نیست همه حالت ها را بنویسیم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204CCD-2B9D-59C5-D010-6A585333B9E6}"/>
              </a:ext>
            </a:extLst>
          </p:cNvPr>
          <p:cNvGrpSpPr/>
          <p:nvPr/>
        </p:nvGrpSpPr>
        <p:grpSpPr>
          <a:xfrm>
            <a:off x="5925117" y="3393746"/>
            <a:ext cx="908074" cy="180000"/>
            <a:chOff x="5925117" y="3393746"/>
            <a:chExt cx="908074" cy="1800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A63DC1-6CFA-7B66-F7D1-3EF5A6EE89DD}"/>
                </a:ext>
              </a:extLst>
            </p:cNvPr>
            <p:cNvCxnSpPr>
              <a:cxnSpLocks/>
              <a:endCxn id="30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2B81936-57C3-ABBC-996C-C8AF58ACCEF3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6FFAF4B-227E-C59F-5CD3-2234B4265981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08F3127-DA05-DB49-B557-13E1CB0E0A0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91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319</Words>
  <Application>Microsoft Office PowerPoint</Application>
  <PresentationFormat>Widescreen</PresentationFormat>
  <Paragraphs>115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Aptos Display</vt:lpstr>
      <vt:lpstr>Arial</vt:lpstr>
      <vt:lpstr>IRANYekanX ExtraBlack</vt:lpstr>
      <vt:lpstr>IRANYekanXFaNum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16</cp:revision>
  <dcterms:created xsi:type="dcterms:W3CDTF">2025-10-07T12:35:10Z</dcterms:created>
  <dcterms:modified xsi:type="dcterms:W3CDTF">2026-03-31T13:21:06Z</dcterms:modified>
</cp:coreProperties>
</file>